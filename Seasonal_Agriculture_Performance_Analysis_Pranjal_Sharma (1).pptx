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5F8F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A54"/>
        </a:solidFill>
      </p:bgPr>
    </p:bg>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12496B"/>
          </a:solidFill>
          <a:ln/>
        </p:spPr>
      </p:sp>
      <p:sp>
        <p:nvSpPr>
          <p:cNvPr id="3" name="Shape 1"/>
          <p:cNvSpPr/>
          <p:nvPr/>
        </p:nvSpPr>
        <p:spPr>
          <a:xfrm rot="2700000">
            <a:off x="10362895" y="5029200"/>
            <a:ext cx="3291840" cy="3291840"/>
          </a:xfrm>
          <a:prstGeom prst="rect">
            <a:avLst/>
          </a:prstGeom>
          <a:solidFill>
            <a:srgbClr val="1A6B8F"/>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Shape 4"/>
          <p:cNvSpPr/>
          <p:nvPr/>
        </p:nvSpPr>
        <p:spPr>
          <a:xfrm rot="600000">
            <a:off x="548640" y="640080"/>
            <a:ext cx="822960" cy="731520"/>
          </a:xfrm>
          <a:prstGeom prst="hexagon">
            <a:avLst/>
          </a:prstGeom>
          <a:solidFill>
            <a:srgbClr val="1E6F98"/>
          </a:solidFill>
          <a:ln/>
        </p:spPr>
      </p:sp>
      <p:sp>
        <p:nvSpPr>
          <p:cNvPr id="7" name="Shape 5"/>
          <p:cNvSpPr/>
          <p:nvPr/>
        </p:nvSpPr>
        <p:spPr>
          <a:xfrm rot="-480000">
            <a:off x="1234440" y="411480"/>
            <a:ext cx="1143000" cy="960120"/>
          </a:xfrm>
          <a:prstGeom prst="hexagon">
            <a:avLst/>
          </a:prstGeom>
          <a:solidFill>
            <a:srgbClr val="2E946B">
              <a:alpha val="80000"/>
            </a:srgbClr>
          </a:solidFill>
          <a:ln/>
        </p:spPr>
      </p:sp>
      <p:sp>
        <p:nvSpPr>
          <p:cNvPr id="8" name="Shape 6"/>
          <p:cNvSpPr/>
          <p:nvPr/>
        </p:nvSpPr>
        <p:spPr>
          <a:xfrm>
            <a:off x="1417320" y="1417320"/>
            <a:ext cx="502920" cy="438912"/>
          </a:xfrm>
          <a:prstGeom prst="hexagon">
            <a:avLst/>
          </a:prstGeom>
          <a:solidFill>
            <a:srgbClr val="E07B1A">
              <a:alpha val="90000"/>
            </a:srgbClr>
          </a:solidFill>
          <a:ln/>
        </p:spPr>
      </p:sp>
      <p:sp>
        <p:nvSpPr>
          <p:cNvPr id="9" name="Text 7"/>
          <p:cNvSpPr/>
          <p:nvPr/>
        </p:nvSpPr>
        <p:spPr>
          <a:xfrm>
            <a:off x="640080" y="2331720"/>
            <a:ext cx="8229600" cy="365760"/>
          </a:xfrm>
          <a:prstGeom prst="rect">
            <a:avLst/>
          </a:prstGeom>
          <a:noFill/>
          <a:ln/>
        </p:spPr>
        <p:txBody>
          <a:bodyPr wrap="square" rtlCol="0" anchor="ctr"/>
          <a:lstStyle/>
          <a:p>
            <a:pPr indent="0" marL="0">
              <a:buNone/>
            </a:pPr>
            <a:r>
              <a:rPr lang="en-US" sz="1300" b="1" spc="200" kern="0" dirty="0">
                <a:solidFill>
                  <a:srgbClr val="9FD3E8"/>
                </a:solidFill>
                <a:latin typeface="Calibri" pitchFamily="34" charset="0"/>
                <a:ea typeface="Calibri" pitchFamily="34" charset="-122"/>
                <a:cs typeface="Calibri" pitchFamily="34" charset="-120"/>
              </a:rPr>
              <a:t>MAJOR PROJECT  •  VOIS AICTE BATCH 1 (2026–27)</a:t>
            </a:r>
            <a:endParaRPr lang="en-US" sz="1300" dirty="0"/>
          </a:p>
        </p:txBody>
      </p:sp>
      <p:sp>
        <p:nvSpPr>
          <p:cNvPr id="10" name="Text 8"/>
          <p:cNvSpPr/>
          <p:nvPr/>
        </p:nvSpPr>
        <p:spPr>
          <a:xfrm>
            <a:off x="621792" y="2697480"/>
            <a:ext cx="9601200" cy="1554480"/>
          </a:xfrm>
          <a:prstGeom prst="rect">
            <a:avLst/>
          </a:prstGeom>
          <a:noFill/>
          <a:ln/>
        </p:spPr>
        <p:txBody>
          <a:bodyPr wrap="square"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Seasonal Agriculture</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Performance Analysis</a:t>
            </a:r>
            <a:endParaRPr lang="en-US" sz="4000" dirty="0"/>
          </a:p>
        </p:txBody>
      </p:sp>
      <p:sp>
        <p:nvSpPr>
          <p:cNvPr id="11" name="Text 9"/>
          <p:cNvSpPr/>
          <p:nvPr/>
        </p:nvSpPr>
        <p:spPr>
          <a:xfrm>
            <a:off x="640080" y="4160520"/>
            <a:ext cx="8686800" cy="457200"/>
          </a:xfrm>
          <a:prstGeom prst="rect">
            <a:avLst/>
          </a:prstGeom>
          <a:noFill/>
          <a:ln/>
        </p:spPr>
        <p:txBody>
          <a:bodyPr wrap="square" rtlCol="0" anchor="ctr"/>
          <a:lstStyle/>
          <a:p>
            <a:pPr indent="0" marL="0">
              <a:buNone/>
            </a:pPr>
            <a:r>
              <a:rPr lang="en-US" sz="1500" i="1" dirty="0">
                <a:solidFill>
                  <a:srgbClr val="CFE3ED"/>
                </a:solidFill>
                <a:latin typeface="Calibri" pitchFamily="34" charset="0"/>
                <a:ea typeface="Calibri" pitchFamily="34" charset="-122"/>
                <a:cs typeface="Calibri" pitchFamily="34" charset="-120"/>
              </a:rPr>
              <a:t>How does agricultural performance vary across seasons?</a:t>
            </a:r>
            <a:endParaRPr lang="en-US" sz="1500" dirty="0"/>
          </a:p>
        </p:txBody>
      </p:sp>
      <p:sp>
        <p:nvSpPr>
          <p:cNvPr id="12" name="Shape 10"/>
          <p:cNvSpPr/>
          <p:nvPr/>
        </p:nvSpPr>
        <p:spPr>
          <a:xfrm>
            <a:off x="640080" y="4800600"/>
            <a:ext cx="4206240" cy="0"/>
          </a:xfrm>
          <a:prstGeom prst="line">
            <a:avLst/>
          </a:prstGeom>
          <a:noFill/>
          <a:ln w="12700">
            <a:solidFill>
              <a:srgbClr val="3B87A8"/>
            </a:solidFill>
            <a:prstDash val="solid"/>
          </a:ln>
        </p:spPr>
      </p:sp>
      <p:sp>
        <p:nvSpPr>
          <p:cNvPr id="13" name="Text 11"/>
          <p:cNvSpPr/>
          <p:nvPr/>
        </p:nvSpPr>
        <p:spPr>
          <a:xfrm>
            <a:off x="640080" y="4983480"/>
            <a:ext cx="8229600" cy="1280160"/>
          </a:xfrm>
          <a:prstGeom prst="rect">
            <a:avLst/>
          </a:prstGeom>
          <a:noFill/>
          <a:ln/>
        </p:spPr>
        <p:txBody>
          <a:bodyPr wrap="square" rtlCol="0" anchor="t"/>
          <a:lstStyle/>
          <a:p>
            <a:pPr indent="0" marL="0">
              <a:lnSpc>
                <a:spcPct val="135000"/>
              </a:lnSpc>
              <a:buNone/>
            </a:pPr>
            <a:r>
              <a:rPr lang="en-US" sz="1350" b="1" dirty="0">
                <a:solidFill>
                  <a:srgbClr val="9FD3E8"/>
                </a:solidFill>
                <a:latin typeface="Calibri" pitchFamily="34" charset="0"/>
                <a:ea typeface="Calibri" pitchFamily="34" charset="-122"/>
                <a:cs typeface="Calibri" pitchFamily="34" charset="-120"/>
              </a:rPr>
              <a:t>Student Name:  </a:t>
            </a:r>
            <a:pPr indent="0" marL="0">
              <a:lnSpc>
                <a:spcPct val="135000"/>
              </a:lnSpc>
              <a:buNone/>
            </a:pPr>
            <a:r>
              <a:rPr lang="en-US" sz="1350" dirty="0">
                <a:solidFill>
                  <a:srgbClr val="FFFFFF"/>
                </a:solidFill>
                <a:latin typeface="Calibri" pitchFamily="34" charset="0"/>
                <a:ea typeface="Calibri" pitchFamily="34" charset="-122"/>
                <a:cs typeface="Calibri" pitchFamily="34" charset="-120"/>
              </a:rPr>
              <a:t>Pranjal Sharma
</a:t>
            </a:r>
            <a:pPr indent="0" marL="0">
              <a:lnSpc>
                <a:spcPct val="135000"/>
              </a:lnSpc>
              <a:buNone/>
            </a:pPr>
            <a:r>
              <a:rPr lang="en-US" sz="1350" b="1" dirty="0">
                <a:solidFill>
                  <a:srgbClr val="9FD3E8"/>
                </a:solidFill>
                <a:latin typeface="Calibri" pitchFamily="34" charset="0"/>
                <a:ea typeface="Calibri" pitchFamily="34" charset="-122"/>
                <a:cs typeface="Calibri" pitchFamily="34" charset="-120"/>
              </a:rPr>
              <a:t>College:  </a:t>
            </a:r>
            <a:pPr indent="0" marL="0">
              <a:lnSpc>
                <a:spcPct val="135000"/>
              </a:lnSpc>
              <a:buNone/>
            </a:pPr>
            <a:r>
              <a:rPr lang="en-US" sz="1350" dirty="0">
                <a:solidFill>
                  <a:srgbClr val="FFFFFF"/>
                </a:solidFill>
                <a:latin typeface="Calibri" pitchFamily="34" charset="0"/>
                <a:ea typeface="Calibri" pitchFamily="34" charset="-122"/>
                <a:cs typeface="Calibri" pitchFamily="34" charset="-120"/>
              </a:rPr>
              <a:t>KIET Group of Institutions
</a:t>
            </a:r>
            <a:pPr indent="0" marL="0">
              <a:lnSpc>
                <a:spcPct val="135000"/>
              </a:lnSpc>
              <a:buNone/>
            </a:pPr>
            <a:r>
              <a:rPr lang="en-US" sz="1350" b="1" dirty="0">
                <a:solidFill>
                  <a:srgbClr val="9FD3E8"/>
                </a:solidFill>
                <a:latin typeface="Calibri" pitchFamily="34" charset="0"/>
                <a:ea typeface="Calibri" pitchFamily="34" charset="-122"/>
                <a:cs typeface="Calibri" pitchFamily="34" charset="-120"/>
              </a:rPr>
              <a:t>AICTE Student ID:  </a:t>
            </a:r>
            <a:pPr indent="0" marL="0">
              <a:lnSpc>
                <a:spcPct val="135000"/>
              </a:lnSpc>
              <a:buNone/>
            </a:pPr>
            <a:r>
              <a:rPr lang="en-US" sz="1350" dirty="0">
                <a:solidFill>
                  <a:srgbClr val="FFFFFF"/>
                </a:solidFill>
                <a:latin typeface="Calibri" pitchFamily="34" charset="0"/>
                <a:ea typeface="Calibri" pitchFamily="34" charset="-122"/>
                <a:cs typeface="Calibri" pitchFamily="34" charset="-120"/>
              </a:rPr>
              <a:t>STU6783d8ba6e8881736693946</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CFE3ED"/>
          </a:solidFill>
          <a:ln/>
        </p:spPr>
      </p:sp>
      <p:sp>
        <p:nvSpPr>
          <p:cNvPr id="3" name="Shape 1"/>
          <p:cNvSpPr/>
          <p:nvPr/>
        </p:nvSpPr>
        <p:spPr>
          <a:xfrm rot="2700000">
            <a:off x="10362895" y="5029200"/>
            <a:ext cx="3291840" cy="3291840"/>
          </a:xfrm>
          <a:prstGeom prst="rect">
            <a:avLst/>
          </a:prstGeom>
          <a:solidFill>
            <a:srgbClr val="BFE3DE"/>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Text 4"/>
          <p:cNvSpPr/>
          <p:nvPr/>
        </p:nvSpPr>
        <p:spPr>
          <a:xfrm>
            <a:off x="502920" y="320040"/>
            <a:ext cx="11185855" cy="640080"/>
          </a:xfrm>
          <a:prstGeom prst="rect">
            <a:avLst/>
          </a:prstGeom>
          <a:noFill/>
          <a:ln/>
        </p:spPr>
        <p:txBody>
          <a:bodyPr wrap="square" rtlCol="0" anchor="ctr"/>
          <a:lstStyle/>
          <a:p>
            <a:pPr indent="0" marL="0">
              <a:buNone/>
            </a:pPr>
            <a:r>
              <a:rPr lang="en-US" sz="3000" b="1" dirty="0">
                <a:solidFill>
                  <a:srgbClr val="1B5E86"/>
                </a:solidFill>
                <a:latin typeface="Cambria" pitchFamily="34" charset="0"/>
                <a:ea typeface="Cambria" pitchFamily="34" charset="-122"/>
                <a:cs typeface="Cambria" pitchFamily="34" charset="-120"/>
              </a:rPr>
              <a:t>Problem Statement</a:t>
            </a:r>
            <a:endParaRPr lang="en-US" sz="3000" dirty="0"/>
          </a:p>
        </p:txBody>
      </p:sp>
      <p:sp>
        <p:nvSpPr>
          <p:cNvPr id="7" name="Shape 5"/>
          <p:cNvSpPr/>
          <p:nvPr/>
        </p:nvSpPr>
        <p:spPr>
          <a:xfrm>
            <a:off x="530352" y="960120"/>
            <a:ext cx="1188720" cy="41148"/>
          </a:xfrm>
          <a:prstGeom prst="rect">
            <a:avLst/>
          </a:prstGeom>
          <a:solidFill>
            <a:srgbClr val="E07B1A"/>
          </a:solidFill>
          <a:ln/>
        </p:spPr>
      </p:sp>
      <p:sp>
        <p:nvSpPr>
          <p:cNvPr id="8" name="Text 6"/>
          <p:cNvSpPr/>
          <p:nvPr/>
        </p:nvSpPr>
        <p:spPr>
          <a:xfrm>
            <a:off x="365760" y="6528816"/>
            <a:ext cx="6400800" cy="274320"/>
          </a:xfrm>
          <a:prstGeom prst="rect">
            <a:avLst/>
          </a:prstGeom>
          <a:noFill/>
          <a:ln/>
        </p:spPr>
        <p:txBody>
          <a:bodyPr wrap="square" rtlCol="0" anchor="ctr"/>
          <a:lstStyle/>
          <a:p>
            <a:pPr indent="0" marL="0">
              <a:buNone/>
            </a:pPr>
            <a:r>
              <a:rPr lang="en-US" sz="900" i="1" dirty="0">
                <a:solidFill>
                  <a:srgbClr val="5B6B76"/>
                </a:solidFill>
                <a:latin typeface="Calibri" pitchFamily="34" charset="0"/>
                <a:ea typeface="Calibri" pitchFamily="34" charset="-122"/>
                <a:cs typeface="Calibri" pitchFamily="34" charset="-120"/>
              </a:rPr>
              <a:t>Seasonal Agriculture Performance Analysis</a:t>
            </a:r>
            <a:endParaRPr lang="en-US" sz="900" dirty="0"/>
          </a:p>
        </p:txBody>
      </p:sp>
      <p:sp>
        <p:nvSpPr>
          <p:cNvPr id="9" name="Text 7"/>
          <p:cNvSpPr/>
          <p:nvPr/>
        </p:nvSpPr>
        <p:spPr>
          <a:xfrm>
            <a:off x="11551615" y="6528816"/>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a:t>
            </a:r>
            <a:endParaRPr lang="en-US" sz="900" dirty="0"/>
          </a:p>
        </p:txBody>
      </p:sp>
      <p:sp>
        <p:nvSpPr>
          <p:cNvPr id="10" name="Shape 8"/>
          <p:cNvSpPr/>
          <p:nvPr/>
        </p:nvSpPr>
        <p:spPr>
          <a:xfrm>
            <a:off x="548640" y="1234440"/>
            <a:ext cx="82296" cy="292608"/>
          </a:xfrm>
          <a:prstGeom prst="rect">
            <a:avLst/>
          </a:prstGeom>
          <a:solidFill>
            <a:srgbClr val="1B5E86"/>
          </a:solidFill>
          <a:ln/>
        </p:spPr>
      </p:sp>
      <p:sp>
        <p:nvSpPr>
          <p:cNvPr id="11" name="Text 9"/>
          <p:cNvSpPr/>
          <p:nvPr/>
        </p:nvSpPr>
        <p:spPr>
          <a:xfrm>
            <a:off x="713232" y="1207008"/>
            <a:ext cx="5321808" cy="347472"/>
          </a:xfrm>
          <a:prstGeom prst="rect">
            <a:avLst/>
          </a:prstGeom>
          <a:noFill/>
          <a:ln/>
        </p:spPr>
        <p:txBody>
          <a:bodyPr wrap="square" rtlCol="0" anchor="ctr"/>
          <a:lstStyle/>
          <a:p>
            <a:pPr indent="0" marL="0">
              <a:buNone/>
            </a:pPr>
            <a:r>
              <a:rPr lang="en-US" sz="1500" b="1" dirty="0">
                <a:solidFill>
                  <a:srgbClr val="27333D"/>
                </a:solidFill>
                <a:latin typeface="Cambria" pitchFamily="34" charset="0"/>
                <a:ea typeface="Cambria" pitchFamily="34" charset="-122"/>
                <a:cs typeface="Cambria" pitchFamily="34" charset="-120"/>
              </a:rPr>
              <a:t>Why does performance change across seasons?</a:t>
            </a:r>
            <a:endParaRPr lang="en-US" sz="1500" dirty="0"/>
          </a:p>
        </p:txBody>
      </p:sp>
      <p:sp>
        <p:nvSpPr>
          <p:cNvPr id="12" name="Text 10"/>
          <p:cNvSpPr/>
          <p:nvPr/>
        </p:nvSpPr>
        <p:spPr>
          <a:xfrm>
            <a:off x="548640" y="1691640"/>
            <a:ext cx="5760720" cy="2834640"/>
          </a:xfrm>
          <a:prstGeom prst="rect">
            <a:avLst/>
          </a:prstGeom>
          <a:noFill/>
          <a:ln/>
        </p:spPr>
        <p:txBody>
          <a:bodyPr wrap="square" rtlCol="0" anchor="t"/>
          <a:lstStyle/>
          <a:p>
            <a:pPr marL="342900" indent="-342900">
              <a:spcAft>
                <a:spcPts val="1000"/>
              </a:spcAft>
              <a:buSzPct val="100000"/>
              <a:buChar char="•"/>
            </a:pPr>
            <a:r>
              <a:rPr lang="en-US" sz="1450" dirty="0">
                <a:solidFill>
                  <a:srgbClr val="27333D"/>
                </a:solidFill>
                <a:latin typeface="Calibri" pitchFamily="34" charset="0"/>
                <a:ea typeface="Calibri" pitchFamily="34" charset="-122"/>
                <a:cs typeface="Calibri" pitchFamily="34" charset="-120"/>
              </a:rPr>
              <a:t>Seasonal environmental conditions — rainfall, temperature, humidity</a:t>
            </a:r>
            <a:endParaRPr lang="en-US" sz="1450" dirty="0"/>
          </a:p>
          <a:p>
            <a:pPr marL="342900" indent="-342900">
              <a:spcAft>
                <a:spcPts val="1000"/>
              </a:spcAft>
              <a:buSzPct val="100000"/>
              <a:buChar char="•"/>
            </a:pPr>
            <a:r>
              <a:rPr lang="en-US" sz="1450" dirty="0">
                <a:solidFill>
                  <a:srgbClr val="27333D"/>
                </a:solidFill>
                <a:latin typeface="Calibri" pitchFamily="34" charset="0"/>
                <a:ea typeface="Calibri" pitchFamily="34" charset="-122"/>
                <a:cs typeface="Calibri" pitchFamily="34" charset="-120"/>
              </a:rPr>
              <a:t>Water availability and irrigation practices</a:t>
            </a:r>
            <a:endParaRPr lang="en-US" sz="1450" dirty="0"/>
          </a:p>
          <a:p>
            <a:pPr marL="342900" indent="-342900">
              <a:spcAft>
                <a:spcPts val="1000"/>
              </a:spcAft>
              <a:buSzPct val="100000"/>
              <a:buChar char="•"/>
            </a:pPr>
            <a:r>
              <a:rPr lang="en-US" sz="1450" dirty="0">
                <a:solidFill>
                  <a:srgbClr val="27333D"/>
                </a:solidFill>
                <a:latin typeface="Calibri" pitchFamily="34" charset="0"/>
                <a:ea typeface="Calibri" pitchFamily="34" charset="-122"/>
                <a:cs typeface="Calibri" pitchFamily="34" charset="-120"/>
              </a:rPr>
              <a:t>Fertilizer / pesticide and other resource usage</a:t>
            </a:r>
            <a:endParaRPr lang="en-US" sz="1450" dirty="0"/>
          </a:p>
          <a:p>
            <a:pPr marL="342900" indent="-342900">
              <a:spcAft>
                <a:spcPts val="1000"/>
              </a:spcAft>
              <a:buSzPct val="100000"/>
              <a:buChar char="•"/>
            </a:pPr>
            <a:r>
              <a:rPr lang="en-US" sz="1450" dirty="0">
                <a:solidFill>
                  <a:srgbClr val="27333D"/>
                </a:solidFill>
                <a:latin typeface="Calibri" pitchFamily="34" charset="0"/>
                <a:ea typeface="Calibri" pitchFamily="34" charset="-122"/>
                <a:cs typeface="Calibri" pitchFamily="34" charset="-120"/>
              </a:rPr>
              <a:t>Crop selection specific to each cropping season</a:t>
            </a:r>
            <a:endParaRPr lang="en-US" sz="1450" dirty="0"/>
          </a:p>
          <a:p>
            <a:pPr marL="342900" indent="-342900">
              <a:spcAft>
                <a:spcPts val="1000"/>
              </a:spcAft>
              <a:buSzPct val="100000"/>
              <a:buChar char="•"/>
            </a:pPr>
            <a:r>
              <a:rPr lang="en-US" sz="1450" dirty="0">
                <a:solidFill>
                  <a:srgbClr val="27333D"/>
                </a:solidFill>
                <a:latin typeface="Calibri" pitchFamily="34" charset="0"/>
                <a:ea typeface="Calibri" pitchFamily="34" charset="-122"/>
                <a:cs typeface="Calibri" pitchFamily="34" charset="-120"/>
              </a:rPr>
              <a:t>Market conditions such as price, revenue and cost</a:t>
            </a:r>
            <a:endParaRPr lang="en-US" sz="1450" dirty="0"/>
          </a:p>
        </p:txBody>
      </p:sp>
      <p:sp>
        <p:nvSpPr>
          <p:cNvPr id="13" name="Text 11"/>
          <p:cNvSpPr/>
          <p:nvPr/>
        </p:nvSpPr>
        <p:spPr>
          <a:xfrm>
            <a:off x="6400800" y="1737360"/>
            <a:ext cx="5212080" cy="2103120"/>
          </a:xfrm>
          <a:prstGeom prst="rect">
            <a:avLst/>
          </a:prstGeom>
          <a:noFill/>
          <a:ln/>
        </p:spPr>
        <p:txBody>
          <a:bodyPr wrap="square" rtlCol="0" anchor="t"/>
          <a:lstStyle/>
          <a:p>
            <a:pPr indent="0" marL="0">
              <a:lnSpc>
                <a:spcPct val="115000"/>
              </a:lnSpc>
              <a:buNone/>
            </a:pPr>
            <a:r>
              <a:rPr lang="en-US" sz="1300" b="1" dirty="0">
                <a:solidFill>
                  <a:srgbClr val="2E946B"/>
                </a:solidFill>
                <a:latin typeface="Calibri" pitchFamily="34" charset="0"/>
                <a:ea typeface="Calibri" pitchFamily="34" charset="-122"/>
                <a:cs typeface="Calibri" pitchFamily="34" charset="-120"/>
              </a:rPr>
              <a:t>The Problem
</a:t>
            </a:r>
            <a:pPr indent="0" marL="0">
              <a:lnSpc>
                <a:spcPct val="115000"/>
              </a:lnSpc>
              <a:buNone/>
            </a:pPr>
            <a:r>
              <a:rPr lang="en-US" sz="1250" dirty="0">
                <a:solidFill>
                  <a:srgbClr val="27333D"/>
                </a:solidFill>
                <a:latin typeface="Calibri" pitchFamily="34" charset="0"/>
                <a:ea typeface="Calibri" pitchFamily="34" charset="-122"/>
                <a:cs typeface="Calibri" pitchFamily="34" charset="-120"/>
              </a:rPr>
              <a:t>Raw agricultural data does not, by itself, explain how performance changes across seasons. This project analyzes the seasonal agriculture dataset to uncover meaningful seasonal patterns, trends and relationships in agricultural performance.</a:t>
            </a:r>
            <a:endParaRPr lang="en-US" sz="1300" dirty="0"/>
          </a:p>
        </p:txBody>
      </p:sp>
      <p:sp>
        <p:nvSpPr>
          <p:cNvPr id="14" name="Shape 12"/>
          <p:cNvSpPr/>
          <p:nvPr/>
        </p:nvSpPr>
        <p:spPr>
          <a:xfrm>
            <a:off x="548640" y="4892040"/>
            <a:ext cx="11064240" cy="1051560"/>
          </a:xfrm>
          <a:prstGeom prst="roundRect">
            <a:avLst>
              <a:gd name="adj" fmla="val 6957"/>
            </a:avLst>
          </a:prstGeom>
          <a:solidFill>
            <a:srgbClr val="1B5E86">
              <a:alpha val="10000"/>
            </a:srgbClr>
          </a:solidFill>
          <a:ln w="12700">
            <a:solidFill>
              <a:srgbClr val="1B5E86"/>
            </a:solidFill>
            <a:prstDash val="solid"/>
          </a:ln>
        </p:spPr>
      </p:sp>
      <p:sp>
        <p:nvSpPr>
          <p:cNvPr id="15" name="Text 13"/>
          <p:cNvSpPr/>
          <p:nvPr/>
        </p:nvSpPr>
        <p:spPr>
          <a:xfrm>
            <a:off x="685800" y="4965192"/>
            <a:ext cx="10789920" cy="905256"/>
          </a:xfrm>
          <a:prstGeom prst="rect">
            <a:avLst/>
          </a:prstGeom>
          <a:noFill/>
          <a:ln/>
        </p:spPr>
        <p:txBody>
          <a:bodyPr wrap="square" rtlCol="0" anchor="t"/>
          <a:lstStyle/>
          <a:p>
            <a:pPr indent="0" marL="0">
              <a:lnSpc>
                <a:spcPct val="105000"/>
              </a:lnSpc>
              <a:buNone/>
            </a:pPr>
            <a:r>
              <a:rPr lang="en-US" sz="1200" b="1" dirty="0">
                <a:solidFill>
                  <a:srgbClr val="1B5E86"/>
                </a:solidFill>
                <a:latin typeface="Calibri" pitchFamily="34" charset="0"/>
                <a:ea typeface="Calibri" pitchFamily="34" charset="-122"/>
                <a:cs typeface="Calibri" pitchFamily="34" charset="-120"/>
              </a:rPr>
              <a:t>Central Research Question
</a:t>
            </a:r>
            <a:pPr indent="0" marL="0">
              <a:lnSpc>
                <a:spcPct val="105000"/>
              </a:lnSpc>
              <a:buNone/>
            </a:pPr>
            <a:r>
              <a:rPr lang="en-US" sz="1150" dirty="0">
                <a:solidFill>
                  <a:srgbClr val="27333D"/>
                </a:solidFill>
                <a:latin typeface="Calibri" pitchFamily="34" charset="0"/>
                <a:ea typeface="Calibri" pitchFamily="34" charset="-122"/>
                <a:cs typeface="Calibri" pitchFamily="34" charset="-120"/>
              </a:rPr>
              <a:t>“How does agricultural performance vary across seasons?” — this question drives every stage of analysis in this project, from exploratory data analysis through to statistical hypothesis testing.</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CFE3ED"/>
          </a:solidFill>
          <a:ln/>
        </p:spPr>
      </p:sp>
      <p:sp>
        <p:nvSpPr>
          <p:cNvPr id="3" name="Shape 1"/>
          <p:cNvSpPr/>
          <p:nvPr/>
        </p:nvSpPr>
        <p:spPr>
          <a:xfrm rot="2700000">
            <a:off x="10362895" y="5029200"/>
            <a:ext cx="3291840" cy="3291840"/>
          </a:xfrm>
          <a:prstGeom prst="rect">
            <a:avLst/>
          </a:prstGeom>
          <a:solidFill>
            <a:srgbClr val="BFE3DE"/>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Text 4"/>
          <p:cNvSpPr/>
          <p:nvPr/>
        </p:nvSpPr>
        <p:spPr>
          <a:xfrm>
            <a:off x="502920" y="320040"/>
            <a:ext cx="11185855" cy="640080"/>
          </a:xfrm>
          <a:prstGeom prst="rect">
            <a:avLst/>
          </a:prstGeom>
          <a:noFill/>
          <a:ln/>
        </p:spPr>
        <p:txBody>
          <a:bodyPr wrap="square" rtlCol="0" anchor="ctr"/>
          <a:lstStyle/>
          <a:p>
            <a:pPr indent="0" marL="0">
              <a:buNone/>
            </a:pPr>
            <a:r>
              <a:rPr lang="en-US" sz="3000" b="1" dirty="0">
                <a:solidFill>
                  <a:srgbClr val="1B5E86"/>
                </a:solidFill>
                <a:latin typeface="Cambria" pitchFamily="34" charset="0"/>
                <a:ea typeface="Cambria" pitchFamily="34" charset="-122"/>
                <a:cs typeface="Cambria" pitchFamily="34" charset="-120"/>
              </a:rPr>
              <a:t>Project Description</a:t>
            </a:r>
            <a:endParaRPr lang="en-US" sz="3000" dirty="0"/>
          </a:p>
        </p:txBody>
      </p:sp>
      <p:sp>
        <p:nvSpPr>
          <p:cNvPr id="7" name="Shape 5"/>
          <p:cNvSpPr/>
          <p:nvPr/>
        </p:nvSpPr>
        <p:spPr>
          <a:xfrm>
            <a:off x="530352" y="960120"/>
            <a:ext cx="1188720" cy="41148"/>
          </a:xfrm>
          <a:prstGeom prst="rect">
            <a:avLst/>
          </a:prstGeom>
          <a:solidFill>
            <a:srgbClr val="E07B1A"/>
          </a:solidFill>
          <a:ln/>
        </p:spPr>
      </p:sp>
      <p:sp>
        <p:nvSpPr>
          <p:cNvPr id="8" name="Text 6"/>
          <p:cNvSpPr/>
          <p:nvPr/>
        </p:nvSpPr>
        <p:spPr>
          <a:xfrm>
            <a:off x="365760" y="6528816"/>
            <a:ext cx="6400800" cy="274320"/>
          </a:xfrm>
          <a:prstGeom prst="rect">
            <a:avLst/>
          </a:prstGeom>
          <a:noFill/>
          <a:ln/>
        </p:spPr>
        <p:txBody>
          <a:bodyPr wrap="square" rtlCol="0" anchor="ctr"/>
          <a:lstStyle/>
          <a:p>
            <a:pPr indent="0" marL="0">
              <a:buNone/>
            </a:pPr>
            <a:r>
              <a:rPr lang="en-US" sz="900" i="1" dirty="0">
                <a:solidFill>
                  <a:srgbClr val="5B6B76"/>
                </a:solidFill>
                <a:latin typeface="Calibri" pitchFamily="34" charset="0"/>
                <a:ea typeface="Calibri" pitchFamily="34" charset="-122"/>
                <a:cs typeface="Calibri" pitchFamily="34" charset="-120"/>
              </a:rPr>
              <a:t>Seasonal Agriculture Performance Analysis</a:t>
            </a:r>
            <a:endParaRPr lang="en-US" sz="900" dirty="0"/>
          </a:p>
        </p:txBody>
      </p:sp>
      <p:sp>
        <p:nvSpPr>
          <p:cNvPr id="9" name="Text 7"/>
          <p:cNvSpPr/>
          <p:nvPr/>
        </p:nvSpPr>
        <p:spPr>
          <a:xfrm>
            <a:off x="11551615" y="6528816"/>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2</a:t>
            </a:r>
            <a:endParaRPr lang="en-US" sz="900" dirty="0"/>
          </a:p>
        </p:txBody>
      </p:sp>
      <p:sp>
        <p:nvSpPr>
          <p:cNvPr id="10" name="Text 8"/>
          <p:cNvSpPr/>
          <p:nvPr/>
        </p:nvSpPr>
        <p:spPr>
          <a:xfrm>
            <a:off x="548640" y="1188720"/>
            <a:ext cx="6675120" cy="1554480"/>
          </a:xfrm>
          <a:prstGeom prst="rect">
            <a:avLst/>
          </a:prstGeom>
          <a:noFill/>
          <a:ln/>
        </p:spPr>
        <p:txBody>
          <a:bodyPr wrap="square" rtlCol="0" anchor="t"/>
          <a:lstStyle/>
          <a:p>
            <a:pPr indent="0" marL="0">
              <a:lnSpc>
                <a:spcPct val="115000"/>
              </a:lnSpc>
              <a:buNone/>
            </a:pPr>
            <a:r>
              <a:rPr lang="en-US" sz="1400" b="1" dirty="0">
                <a:solidFill>
                  <a:srgbClr val="2E946B"/>
                </a:solidFill>
                <a:latin typeface="Calibri" pitchFamily="34" charset="0"/>
                <a:ea typeface="Calibri" pitchFamily="34" charset="-122"/>
                <a:cs typeface="Calibri" pitchFamily="34" charset="-120"/>
              </a:rPr>
              <a:t>Project Overview
</a:t>
            </a:r>
            <a:pPr indent="0" marL="0">
              <a:lnSpc>
                <a:spcPct val="115000"/>
              </a:lnSpc>
              <a:buNone/>
            </a:pPr>
            <a:r>
              <a:rPr lang="en-US" sz="1250" dirty="0">
                <a:solidFill>
                  <a:srgbClr val="27333D"/>
                </a:solidFill>
                <a:latin typeface="Calibri" pitchFamily="34" charset="0"/>
                <a:ea typeface="Calibri" pitchFamily="34" charset="-122"/>
                <a:cs typeface="Calibri" pitchFamily="34" charset="-120"/>
              </a:rPr>
              <a:t>This project analyzes farm-level agricultural data to understand how performance varies across the Kharif, Rabi and Zaid seasons. It follows a complete data-analytics workflow — from raw data to statistically validated conclusions — using a single, actual dataset of Indian farm records.</a:t>
            </a:r>
            <a:endParaRPr lang="en-US" sz="1400" dirty="0"/>
          </a:p>
        </p:txBody>
      </p:sp>
      <p:sp>
        <p:nvSpPr>
          <p:cNvPr id="11" name="Shape 9"/>
          <p:cNvSpPr/>
          <p:nvPr/>
        </p:nvSpPr>
        <p:spPr>
          <a:xfrm>
            <a:off x="548640" y="2834640"/>
            <a:ext cx="82296" cy="292608"/>
          </a:xfrm>
          <a:prstGeom prst="rect">
            <a:avLst/>
          </a:prstGeom>
          <a:solidFill>
            <a:srgbClr val="1B5E86"/>
          </a:solidFill>
          <a:ln/>
        </p:spPr>
      </p:sp>
      <p:sp>
        <p:nvSpPr>
          <p:cNvPr id="12" name="Text 10"/>
          <p:cNvSpPr/>
          <p:nvPr/>
        </p:nvSpPr>
        <p:spPr>
          <a:xfrm>
            <a:off x="713232" y="2807208"/>
            <a:ext cx="5321808" cy="347472"/>
          </a:xfrm>
          <a:prstGeom prst="rect">
            <a:avLst/>
          </a:prstGeom>
          <a:noFill/>
          <a:ln/>
        </p:spPr>
        <p:txBody>
          <a:bodyPr wrap="square" rtlCol="0" anchor="ctr"/>
          <a:lstStyle/>
          <a:p>
            <a:pPr indent="0" marL="0">
              <a:buNone/>
            </a:pPr>
            <a:r>
              <a:rPr lang="en-US" sz="1500" b="1" dirty="0">
                <a:solidFill>
                  <a:srgbClr val="27333D"/>
                </a:solidFill>
                <a:latin typeface="Cambria" pitchFamily="34" charset="0"/>
                <a:ea typeface="Cambria" pitchFamily="34" charset="-122"/>
                <a:cs typeface="Cambria" pitchFamily="34" charset="-120"/>
              </a:rPr>
              <a:t>The analysis examines</a:t>
            </a:r>
            <a:endParaRPr lang="en-US" sz="1500" dirty="0"/>
          </a:p>
        </p:txBody>
      </p:sp>
      <p:sp>
        <p:nvSpPr>
          <p:cNvPr id="13" name="Text 11"/>
          <p:cNvSpPr/>
          <p:nvPr/>
        </p:nvSpPr>
        <p:spPr>
          <a:xfrm>
            <a:off x="548640" y="3246120"/>
            <a:ext cx="6766560" cy="2560320"/>
          </a:xfrm>
          <a:prstGeom prst="rect">
            <a:avLst/>
          </a:prstGeom>
          <a:noFill/>
          <a:ln/>
        </p:spPr>
        <p:txBody>
          <a:bodyPr wrap="square" rtlCol="0" anchor="t"/>
          <a:lstStyle/>
          <a:p>
            <a:pPr marL="342900" indent="-342900">
              <a:spcAft>
                <a:spcPts val="600"/>
              </a:spcAft>
              <a:buSzPct val="100000"/>
              <a:buChar char="•"/>
            </a:pPr>
            <a:r>
              <a:rPr lang="en-US" sz="1250" dirty="0">
                <a:solidFill>
                  <a:srgbClr val="27333D"/>
                </a:solidFill>
                <a:latin typeface="Calibri" pitchFamily="34" charset="0"/>
                <a:ea typeface="Calibri" pitchFamily="34" charset="-122"/>
                <a:cs typeface="Calibri" pitchFamily="34" charset="-120"/>
              </a:rPr>
              <a:t>Yield &amp; production performance</a:t>
            </a:r>
            <a:endParaRPr lang="en-US" sz="1250" dirty="0"/>
          </a:p>
          <a:p>
            <a:pPr marL="342900" indent="-342900">
              <a:spcAft>
                <a:spcPts val="600"/>
              </a:spcAft>
              <a:buSzPct val="100000"/>
              <a:buChar char="•"/>
            </a:pPr>
            <a:r>
              <a:rPr lang="en-US" sz="1250" dirty="0">
                <a:solidFill>
                  <a:srgbClr val="27333D"/>
                </a:solidFill>
                <a:latin typeface="Calibri" pitchFamily="34" charset="0"/>
                <a:ea typeface="Calibri" pitchFamily="34" charset="-122"/>
                <a:cs typeface="Calibri" pitchFamily="34" charset="-120"/>
              </a:rPr>
              <a:t>Water usage &amp; efficiency</a:t>
            </a:r>
            <a:endParaRPr lang="en-US" sz="1250" dirty="0"/>
          </a:p>
          <a:p>
            <a:pPr marL="342900" indent="-342900">
              <a:spcAft>
                <a:spcPts val="600"/>
              </a:spcAft>
              <a:buSzPct val="100000"/>
              <a:buChar char="•"/>
            </a:pPr>
            <a:r>
              <a:rPr lang="en-US" sz="1250" dirty="0">
                <a:solidFill>
                  <a:srgbClr val="27333D"/>
                </a:solidFill>
                <a:latin typeface="Calibri" pitchFamily="34" charset="0"/>
                <a:ea typeface="Calibri" pitchFamily="34" charset="-122"/>
                <a:cs typeface="Calibri" pitchFamily="34" charset="-120"/>
              </a:rPr>
              <a:t>Environmental conditions</a:t>
            </a:r>
            <a:endParaRPr lang="en-US" sz="1250" dirty="0"/>
          </a:p>
          <a:p>
            <a:pPr marL="342900" indent="-342900">
              <a:spcAft>
                <a:spcPts val="600"/>
              </a:spcAft>
              <a:buSzPct val="100000"/>
              <a:buChar char="•"/>
            </a:pPr>
            <a:r>
              <a:rPr lang="en-US" sz="1250" dirty="0">
                <a:solidFill>
                  <a:srgbClr val="27333D"/>
                </a:solidFill>
                <a:latin typeface="Calibri" pitchFamily="34" charset="0"/>
                <a:ea typeface="Calibri" pitchFamily="34" charset="-122"/>
                <a:cs typeface="Calibri" pitchFamily="34" charset="-120"/>
              </a:rPr>
              <a:t>Resource utilization (fertilizer, pesticide)</a:t>
            </a:r>
            <a:endParaRPr lang="en-US" sz="1250" dirty="0"/>
          </a:p>
          <a:p>
            <a:pPr marL="342900" indent="-342900">
              <a:spcAft>
                <a:spcPts val="600"/>
              </a:spcAft>
              <a:buSzPct val="100000"/>
              <a:buChar char="•"/>
            </a:pPr>
            <a:r>
              <a:rPr lang="en-US" sz="1250" dirty="0">
                <a:solidFill>
                  <a:srgbClr val="27333D"/>
                </a:solidFill>
                <a:latin typeface="Calibri" pitchFamily="34" charset="0"/>
                <a:ea typeface="Calibri" pitchFamily="34" charset="-122"/>
                <a:cs typeface="Calibri" pitchFamily="34" charset="-120"/>
              </a:rPr>
              <a:t>Economic performance (revenue, cost, profit)</a:t>
            </a:r>
            <a:endParaRPr lang="en-US" sz="1250" dirty="0"/>
          </a:p>
          <a:p>
            <a:pPr marL="342900" indent="-342900">
              <a:spcAft>
                <a:spcPts val="600"/>
              </a:spcAft>
              <a:buSzPct val="100000"/>
              <a:buChar char="•"/>
            </a:pPr>
            <a:r>
              <a:rPr lang="en-US" sz="1250" dirty="0">
                <a:solidFill>
                  <a:srgbClr val="27333D"/>
                </a:solidFill>
                <a:latin typeface="Calibri" pitchFamily="34" charset="0"/>
                <a:ea typeface="Calibri" pitchFamily="34" charset="-122"/>
                <a:cs typeface="Calibri" pitchFamily="34" charset="-120"/>
              </a:rPr>
              <a:t>State-wise &amp; crop-wise performance</a:t>
            </a:r>
            <a:endParaRPr lang="en-US" sz="1250" dirty="0"/>
          </a:p>
          <a:p>
            <a:pPr marL="342900" indent="-342900">
              <a:spcAft>
                <a:spcPts val="600"/>
              </a:spcAft>
              <a:buSzPct val="100000"/>
              <a:buChar char="•"/>
            </a:pPr>
            <a:r>
              <a:rPr lang="en-US" sz="1250" dirty="0">
                <a:solidFill>
                  <a:srgbClr val="27333D"/>
                </a:solidFill>
                <a:latin typeface="Calibri" pitchFamily="34" charset="0"/>
                <a:ea typeface="Calibri" pitchFamily="34" charset="-122"/>
                <a:cs typeface="Calibri" pitchFamily="34" charset="-120"/>
              </a:rPr>
              <a:t>Statistical significance of seasonal gaps</a:t>
            </a:r>
            <a:endParaRPr lang="en-US" sz="1250" dirty="0"/>
          </a:p>
        </p:txBody>
      </p:sp>
      <p:sp>
        <p:nvSpPr>
          <p:cNvPr id="14" name="Shape 12"/>
          <p:cNvSpPr/>
          <p:nvPr/>
        </p:nvSpPr>
        <p:spPr>
          <a:xfrm>
            <a:off x="7589520" y="1188720"/>
            <a:ext cx="82296" cy="292608"/>
          </a:xfrm>
          <a:prstGeom prst="rect">
            <a:avLst/>
          </a:prstGeom>
          <a:solidFill>
            <a:srgbClr val="2E946B"/>
          </a:solidFill>
          <a:ln/>
        </p:spPr>
      </p:sp>
      <p:sp>
        <p:nvSpPr>
          <p:cNvPr id="15" name="Text 13"/>
          <p:cNvSpPr/>
          <p:nvPr/>
        </p:nvSpPr>
        <p:spPr>
          <a:xfrm>
            <a:off x="7754112" y="1161288"/>
            <a:ext cx="3493008" cy="347472"/>
          </a:xfrm>
          <a:prstGeom prst="rect">
            <a:avLst/>
          </a:prstGeom>
          <a:noFill/>
          <a:ln/>
        </p:spPr>
        <p:txBody>
          <a:bodyPr wrap="square" rtlCol="0" anchor="ctr"/>
          <a:lstStyle/>
          <a:p>
            <a:pPr indent="0" marL="0">
              <a:buNone/>
            </a:pPr>
            <a:r>
              <a:rPr lang="en-US" sz="1500" b="1" dirty="0">
                <a:solidFill>
                  <a:srgbClr val="27333D"/>
                </a:solidFill>
                <a:latin typeface="Cambria" pitchFamily="34" charset="0"/>
                <a:ea typeface="Cambria" pitchFamily="34" charset="-122"/>
                <a:cs typeface="Cambria" pitchFamily="34" charset="-120"/>
              </a:rPr>
              <a:t>Dataset at a Glance</a:t>
            </a:r>
            <a:endParaRPr lang="en-US" sz="1500" dirty="0"/>
          </a:p>
        </p:txBody>
      </p:sp>
      <p:sp>
        <p:nvSpPr>
          <p:cNvPr id="16" name="Shape 14"/>
          <p:cNvSpPr/>
          <p:nvPr/>
        </p:nvSpPr>
        <p:spPr>
          <a:xfrm>
            <a:off x="7589520" y="1691640"/>
            <a:ext cx="1691640" cy="960120"/>
          </a:xfrm>
          <a:prstGeom prst="roundRect">
            <a:avLst>
              <a:gd name="adj" fmla="val 6667"/>
            </a:avLst>
          </a:prstGeom>
          <a:solidFill>
            <a:srgbClr val="FFFFFF"/>
          </a:solidFill>
          <a:ln w="12700">
            <a:solidFill>
              <a:srgbClr val="DDE6EA"/>
            </a:solidFill>
            <a:prstDash val="solid"/>
          </a:ln>
          <a:effectLst>
            <a:outerShdw sx="100000" sy="100000" kx="0" ky="0" algn="bl" rotWithShape="0" blurRad="50800" dist="25400" dir="5400000">
              <a:srgbClr val="888888">
                <a:alpha val="25000"/>
              </a:srgbClr>
            </a:outerShdw>
          </a:effectLst>
        </p:spPr>
      </p:sp>
      <p:sp>
        <p:nvSpPr>
          <p:cNvPr id="17" name="Text 15"/>
          <p:cNvSpPr/>
          <p:nvPr/>
        </p:nvSpPr>
        <p:spPr>
          <a:xfrm>
            <a:off x="7589520" y="1764792"/>
            <a:ext cx="1691640" cy="594360"/>
          </a:xfrm>
          <a:prstGeom prst="rect">
            <a:avLst/>
          </a:prstGeom>
          <a:noFill/>
          <a:ln/>
        </p:spPr>
        <p:txBody>
          <a:bodyPr wrap="square" rtlCol="0" anchor="ctr"/>
          <a:lstStyle/>
          <a:p>
            <a:pPr algn="ctr" indent="0" marL="0">
              <a:buNone/>
            </a:pPr>
            <a:r>
              <a:rPr lang="en-US" sz="2400" b="1" dirty="0">
                <a:solidFill>
                  <a:srgbClr val="1B5E86"/>
                </a:solidFill>
                <a:latin typeface="Cambria" pitchFamily="34" charset="0"/>
                <a:ea typeface="Cambria" pitchFamily="34" charset="-122"/>
                <a:cs typeface="Cambria" pitchFamily="34" charset="-120"/>
              </a:rPr>
              <a:t>4,000</a:t>
            </a:r>
            <a:endParaRPr lang="en-US" sz="2400" dirty="0"/>
          </a:p>
        </p:txBody>
      </p:sp>
      <p:sp>
        <p:nvSpPr>
          <p:cNvPr id="18" name="Text 16"/>
          <p:cNvSpPr/>
          <p:nvPr/>
        </p:nvSpPr>
        <p:spPr>
          <a:xfrm>
            <a:off x="7635240" y="2340864"/>
            <a:ext cx="1600200" cy="274320"/>
          </a:xfrm>
          <a:prstGeom prst="rect">
            <a:avLst/>
          </a:prstGeom>
          <a:noFill/>
          <a:ln/>
        </p:spPr>
        <p:txBody>
          <a:bodyPr wrap="square" rtlCol="0" anchor="ctr"/>
          <a:lstStyle/>
          <a:p>
            <a:pPr algn="ctr" indent="0" marL="0">
              <a:buNone/>
            </a:pPr>
            <a:r>
              <a:rPr lang="en-US" sz="950" dirty="0">
                <a:solidFill>
                  <a:srgbClr val="5B6B76"/>
                </a:solidFill>
                <a:latin typeface="Calibri" pitchFamily="34" charset="0"/>
                <a:ea typeface="Calibri" pitchFamily="34" charset="-122"/>
                <a:cs typeface="Calibri" pitchFamily="34" charset="-120"/>
              </a:rPr>
              <a:t>Farm Records</a:t>
            </a:r>
            <a:endParaRPr lang="en-US" sz="950" dirty="0"/>
          </a:p>
        </p:txBody>
      </p:sp>
      <p:sp>
        <p:nvSpPr>
          <p:cNvPr id="19" name="Shape 17"/>
          <p:cNvSpPr/>
          <p:nvPr/>
        </p:nvSpPr>
        <p:spPr>
          <a:xfrm>
            <a:off x="9418320" y="1691640"/>
            <a:ext cx="1691640" cy="960120"/>
          </a:xfrm>
          <a:prstGeom prst="roundRect">
            <a:avLst>
              <a:gd name="adj" fmla="val 6667"/>
            </a:avLst>
          </a:prstGeom>
          <a:solidFill>
            <a:srgbClr val="FFFFFF"/>
          </a:solidFill>
          <a:ln w="12700">
            <a:solidFill>
              <a:srgbClr val="DDE6EA"/>
            </a:solidFill>
            <a:prstDash val="solid"/>
          </a:ln>
          <a:effectLst>
            <a:outerShdw sx="100000" sy="100000" kx="0" ky="0" algn="bl" rotWithShape="0" blurRad="50800" dist="25400" dir="5400000">
              <a:srgbClr val="888888">
                <a:alpha val="25000"/>
              </a:srgbClr>
            </a:outerShdw>
          </a:effectLst>
        </p:spPr>
      </p:sp>
      <p:sp>
        <p:nvSpPr>
          <p:cNvPr id="20" name="Text 18"/>
          <p:cNvSpPr/>
          <p:nvPr/>
        </p:nvSpPr>
        <p:spPr>
          <a:xfrm>
            <a:off x="9418320" y="1764792"/>
            <a:ext cx="1691640" cy="594360"/>
          </a:xfrm>
          <a:prstGeom prst="rect">
            <a:avLst/>
          </a:prstGeom>
          <a:noFill/>
          <a:ln/>
        </p:spPr>
        <p:txBody>
          <a:bodyPr wrap="square" rtlCol="0" anchor="ctr"/>
          <a:lstStyle/>
          <a:p>
            <a:pPr algn="ctr" indent="0" marL="0">
              <a:buNone/>
            </a:pPr>
            <a:r>
              <a:rPr lang="en-US" sz="2400" b="1" dirty="0">
                <a:solidFill>
                  <a:srgbClr val="2E946B"/>
                </a:solidFill>
                <a:latin typeface="Cambria" pitchFamily="34" charset="0"/>
                <a:ea typeface="Cambria" pitchFamily="34" charset="-122"/>
                <a:cs typeface="Cambria" pitchFamily="34" charset="-120"/>
              </a:rPr>
              <a:t>28</a:t>
            </a:r>
            <a:endParaRPr lang="en-US" sz="2400" dirty="0"/>
          </a:p>
        </p:txBody>
      </p:sp>
      <p:sp>
        <p:nvSpPr>
          <p:cNvPr id="21" name="Text 19"/>
          <p:cNvSpPr/>
          <p:nvPr/>
        </p:nvSpPr>
        <p:spPr>
          <a:xfrm>
            <a:off x="9464040" y="2340864"/>
            <a:ext cx="1600200" cy="274320"/>
          </a:xfrm>
          <a:prstGeom prst="rect">
            <a:avLst/>
          </a:prstGeom>
          <a:noFill/>
          <a:ln/>
        </p:spPr>
        <p:txBody>
          <a:bodyPr wrap="square" rtlCol="0" anchor="ctr"/>
          <a:lstStyle/>
          <a:p>
            <a:pPr algn="ctr" indent="0" marL="0">
              <a:buNone/>
            </a:pPr>
            <a:r>
              <a:rPr lang="en-US" sz="950" dirty="0">
                <a:solidFill>
                  <a:srgbClr val="5B6B76"/>
                </a:solidFill>
                <a:latin typeface="Calibri" pitchFamily="34" charset="0"/>
                <a:ea typeface="Calibri" pitchFamily="34" charset="-122"/>
                <a:cs typeface="Calibri" pitchFamily="34" charset="-120"/>
              </a:rPr>
              <a:t>Features</a:t>
            </a:r>
            <a:endParaRPr lang="en-US" sz="950" dirty="0"/>
          </a:p>
        </p:txBody>
      </p:sp>
      <p:sp>
        <p:nvSpPr>
          <p:cNvPr id="22" name="Shape 20"/>
          <p:cNvSpPr/>
          <p:nvPr/>
        </p:nvSpPr>
        <p:spPr>
          <a:xfrm>
            <a:off x="7589520" y="2788920"/>
            <a:ext cx="1691640" cy="960120"/>
          </a:xfrm>
          <a:prstGeom prst="roundRect">
            <a:avLst>
              <a:gd name="adj" fmla="val 6667"/>
            </a:avLst>
          </a:prstGeom>
          <a:solidFill>
            <a:srgbClr val="FFFFFF"/>
          </a:solidFill>
          <a:ln w="12700">
            <a:solidFill>
              <a:srgbClr val="DDE6EA"/>
            </a:solidFill>
            <a:prstDash val="solid"/>
          </a:ln>
          <a:effectLst>
            <a:outerShdw sx="100000" sy="100000" kx="0" ky="0" algn="bl" rotWithShape="0" blurRad="50800" dist="25400" dir="5400000">
              <a:srgbClr val="888888">
                <a:alpha val="25000"/>
              </a:srgbClr>
            </a:outerShdw>
          </a:effectLst>
        </p:spPr>
      </p:sp>
      <p:sp>
        <p:nvSpPr>
          <p:cNvPr id="23" name="Text 21"/>
          <p:cNvSpPr/>
          <p:nvPr/>
        </p:nvSpPr>
        <p:spPr>
          <a:xfrm>
            <a:off x="7589520" y="2862072"/>
            <a:ext cx="1691640" cy="594360"/>
          </a:xfrm>
          <a:prstGeom prst="rect">
            <a:avLst/>
          </a:prstGeom>
          <a:noFill/>
          <a:ln/>
        </p:spPr>
        <p:txBody>
          <a:bodyPr wrap="square" rtlCol="0" anchor="ctr"/>
          <a:lstStyle/>
          <a:p>
            <a:pPr algn="ctr" indent="0" marL="0">
              <a:buNone/>
            </a:pPr>
            <a:r>
              <a:rPr lang="en-US" sz="2400" b="1" dirty="0">
                <a:solidFill>
                  <a:srgbClr val="1B5E86"/>
                </a:solidFill>
                <a:latin typeface="Cambria" pitchFamily="34" charset="0"/>
                <a:ea typeface="Cambria" pitchFamily="34" charset="-122"/>
                <a:cs typeface="Cambria" pitchFamily="34" charset="-120"/>
              </a:rPr>
              <a:t>3</a:t>
            </a:r>
            <a:endParaRPr lang="en-US" sz="2400" dirty="0"/>
          </a:p>
        </p:txBody>
      </p:sp>
      <p:sp>
        <p:nvSpPr>
          <p:cNvPr id="24" name="Text 22"/>
          <p:cNvSpPr/>
          <p:nvPr/>
        </p:nvSpPr>
        <p:spPr>
          <a:xfrm>
            <a:off x="7635240" y="3438144"/>
            <a:ext cx="1600200" cy="274320"/>
          </a:xfrm>
          <a:prstGeom prst="rect">
            <a:avLst/>
          </a:prstGeom>
          <a:noFill/>
          <a:ln/>
        </p:spPr>
        <p:txBody>
          <a:bodyPr wrap="square" rtlCol="0" anchor="ctr"/>
          <a:lstStyle/>
          <a:p>
            <a:pPr algn="ctr" indent="0" marL="0">
              <a:buNone/>
            </a:pPr>
            <a:r>
              <a:rPr lang="en-US" sz="950" dirty="0">
                <a:solidFill>
                  <a:srgbClr val="5B6B76"/>
                </a:solidFill>
                <a:latin typeface="Calibri" pitchFamily="34" charset="0"/>
                <a:ea typeface="Calibri" pitchFamily="34" charset="-122"/>
                <a:cs typeface="Calibri" pitchFamily="34" charset="-120"/>
              </a:rPr>
              <a:t>Seasons</a:t>
            </a:r>
            <a:endParaRPr lang="en-US" sz="950" dirty="0"/>
          </a:p>
        </p:txBody>
      </p:sp>
      <p:sp>
        <p:nvSpPr>
          <p:cNvPr id="25" name="Shape 23"/>
          <p:cNvSpPr/>
          <p:nvPr/>
        </p:nvSpPr>
        <p:spPr>
          <a:xfrm>
            <a:off x="9418320" y="2788920"/>
            <a:ext cx="1691640" cy="960120"/>
          </a:xfrm>
          <a:prstGeom prst="roundRect">
            <a:avLst>
              <a:gd name="adj" fmla="val 6667"/>
            </a:avLst>
          </a:prstGeom>
          <a:solidFill>
            <a:srgbClr val="FFFFFF"/>
          </a:solidFill>
          <a:ln w="12700">
            <a:solidFill>
              <a:srgbClr val="DDE6EA"/>
            </a:solidFill>
            <a:prstDash val="solid"/>
          </a:ln>
          <a:effectLst>
            <a:outerShdw sx="100000" sy="100000" kx="0" ky="0" algn="bl" rotWithShape="0" blurRad="50800" dist="25400" dir="5400000">
              <a:srgbClr val="888888">
                <a:alpha val="25000"/>
              </a:srgbClr>
            </a:outerShdw>
          </a:effectLst>
        </p:spPr>
      </p:sp>
      <p:sp>
        <p:nvSpPr>
          <p:cNvPr id="26" name="Text 24"/>
          <p:cNvSpPr/>
          <p:nvPr/>
        </p:nvSpPr>
        <p:spPr>
          <a:xfrm>
            <a:off x="9418320" y="2862072"/>
            <a:ext cx="1691640" cy="594360"/>
          </a:xfrm>
          <a:prstGeom prst="rect">
            <a:avLst/>
          </a:prstGeom>
          <a:noFill/>
          <a:ln/>
        </p:spPr>
        <p:txBody>
          <a:bodyPr wrap="square" rtlCol="0" anchor="ctr"/>
          <a:lstStyle/>
          <a:p>
            <a:pPr algn="ctr" indent="0" marL="0">
              <a:buNone/>
            </a:pPr>
            <a:r>
              <a:rPr lang="en-US" sz="2400" b="1" dirty="0">
                <a:solidFill>
                  <a:srgbClr val="2E946B"/>
                </a:solidFill>
                <a:latin typeface="Cambria" pitchFamily="34" charset="0"/>
                <a:ea typeface="Cambria" pitchFamily="34" charset="-122"/>
                <a:cs typeface="Cambria" pitchFamily="34" charset="-120"/>
              </a:rPr>
              <a:t>8</a:t>
            </a:r>
            <a:endParaRPr lang="en-US" sz="2400" dirty="0"/>
          </a:p>
        </p:txBody>
      </p:sp>
      <p:sp>
        <p:nvSpPr>
          <p:cNvPr id="27" name="Text 25"/>
          <p:cNvSpPr/>
          <p:nvPr/>
        </p:nvSpPr>
        <p:spPr>
          <a:xfrm>
            <a:off x="9464040" y="3438144"/>
            <a:ext cx="1600200" cy="274320"/>
          </a:xfrm>
          <a:prstGeom prst="rect">
            <a:avLst/>
          </a:prstGeom>
          <a:noFill/>
          <a:ln/>
        </p:spPr>
        <p:txBody>
          <a:bodyPr wrap="square" rtlCol="0" anchor="ctr"/>
          <a:lstStyle/>
          <a:p>
            <a:pPr algn="ctr" indent="0" marL="0">
              <a:buNone/>
            </a:pPr>
            <a:r>
              <a:rPr lang="en-US" sz="950" dirty="0">
                <a:solidFill>
                  <a:srgbClr val="5B6B76"/>
                </a:solidFill>
                <a:latin typeface="Calibri" pitchFamily="34" charset="0"/>
                <a:ea typeface="Calibri" pitchFamily="34" charset="-122"/>
                <a:cs typeface="Calibri" pitchFamily="34" charset="-120"/>
              </a:rPr>
              <a:t>States</a:t>
            </a:r>
            <a:endParaRPr lang="en-US" sz="950" dirty="0"/>
          </a:p>
        </p:txBody>
      </p:sp>
      <p:sp>
        <p:nvSpPr>
          <p:cNvPr id="28" name="Shape 26"/>
          <p:cNvSpPr/>
          <p:nvPr/>
        </p:nvSpPr>
        <p:spPr>
          <a:xfrm>
            <a:off x="7589520" y="3886200"/>
            <a:ext cx="1691640" cy="960120"/>
          </a:xfrm>
          <a:prstGeom prst="roundRect">
            <a:avLst>
              <a:gd name="adj" fmla="val 6667"/>
            </a:avLst>
          </a:prstGeom>
          <a:solidFill>
            <a:srgbClr val="FFFFFF"/>
          </a:solidFill>
          <a:ln w="12700">
            <a:solidFill>
              <a:srgbClr val="DDE6EA"/>
            </a:solidFill>
            <a:prstDash val="solid"/>
          </a:ln>
          <a:effectLst>
            <a:outerShdw sx="100000" sy="100000" kx="0" ky="0" algn="bl" rotWithShape="0" blurRad="50800" dist="25400" dir="5400000">
              <a:srgbClr val="888888">
                <a:alpha val="25000"/>
              </a:srgbClr>
            </a:outerShdw>
          </a:effectLst>
        </p:spPr>
      </p:sp>
      <p:sp>
        <p:nvSpPr>
          <p:cNvPr id="29" name="Text 27"/>
          <p:cNvSpPr/>
          <p:nvPr/>
        </p:nvSpPr>
        <p:spPr>
          <a:xfrm>
            <a:off x="7589520" y="3959352"/>
            <a:ext cx="1691640" cy="594360"/>
          </a:xfrm>
          <a:prstGeom prst="rect">
            <a:avLst/>
          </a:prstGeom>
          <a:noFill/>
          <a:ln/>
        </p:spPr>
        <p:txBody>
          <a:bodyPr wrap="square" rtlCol="0" anchor="ctr"/>
          <a:lstStyle/>
          <a:p>
            <a:pPr algn="ctr" indent="0" marL="0">
              <a:buNone/>
            </a:pPr>
            <a:r>
              <a:rPr lang="en-US" sz="2400" b="1" dirty="0">
                <a:solidFill>
                  <a:srgbClr val="1B5E86"/>
                </a:solidFill>
                <a:latin typeface="Cambria" pitchFamily="34" charset="0"/>
                <a:ea typeface="Cambria" pitchFamily="34" charset="-122"/>
                <a:cs typeface="Cambria" pitchFamily="34" charset="-120"/>
              </a:rPr>
              <a:t>8</a:t>
            </a:r>
            <a:endParaRPr lang="en-US" sz="2400" dirty="0"/>
          </a:p>
        </p:txBody>
      </p:sp>
      <p:sp>
        <p:nvSpPr>
          <p:cNvPr id="30" name="Text 28"/>
          <p:cNvSpPr/>
          <p:nvPr/>
        </p:nvSpPr>
        <p:spPr>
          <a:xfrm>
            <a:off x="7635240" y="4535424"/>
            <a:ext cx="1600200" cy="274320"/>
          </a:xfrm>
          <a:prstGeom prst="rect">
            <a:avLst/>
          </a:prstGeom>
          <a:noFill/>
          <a:ln/>
        </p:spPr>
        <p:txBody>
          <a:bodyPr wrap="square" rtlCol="0" anchor="ctr"/>
          <a:lstStyle/>
          <a:p>
            <a:pPr algn="ctr" indent="0" marL="0">
              <a:buNone/>
            </a:pPr>
            <a:r>
              <a:rPr lang="en-US" sz="950" dirty="0">
                <a:solidFill>
                  <a:srgbClr val="5B6B76"/>
                </a:solidFill>
                <a:latin typeface="Calibri" pitchFamily="34" charset="0"/>
                <a:ea typeface="Calibri" pitchFamily="34" charset="-122"/>
                <a:cs typeface="Calibri" pitchFamily="34" charset="-120"/>
              </a:rPr>
              <a:t>Crops</a:t>
            </a:r>
            <a:endParaRPr lang="en-US" sz="950" dirty="0"/>
          </a:p>
        </p:txBody>
      </p:sp>
      <p:sp>
        <p:nvSpPr>
          <p:cNvPr id="31" name="Shape 29"/>
          <p:cNvSpPr/>
          <p:nvPr/>
        </p:nvSpPr>
        <p:spPr>
          <a:xfrm>
            <a:off x="9418320" y="3886200"/>
            <a:ext cx="1691640" cy="960120"/>
          </a:xfrm>
          <a:prstGeom prst="roundRect">
            <a:avLst>
              <a:gd name="adj" fmla="val 6667"/>
            </a:avLst>
          </a:prstGeom>
          <a:solidFill>
            <a:srgbClr val="FFFFFF"/>
          </a:solidFill>
          <a:ln w="12700">
            <a:solidFill>
              <a:srgbClr val="DDE6EA"/>
            </a:solidFill>
            <a:prstDash val="solid"/>
          </a:ln>
          <a:effectLst>
            <a:outerShdw sx="100000" sy="100000" kx="0" ky="0" algn="bl" rotWithShape="0" blurRad="50800" dist="25400" dir="5400000">
              <a:srgbClr val="888888">
                <a:alpha val="25000"/>
              </a:srgbClr>
            </a:outerShdw>
          </a:effectLst>
        </p:spPr>
      </p:sp>
      <p:sp>
        <p:nvSpPr>
          <p:cNvPr id="32" name="Text 30"/>
          <p:cNvSpPr/>
          <p:nvPr/>
        </p:nvSpPr>
        <p:spPr>
          <a:xfrm>
            <a:off x="9418320" y="3959352"/>
            <a:ext cx="1691640" cy="594360"/>
          </a:xfrm>
          <a:prstGeom prst="rect">
            <a:avLst/>
          </a:prstGeom>
          <a:noFill/>
          <a:ln/>
        </p:spPr>
        <p:txBody>
          <a:bodyPr wrap="square" rtlCol="0" anchor="ctr"/>
          <a:lstStyle/>
          <a:p>
            <a:pPr algn="ctr" indent="0" marL="0">
              <a:buNone/>
            </a:pPr>
            <a:r>
              <a:rPr lang="en-US" sz="2400" b="1" dirty="0">
                <a:solidFill>
                  <a:srgbClr val="2E946B"/>
                </a:solidFill>
                <a:latin typeface="Cambria" pitchFamily="34" charset="0"/>
                <a:ea typeface="Cambria" pitchFamily="34" charset="-122"/>
                <a:cs typeface="Cambria" pitchFamily="34" charset="-120"/>
              </a:rPr>
              <a:t>4</a:t>
            </a:r>
            <a:endParaRPr lang="en-US" sz="2400" dirty="0"/>
          </a:p>
        </p:txBody>
      </p:sp>
      <p:sp>
        <p:nvSpPr>
          <p:cNvPr id="33" name="Text 31"/>
          <p:cNvSpPr/>
          <p:nvPr/>
        </p:nvSpPr>
        <p:spPr>
          <a:xfrm>
            <a:off x="9464040" y="4535424"/>
            <a:ext cx="1600200" cy="274320"/>
          </a:xfrm>
          <a:prstGeom prst="rect">
            <a:avLst/>
          </a:prstGeom>
          <a:noFill/>
          <a:ln/>
        </p:spPr>
        <p:txBody>
          <a:bodyPr wrap="square" rtlCol="0" anchor="ctr"/>
          <a:lstStyle/>
          <a:p>
            <a:pPr algn="ctr" indent="0" marL="0">
              <a:buNone/>
            </a:pPr>
            <a:r>
              <a:rPr lang="en-US" sz="950" dirty="0">
                <a:solidFill>
                  <a:srgbClr val="5B6B76"/>
                </a:solidFill>
                <a:latin typeface="Calibri" pitchFamily="34" charset="0"/>
                <a:ea typeface="Calibri" pitchFamily="34" charset="-122"/>
                <a:cs typeface="Calibri" pitchFamily="34" charset="-120"/>
              </a:rPr>
              <a:t>Irrigation Types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CFE3ED"/>
          </a:solidFill>
          <a:ln/>
        </p:spPr>
      </p:sp>
      <p:sp>
        <p:nvSpPr>
          <p:cNvPr id="3" name="Shape 1"/>
          <p:cNvSpPr/>
          <p:nvPr/>
        </p:nvSpPr>
        <p:spPr>
          <a:xfrm rot="2700000">
            <a:off x="10362895" y="5029200"/>
            <a:ext cx="3291840" cy="3291840"/>
          </a:xfrm>
          <a:prstGeom prst="rect">
            <a:avLst/>
          </a:prstGeom>
          <a:solidFill>
            <a:srgbClr val="BFE3DE"/>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Text 4"/>
          <p:cNvSpPr/>
          <p:nvPr/>
        </p:nvSpPr>
        <p:spPr>
          <a:xfrm>
            <a:off x="502920" y="320040"/>
            <a:ext cx="11185855" cy="640080"/>
          </a:xfrm>
          <a:prstGeom prst="rect">
            <a:avLst/>
          </a:prstGeom>
          <a:noFill/>
          <a:ln/>
        </p:spPr>
        <p:txBody>
          <a:bodyPr wrap="square" rtlCol="0" anchor="ctr"/>
          <a:lstStyle/>
          <a:p>
            <a:pPr indent="0" marL="0">
              <a:buNone/>
            </a:pPr>
            <a:r>
              <a:rPr lang="en-US" sz="3000" b="1" dirty="0">
                <a:solidFill>
                  <a:srgbClr val="1B5E86"/>
                </a:solidFill>
                <a:latin typeface="Cambria" pitchFamily="34" charset="0"/>
                <a:ea typeface="Cambria" pitchFamily="34" charset="-122"/>
                <a:cs typeface="Cambria" pitchFamily="34" charset="-120"/>
              </a:rPr>
              <a:t>Who Are the End Users?</a:t>
            </a:r>
            <a:endParaRPr lang="en-US" sz="3000" dirty="0"/>
          </a:p>
        </p:txBody>
      </p:sp>
      <p:sp>
        <p:nvSpPr>
          <p:cNvPr id="7" name="Shape 5"/>
          <p:cNvSpPr/>
          <p:nvPr/>
        </p:nvSpPr>
        <p:spPr>
          <a:xfrm>
            <a:off x="530352" y="960120"/>
            <a:ext cx="1188720" cy="41148"/>
          </a:xfrm>
          <a:prstGeom prst="rect">
            <a:avLst/>
          </a:prstGeom>
          <a:solidFill>
            <a:srgbClr val="E07B1A"/>
          </a:solidFill>
          <a:ln/>
        </p:spPr>
      </p:sp>
      <p:sp>
        <p:nvSpPr>
          <p:cNvPr id="8" name="Text 6"/>
          <p:cNvSpPr/>
          <p:nvPr/>
        </p:nvSpPr>
        <p:spPr>
          <a:xfrm>
            <a:off x="365760" y="6528816"/>
            <a:ext cx="6400800" cy="274320"/>
          </a:xfrm>
          <a:prstGeom prst="rect">
            <a:avLst/>
          </a:prstGeom>
          <a:noFill/>
          <a:ln/>
        </p:spPr>
        <p:txBody>
          <a:bodyPr wrap="square" rtlCol="0" anchor="ctr"/>
          <a:lstStyle/>
          <a:p>
            <a:pPr indent="0" marL="0">
              <a:buNone/>
            </a:pPr>
            <a:r>
              <a:rPr lang="en-US" sz="900" i="1" dirty="0">
                <a:solidFill>
                  <a:srgbClr val="5B6B76"/>
                </a:solidFill>
                <a:latin typeface="Calibri" pitchFamily="34" charset="0"/>
                <a:ea typeface="Calibri" pitchFamily="34" charset="-122"/>
                <a:cs typeface="Calibri" pitchFamily="34" charset="-120"/>
              </a:rPr>
              <a:t>Seasonal Agriculture Performance Analysis</a:t>
            </a:r>
            <a:endParaRPr lang="en-US" sz="900" dirty="0"/>
          </a:p>
        </p:txBody>
      </p:sp>
      <p:sp>
        <p:nvSpPr>
          <p:cNvPr id="9" name="Text 7"/>
          <p:cNvSpPr/>
          <p:nvPr/>
        </p:nvSpPr>
        <p:spPr>
          <a:xfrm>
            <a:off x="11551615" y="6528816"/>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3</a:t>
            </a:r>
            <a:endParaRPr lang="en-US" sz="900" dirty="0"/>
          </a:p>
        </p:txBody>
      </p:sp>
      <p:sp>
        <p:nvSpPr>
          <p:cNvPr id="10" name="Shape 8"/>
          <p:cNvSpPr/>
          <p:nvPr/>
        </p:nvSpPr>
        <p:spPr>
          <a:xfrm>
            <a:off x="548640" y="1417320"/>
            <a:ext cx="2121408" cy="2331720"/>
          </a:xfrm>
          <a:prstGeom prst="roundRect">
            <a:avLst>
              <a:gd name="adj" fmla="val 3448"/>
            </a:avLst>
          </a:prstGeom>
          <a:solidFill>
            <a:srgbClr val="FFFFFF"/>
          </a:solidFill>
          <a:ln w="12700">
            <a:solidFill>
              <a:srgbClr val="DDE6EA"/>
            </a:solidFill>
            <a:prstDash val="solid"/>
          </a:ln>
          <a:effectLst>
            <a:outerShdw sx="100000" sy="100000" kx="0" ky="0" algn="bl" rotWithShape="0" blurRad="50800" dist="25400" dir="5400000">
              <a:srgbClr val="888888">
                <a:alpha val="20000"/>
              </a:srgbClr>
            </a:outerShdw>
          </a:effectLst>
        </p:spPr>
      </p:sp>
      <p:sp>
        <p:nvSpPr>
          <p:cNvPr id="11" name="Shape 9"/>
          <p:cNvSpPr/>
          <p:nvPr/>
        </p:nvSpPr>
        <p:spPr>
          <a:xfrm>
            <a:off x="1353312" y="1618488"/>
            <a:ext cx="512064" cy="512064"/>
          </a:xfrm>
          <a:prstGeom prst="ellipse">
            <a:avLst/>
          </a:prstGeom>
          <a:solidFill>
            <a:srgbClr val="2E7D32">
              <a:alpha val="85000"/>
            </a:srgbClr>
          </a:solidFill>
          <a:ln/>
        </p:spPr>
      </p:sp>
      <p:sp>
        <p:nvSpPr>
          <p:cNvPr id="12" name="Shape 10"/>
          <p:cNvSpPr/>
          <p:nvPr/>
        </p:nvSpPr>
        <p:spPr>
          <a:xfrm>
            <a:off x="1481328" y="1746504"/>
            <a:ext cx="256032" cy="256032"/>
          </a:xfrm>
          <a:prstGeom prst="ellipse">
            <a:avLst/>
          </a:prstGeom>
          <a:solidFill>
            <a:srgbClr val="2E7D32"/>
          </a:solidFill>
          <a:ln/>
        </p:spPr>
      </p:sp>
      <p:sp>
        <p:nvSpPr>
          <p:cNvPr id="13" name="Text 11"/>
          <p:cNvSpPr/>
          <p:nvPr/>
        </p:nvSpPr>
        <p:spPr>
          <a:xfrm>
            <a:off x="640080" y="2240280"/>
            <a:ext cx="1938528" cy="502920"/>
          </a:xfrm>
          <a:prstGeom prst="rect">
            <a:avLst/>
          </a:prstGeom>
          <a:noFill/>
          <a:ln/>
        </p:spPr>
        <p:txBody>
          <a:bodyPr wrap="square" rtlCol="0" anchor="ctr"/>
          <a:lstStyle/>
          <a:p>
            <a:pPr algn="ctr" indent="0" marL="0">
              <a:buNone/>
            </a:pPr>
            <a:r>
              <a:rPr lang="en-US" sz="1250" b="1" dirty="0">
                <a:solidFill>
                  <a:srgbClr val="27333D"/>
                </a:solidFill>
                <a:latin typeface="Cambria" pitchFamily="34" charset="0"/>
                <a:ea typeface="Cambria" pitchFamily="34" charset="-122"/>
                <a:cs typeface="Cambria" pitchFamily="34" charset="-120"/>
              </a:rPr>
              <a:t>Farmers</a:t>
            </a:r>
            <a:endParaRPr lang="en-US" sz="1250" dirty="0"/>
          </a:p>
        </p:txBody>
      </p:sp>
      <p:sp>
        <p:nvSpPr>
          <p:cNvPr id="14" name="Text 12"/>
          <p:cNvSpPr/>
          <p:nvPr/>
        </p:nvSpPr>
        <p:spPr>
          <a:xfrm>
            <a:off x="685800" y="2743200"/>
            <a:ext cx="1847088" cy="914400"/>
          </a:xfrm>
          <a:prstGeom prst="rect">
            <a:avLst/>
          </a:prstGeom>
          <a:noFill/>
          <a:ln/>
        </p:spPr>
        <p:txBody>
          <a:bodyPr wrap="square" rtlCol="0" anchor="t"/>
          <a:lstStyle/>
          <a:p>
            <a:pPr marL="342900" indent="-342900">
              <a:spcAft>
                <a:spcPts val="400"/>
              </a:spcAft>
              <a:buSzPct val="100000"/>
              <a:buChar char="•"/>
            </a:pPr>
            <a:r>
              <a:rPr lang="en-US" sz="950" dirty="0">
                <a:solidFill>
                  <a:srgbClr val="5B6B76"/>
                </a:solidFill>
                <a:latin typeface="Calibri" pitchFamily="34" charset="0"/>
                <a:ea typeface="Calibri" pitchFamily="34" charset="-122"/>
                <a:cs typeface="Calibri" pitchFamily="34" charset="-120"/>
              </a:rPr>
              <a:t>Compare seasonal crop performance</a:t>
            </a:r>
            <a:endParaRPr lang="en-US" sz="950" dirty="0"/>
          </a:p>
          <a:p>
            <a:pPr marL="342900" indent="-342900">
              <a:spcAft>
                <a:spcPts val="400"/>
              </a:spcAft>
              <a:buSzPct val="100000"/>
              <a:buChar char="•"/>
            </a:pPr>
            <a:r>
              <a:rPr lang="en-US" sz="950" dirty="0">
                <a:solidFill>
                  <a:srgbClr val="5B6B76"/>
                </a:solidFill>
                <a:latin typeface="Calibri" pitchFamily="34" charset="0"/>
                <a:ea typeface="Calibri" pitchFamily="34" charset="-122"/>
                <a:cs typeface="Calibri" pitchFamily="34" charset="-120"/>
              </a:rPr>
              <a:t>Identify profitable / weak seasons</a:t>
            </a:r>
            <a:endParaRPr lang="en-US" sz="950" dirty="0"/>
          </a:p>
        </p:txBody>
      </p:sp>
      <p:sp>
        <p:nvSpPr>
          <p:cNvPr id="15" name="Shape 13"/>
          <p:cNvSpPr/>
          <p:nvPr/>
        </p:nvSpPr>
        <p:spPr>
          <a:xfrm>
            <a:off x="2852928" y="1417320"/>
            <a:ext cx="2121408" cy="2331720"/>
          </a:xfrm>
          <a:prstGeom prst="roundRect">
            <a:avLst>
              <a:gd name="adj" fmla="val 3448"/>
            </a:avLst>
          </a:prstGeom>
          <a:solidFill>
            <a:srgbClr val="FFFFFF"/>
          </a:solidFill>
          <a:ln w="12700">
            <a:solidFill>
              <a:srgbClr val="DDE6EA"/>
            </a:solidFill>
            <a:prstDash val="solid"/>
          </a:ln>
          <a:effectLst>
            <a:outerShdw sx="100000" sy="100000" kx="0" ky="0" algn="bl" rotWithShape="0" blurRad="50800" dist="25400" dir="5400000">
              <a:srgbClr val="888888">
                <a:alpha val="20000"/>
              </a:srgbClr>
            </a:outerShdw>
          </a:effectLst>
        </p:spPr>
      </p:sp>
      <p:sp>
        <p:nvSpPr>
          <p:cNvPr id="16" name="Shape 14"/>
          <p:cNvSpPr/>
          <p:nvPr/>
        </p:nvSpPr>
        <p:spPr>
          <a:xfrm>
            <a:off x="3657600" y="1618488"/>
            <a:ext cx="512064" cy="512064"/>
          </a:xfrm>
          <a:prstGeom prst="ellipse">
            <a:avLst/>
          </a:prstGeom>
          <a:solidFill>
            <a:srgbClr val="1565C0">
              <a:alpha val="85000"/>
            </a:srgbClr>
          </a:solidFill>
          <a:ln/>
        </p:spPr>
      </p:sp>
      <p:sp>
        <p:nvSpPr>
          <p:cNvPr id="17" name="Shape 15"/>
          <p:cNvSpPr/>
          <p:nvPr/>
        </p:nvSpPr>
        <p:spPr>
          <a:xfrm>
            <a:off x="3785616" y="1746504"/>
            <a:ext cx="256032" cy="256032"/>
          </a:xfrm>
          <a:prstGeom prst="ellipse">
            <a:avLst/>
          </a:prstGeom>
          <a:solidFill>
            <a:srgbClr val="1565C0"/>
          </a:solidFill>
          <a:ln/>
        </p:spPr>
      </p:sp>
      <p:sp>
        <p:nvSpPr>
          <p:cNvPr id="18" name="Text 16"/>
          <p:cNvSpPr/>
          <p:nvPr/>
        </p:nvSpPr>
        <p:spPr>
          <a:xfrm>
            <a:off x="2944368" y="2240280"/>
            <a:ext cx="1938528" cy="502920"/>
          </a:xfrm>
          <a:prstGeom prst="rect">
            <a:avLst/>
          </a:prstGeom>
          <a:noFill/>
          <a:ln/>
        </p:spPr>
        <p:txBody>
          <a:bodyPr wrap="square" rtlCol="0" anchor="ctr"/>
          <a:lstStyle/>
          <a:p>
            <a:pPr algn="ctr" indent="0" marL="0">
              <a:buNone/>
            </a:pPr>
            <a:r>
              <a:rPr lang="en-US" sz="1250" b="1" dirty="0">
                <a:solidFill>
                  <a:srgbClr val="27333D"/>
                </a:solidFill>
                <a:latin typeface="Cambria" pitchFamily="34" charset="0"/>
                <a:ea typeface="Cambria" pitchFamily="34" charset="-122"/>
                <a:cs typeface="Cambria" pitchFamily="34" charset="-120"/>
              </a:rPr>
              <a:t>Agricultural Planners</a:t>
            </a:r>
            <a:endParaRPr lang="en-US" sz="1250" dirty="0"/>
          </a:p>
        </p:txBody>
      </p:sp>
      <p:sp>
        <p:nvSpPr>
          <p:cNvPr id="19" name="Text 17"/>
          <p:cNvSpPr/>
          <p:nvPr/>
        </p:nvSpPr>
        <p:spPr>
          <a:xfrm>
            <a:off x="2990088" y="2743200"/>
            <a:ext cx="1847088" cy="914400"/>
          </a:xfrm>
          <a:prstGeom prst="rect">
            <a:avLst/>
          </a:prstGeom>
          <a:noFill/>
          <a:ln/>
        </p:spPr>
        <p:txBody>
          <a:bodyPr wrap="square" rtlCol="0" anchor="t"/>
          <a:lstStyle/>
          <a:p>
            <a:pPr marL="342900" indent="-342900">
              <a:spcAft>
                <a:spcPts val="400"/>
              </a:spcAft>
              <a:buSzPct val="100000"/>
              <a:buChar char="•"/>
            </a:pPr>
            <a:r>
              <a:rPr lang="en-US" sz="950" dirty="0">
                <a:solidFill>
                  <a:srgbClr val="5B6B76"/>
                </a:solidFill>
                <a:latin typeface="Calibri" pitchFamily="34" charset="0"/>
                <a:ea typeface="Calibri" pitchFamily="34" charset="-122"/>
                <a:cs typeface="Calibri" pitchFamily="34" charset="-120"/>
              </a:rPr>
              <a:t>Support seasonal planning</a:t>
            </a:r>
            <a:endParaRPr lang="en-US" sz="950" dirty="0"/>
          </a:p>
          <a:p>
            <a:pPr marL="342900" indent="-342900">
              <a:spcAft>
                <a:spcPts val="400"/>
              </a:spcAft>
              <a:buSzPct val="100000"/>
              <a:buChar char="•"/>
            </a:pPr>
            <a:r>
              <a:rPr lang="en-US" sz="950" dirty="0">
                <a:solidFill>
                  <a:srgbClr val="5B6B76"/>
                </a:solidFill>
                <a:latin typeface="Calibri" pitchFamily="34" charset="0"/>
                <a:ea typeface="Calibri" pitchFamily="34" charset="-122"/>
                <a:cs typeface="Calibri" pitchFamily="34" charset="-120"/>
              </a:rPr>
              <a:t>Identify regional patterns</a:t>
            </a:r>
            <a:endParaRPr lang="en-US" sz="950" dirty="0"/>
          </a:p>
        </p:txBody>
      </p:sp>
      <p:sp>
        <p:nvSpPr>
          <p:cNvPr id="20" name="Shape 18"/>
          <p:cNvSpPr/>
          <p:nvPr/>
        </p:nvSpPr>
        <p:spPr>
          <a:xfrm>
            <a:off x="5157216" y="1417320"/>
            <a:ext cx="2121408" cy="2331720"/>
          </a:xfrm>
          <a:prstGeom prst="roundRect">
            <a:avLst>
              <a:gd name="adj" fmla="val 3448"/>
            </a:avLst>
          </a:prstGeom>
          <a:solidFill>
            <a:srgbClr val="FFFFFF"/>
          </a:solidFill>
          <a:ln w="12700">
            <a:solidFill>
              <a:srgbClr val="DDE6EA"/>
            </a:solidFill>
            <a:prstDash val="solid"/>
          </a:ln>
          <a:effectLst>
            <a:outerShdw sx="100000" sy="100000" kx="0" ky="0" algn="bl" rotWithShape="0" blurRad="50800" dist="25400" dir="5400000">
              <a:srgbClr val="888888">
                <a:alpha val="20000"/>
              </a:srgbClr>
            </a:outerShdw>
          </a:effectLst>
        </p:spPr>
      </p:sp>
      <p:sp>
        <p:nvSpPr>
          <p:cNvPr id="21" name="Shape 19"/>
          <p:cNvSpPr/>
          <p:nvPr/>
        </p:nvSpPr>
        <p:spPr>
          <a:xfrm>
            <a:off x="5961888" y="1618488"/>
            <a:ext cx="512064" cy="512064"/>
          </a:xfrm>
          <a:prstGeom prst="ellipse">
            <a:avLst/>
          </a:prstGeom>
          <a:solidFill>
            <a:srgbClr val="2E946B">
              <a:alpha val="85000"/>
            </a:srgbClr>
          </a:solidFill>
          <a:ln/>
        </p:spPr>
      </p:sp>
      <p:sp>
        <p:nvSpPr>
          <p:cNvPr id="22" name="Shape 20"/>
          <p:cNvSpPr/>
          <p:nvPr/>
        </p:nvSpPr>
        <p:spPr>
          <a:xfrm>
            <a:off x="6089904" y="1746504"/>
            <a:ext cx="256032" cy="256032"/>
          </a:xfrm>
          <a:prstGeom prst="ellipse">
            <a:avLst/>
          </a:prstGeom>
          <a:solidFill>
            <a:srgbClr val="2E946B"/>
          </a:solidFill>
          <a:ln/>
        </p:spPr>
      </p:sp>
      <p:sp>
        <p:nvSpPr>
          <p:cNvPr id="23" name="Text 21"/>
          <p:cNvSpPr/>
          <p:nvPr/>
        </p:nvSpPr>
        <p:spPr>
          <a:xfrm>
            <a:off x="5248656" y="2240280"/>
            <a:ext cx="1938528" cy="502920"/>
          </a:xfrm>
          <a:prstGeom prst="rect">
            <a:avLst/>
          </a:prstGeom>
          <a:noFill/>
          <a:ln/>
        </p:spPr>
        <p:txBody>
          <a:bodyPr wrap="square" rtlCol="0" anchor="ctr"/>
          <a:lstStyle/>
          <a:p>
            <a:pPr algn="ctr" indent="0" marL="0">
              <a:buNone/>
            </a:pPr>
            <a:r>
              <a:rPr lang="en-US" sz="1250" b="1" dirty="0">
                <a:solidFill>
                  <a:srgbClr val="27333D"/>
                </a:solidFill>
                <a:latin typeface="Cambria" pitchFamily="34" charset="0"/>
                <a:ea typeface="Cambria" pitchFamily="34" charset="-122"/>
                <a:cs typeface="Cambria" pitchFamily="34" charset="-120"/>
              </a:rPr>
              <a:t>Analysts / Researchers</a:t>
            </a:r>
            <a:endParaRPr lang="en-US" sz="1250" dirty="0"/>
          </a:p>
        </p:txBody>
      </p:sp>
      <p:sp>
        <p:nvSpPr>
          <p:cNvPr id="24" name="Text 22"/>
          <p:cNvSpPr/>
          <p:nvPr/>
        </p:nvSpPr>
        <p:spPr>
          <a:xfrm>
            <a:off x="5294376" y="2743200"/>
            <a:ext cx="1847088" cy="914400"/>
          </a:xfrm>
          <a:prstGeom prst="rect">
            <a:avLst/>
          </a:prstGeom>
          <a:noFill/>
          <a:ln/>
        </p:spPr>
        <p:txBody>
          <a:bodyPr wrap="square" rtlCol="0" anchor="t"/>
          <a:lstStyle/>
          <a:p>
            <a:pPr marL="342900" indent="-342900">
              <a:spcAft>
                <a:spcPts val="400"/>
              </a:spcAft>
              <a:buSzPct val="100000"/>
              <a:buChar char="•"/>
            </a:pPr>
            <a:r>
              <a:rPr lang="en-US" sz="950" dirty="0">
                <a:solidFill>
                  <a:srgbClr val="5B6B76"/>
                </a:solidFill>
                <a:latin typeface="Calibri" pitchFamily="34" charset="0"/>
                <a:ea typeface="Calibri" pitchFamily="34" charset="-122"/>
                <a:cs typeface="Calibri" pitchFamily="34" charset="-120"/>
              </a:rPr>
              <a:t>Study environmental &amp; resource links</a:t>
            </a:r>
            <a:endParaRPr lang="en-US" sz="950" dirty="0"/>
          </a:p>
          <a:p>
            <a:pPr marL="342900" indent="-342900">
              <a:spcAft>
                <a:spcPts val="400"/>
              </a:spcAft>
              <a:buSzPct val="100000"/>
              <a:buChar char="•"/>
            </a:pPr>
            <a:r>
              <a:rPr lang="en-US" sz="950" dirty="0">
                <a:solidFill>
                  <a:srgbClr val="5B6B76"/>
                </a:solidFill>
                <a:latin typeface="Calibri" pitchFamily="34" charset="0"/>
                <a:ea typeface="Calibri" pitchFamily="34" charset="-122"/>
                <a:cs typeface="Calibri" pitchFamily="34" charset="-120"/>
              </a:rPr>
              <a:t>Analyze seasonal trends</a:t>
            </a:r>
            <a:endParaRPr lang="en-US" sz="950" dirty="0"/>
          </a:p>
        </p:txBody>
      </p:sp>
      <p:sp>
        <p:nvSpPr>
          <p:cNvPr id="25" name="Shape 23"/>
          <p:cNvSpPr/>
          <p:nvPr/>
        </p:nvSpPr>
        <p:spPr>
          <a:xfrm>
            <a:off x="7461504" y="1417320"/>
            <a:ext cx="2121408" cy="2331720"/>
          </a:xfrm>
          <a:prstGeom prst="roundRect">
            <a:avLst>
              <a:gd name="adj" fmla="val 3448"/>
            </a:avLst>
          </a:prstGeom>
          <a:solidFill>
            <a:srgbClr val="FFFFFF"/>
          </a:solidFill>
          <a:ln w="12700">
            <a:solidFill>
              <a:srgbClr val="DDE6EA"/>
            </a:solidFill>
            <a:prstDash val="solid"/>
          </a:ln>
          <a:effectLst>
            <a:outerShdw sx="100000" sy="100000" kx="0" ky="0" algn="bl" rotWithShape="0" blurRad="50800" dist="25400" dir="5400000">
              <a:srgbClr val="888888">
                <a:alpha val="20000"/>
              </a:srgbClr>
            </a:outerShdw>
          </a:effectLst>
        </p:spPr>
      </p:sp>
      <p:sp>
        <p:nvSpPr>
          <p:cNvPr id="26" name="Shape 24"/>
          <p:cNvSpPr/>
          <p:nvPr/>
        </p:nvSpPr>
        <p:spPr>
          <a:xfrm>
            <a:off x="8266176" y="1618488"/>
            <a:ext cx="512064" cy="512064"/>
          </a:xfrm>
          <a:prstGeom prst="ellipse">
            <a:avLst/>
          </a:prstGeom>
          <a:solidFill>
            <a:srgbClr val="1B5E86">
              <a:alpha val="85000"/>
            </a:srgbClr>
          </a:solidFill>
          <a:ln/>
        </p:spPr>
      </p:sp>
      <p:sp>
        <p:nvSpPr>
          <p:cNvPr id="27" name="Shape 25"/>
          <p:cNvSpPr/>
          <p:nvPr/>
        </p:nvSpPr>
        <p:spPr>
          <a:xfrm>
            <a:off x="8394192" y="1746504"/>
            <a:ext cx="256032" cy="256032"/>
          </a:xfrm>
          <a:prstGeom prst="ellipse">
            <a:avLst/>
          </a:prstGeom>
          <a:solidFill>
            <a:srgbClr val="1B5E86"/>
          </a:solidFill>
          <a:ln/>
        </p:spPr>
      </p:sp>
      <p:sp>
        <p:nvSpPr>
          <p:cNvPr id="28" name="Text 26"/>
          <p:cNvSpPr/>
          <p:nvPr/>
        </p:nvSpPr>
        <p:spPr>
          <a:xfrm>
            <a:off x="7552944" y="2240280"/>
            <a:ext cx="1938528" cy="502920"/>
          </a:xfrm>
          <a:prstGeom prst="rect">
            <a:avLst/>
          </a:prstGeom>
          <a:noFill/>
          <a:ln/>
        </p:spPr>
        <p:txBody>
          <a:bodyPr wrap="square" rtlCol="0" anchor="ctr"/>
          <a:lstStyle/>
          <a:p>
            <a:pPr algn="ctr" indent="0" marL="0">
              <a:buNone/>
            </a:pPr>
            <a:r>
              <a:rPr lang="en-US" sz="1250" b="1" dirty="0">
                <a:solidFill>
                  <a:srgbClr val="27333D"/>
                </a:solidFill>
                <a:latin typeface="Cambria" pitchFamily="34" charset="0"/>
                <a:ea typeface="Cambria" pitchFamily="34" charset="-122"/>
                <a:cs typeface="Cambria" pitchFamily="34" charset="-120"/>
              </a:rPr>
              <a:t>Government Departments</a:t>
            </a:r>
            <a:endParaRPr lang="en-US" sz="1250" dirty="0"/>
          </a:p>
        </p:txBody>
      </p:sp>
      <p:sp>
        <p:nvSpPr>
          <p:cNvPr id="29" name="Text 27"/>
          <p:cNvSpPr/>
          <p:nvPr/>
        </p:nvSpPr>
        <p:spPr>
          <a:xfrm>
            <a:off x="7598664" y="2743200"/>
            <a:ext cx="1847088" cy="914400"/>
          </a:xfrm>
          <a:prstGeom prst="rect">
            <a:avLst/>
          </a:prstGeom>
          <a:noFill/>
          <a:ln/>
        </p:spPr>
        <p:txBody>
          <a:bodyPr wrap="square" rtlCol="0" anchor="t"/>
          <a:lstStyle/>
          <a:p>
            <a:pPr marL="342900" indent="-342900">
              <a:spcAft>
                <a:spcPts val="400"/>
              </a:spcAft>
              <a:buSzPct val="100000"/>
              <a:buChar char="•"/>
            </a:pPr>
            <a:r>
              <a:rPr lang="en-US" sz="950" dirty="0">
                <a:solidFill>
                  <a:srgbClr val="5B6B76"/>
                </a:solidFill>
                <a:latin typeface="Calibri" pitchFamily="34" charset="0"/>
                <a:ea typeface="Calibri" pitchFamily="34" charset="-122"/>
                <a:cs typeface="Calibri" pitchFamily="34" charset="-120"/>
              </a:rPr>
              <a:t>Evidence-based agricultural policy</a:t>
            </a:r>
            <a:endParaRPr lang="en-US" sz="950" dirty="0"/>
          </a:p>
          <a:p>
            <a:pPr marL="342900" indent="-342900">
              <a:spcAft>
                <a:spcPts val="400"/>
              </a:spcAft>
              <a:buSzPct val="100000"/>
              <a:buChar char="•"/>
            </a:pPr>
            <a:r>
              <a:rPr lang="en-US" sz="950" dirty="0">
                <a:solidFill>
                  <a:srgbClr val="5B6B76"/>
                </a:solidFill>
                <a:latin typeface="Calibri" pitchFamily="34" charset="0"/>
                <a:ea typeface="Calibri" pitchFamily="34" charset="-122"/>
                <a:cs typeface="Calibri" pitchFamily="34" charset="-120"/>
              </a:rPr>
              <a:t>Track regional performance</a:t>
            </a:r>
            <a:endParaRPr lang="en-US" sz="950" dirty="0"/>
          </a:p>
        </p:txBody>
      </p:sp>
      <p:sp>
        <p:nvSpPr>
          <p:cNvPr id="30" name="Shape 28"/>
          <p:cNvSpPr/>
          <p:nvPr/>
        </p:nvSpPr>
        <p:spPr>
          <a:xfrm>
            <a:off x="9765792" y="1417320"/>
            <a:ext cx="2121408" cy="2331720"/>
          </a:xfrm>
          <a:prstGeom prst="roundRect">
            <a:avLst>
              <a:gd name="adj" fmla="val 3448"/>
            </a:avLst>
          </a:prstGeom>
          <a:solidFill>
            <a:srgbClr val="FFFFFF"/>
          </a:solidFill>
          <a:ln w="12700">
            <a:solidFill>
              <a:srgbClr val="DDE6EA"/>
            </a:solidFill>
            <a:prstDash val="solid"/>
          </a:ln>
          <a:effectLst>
            <a:outerShdw sx="100000" sy="100000" kx="0" ky="0" algn="bl" rotWithShape="0" blurRad="50800" dist="25400" dir="5400000">
              <a:srgbClr val="888888">
                <a:alpha val="20000"/>
              </a:srgbClr>
            </a:outerShdw>
          </a:effectLst>
        </p:spPr>
      </p:sp>
      <p:sp>
        <p:nvSpPr>
          <p:cNvPr id="31" name="Shape 29"/>
          <p:cNvSpPr/>
          <p:nvPr/>
        </p:nvSpPr>
        <p:spPr>
          <a:xfrm>
            <a:off x="10570464" y="1618488"/>
            <a:ext cx="512064" cy="512064"/>
          </a:xfrm>
          <a:prstGeom prst="ellipse">
            <a:avLst/>
          </a:prstGeom>
          <a:solidFill>
            <a:srgbClr val="E07B1A">
              <a:alpha val="85000"/>
            </a:srgbClr>
          </a:solidFill>
          <a:ln/>
        </p:spPr>
      </p:sp>
      <p:sp>
        <p:nvSpPr>
          <p:cNvPr id="32" name="Shape 30"/>
          <p:cNvSpPr/>
          <p:nvPr/>
        </p:nvSpPr>
        <p:spPr>
          <a:xfrm>
            <a:off x="10698480" y="1746504"/>
            <a:ext cx="256032" cy="256032"/>
          </a:xfrm>
          <a:prstGeom prst="ellipse">
            <a:avLst/>
          </a:prstGeom>
          <a:solidFill>
            <a:srgbClr val="E07B1A"/>
          </a:solidFill>
          <a:ln/>
        </p:spPr>
      </p:sp>
      <p:sp>
        <p:nvSpPr>
          <p:cNvPr id="33" name="Text 31"/>
          <p:cNvSpPr/>
          <p:nvPr/>
        </p:nvSpPr>
        <p:spPr>
          <a:xfrm>
            <a:off x="9857232" y="2240280"/>
            <a:ext cx="1938528" cy="502920"/>
          </a:xfrm>
          <a:prstGeom prst="rect">
            <a:avLst/>
          </a:prstGeom>
          <a:noFill/>
          <a:ln/>
        </p:spPr>
        <p:txBody>
          <a:bodyPr wrap="square" rtlCol="0" anchor="ctr"/>
          <a:lstStyle/>
          <a:p>
            <a:pPr algn="ctr" indent="0" marL="0">
              <a:buNone/>
            </a:pPr>
            <a:r>
              <a:rPr lang="en-US" sz="1250" b="1" dirty="0">
                <a:solidFill>
                  <a:srgbClr val="27333D"/>
                </a:solidFill>
                <a:latin typeface="Cambria" pitchFamily="34" charset="0"/>
                <a:ea typeface="Cambria" pitchFamily="34" charset="-122"/>
                <a:cs typeface="Cambria" pitchFamily="34" charset="-120"/>
              </a:rPr>
              <a:t>Agri-business / Supply Chain</a:t>
            </a:r>
            <a:endParaRPr lang="en-US" sz="1250" dirty="0"/>
          </a:p>
        </p:txBody>
      </p:sp>
      <p:sp>
        <p:nvSpPr>
          <p:cNvPr id="34" name="Text 32"/>
          <p:cNvSpPr/>
          <p:nvPr/>
        </p:nvSpPr>
        <p:spPr>
          <a:xfrm>
            <a:off x="9902952" y="2743200"/>
            <a:ext cx="1847088" cy="914400"/>
          </a:xfrm>
          <a:prstGeom prst="rect">
            <a:avLst/>
          </a:prstGeom>
          <a:noFill/>
          <a:ln/>
        </p:spPr>
        <p:txBody>
          <a:bodyPr wrap="square" rtlCol="0" anchor="t"/>
          <a:lstStyle/>
          <a:p>
            <a:pPr marL="342900" indent="-342900">
              <a:spcAft>
                <a:spcPts val="400"/>
              </a:spcAft>
              <a:buSzPct val="100000"/>
              <a:buChar char="•"/>
            </a:pPr>
            <a:r>
              <a:rPr lang="en-US" sz="950" dirty="0">
                <a:solidFill>
                  <a:srgbClr val="5B6B76"/>
                </a:solidFill>
                <a:latin typeface="Calibri" pitchFamily="34" charset="0"/>
                <a:ea typeface="Calibri" pitchFamily="34" charset="-122"/>
                <a:cs typeface="Calibri" pitchFamily="34" charset="-120"/>
              </a:rPr>
              <a:t>Anticipate seasonal availability</a:t>
            </a:r>
            <a:endParaRPr lang="en-US" sz="950" dirty="0"/>
          </a:p>
          <a:p>
            <a:pPr marL="342900" indent="-342900">
              <a:spcAft>
                <a:spcPts val="400"/>
              </a:spcAft>
              <a:buSzPct val="100000"/>
              <a:buChar char="•"/>
            </a:pPr>
            <a:r>
              <a:rPr lang="en-US" sz="950" dirty="0">
                <a:solidFill>
                  <a:srgbClr val="5B6B76"/>
                </a:solidFill>
                <a:latin typeface="Calibri" pitchFamily="34" charset="0"/>
                <a:ea typeface="Calibri" pitchFamily="34" charset="-122"/>
                <a:cs typeface="Calibri" pitchFamily="34" charset="-120"/>
              </a:rPr>
              <a:t>Plan production &amp; logistics</a:t>
            </a:r>
            <a:endParaRPr lang="en-US" sz="950" dirty="0"/>
          </a:p>
        </p:txBody>
      </p:sp>
      <p:sp>
        <p:nvSpPr>
          <p:cNvPr id="35" name="Shape 33"/>
          <p:cNvSpPr/>
          <p:nvPr/>
        </p:nvSpPr>
        <p:spPr>
          <a:xfrm>
            <a:off x="548640" y="4114800"/>
            <a:ext cx="11064240" cy="914400"/>
          </a:xfrm>
          <a:prstGeom prst="roundRect">
            <a:avLst>
              <a:gd name="adj" fmla="val 8000"/>
            </a:avLst>
          </a:prstGeom>
          <a:solidFill>
            <a:srgbClr val="2E946B">
              <a:alpha val="10000"/>
            </a:srgbClr>
          </a:solidFill>
          <a:ln w="12700">
            <a:solidFill>
              <a:srgbClr val="2E946B"/>
            </a:solidFill>
            <a:prstDash val="solid"/>
          </a:ln>
        </p:spPr>
      </p:sp>
      <p:sp>
        <p:nvSpPr>
          <p:cNvPr id="36" name="Text 34"/>
          <p:cNvSpPr/>
          <p:nvPr/>
        </p:nvSpPr>
        <p:spPr>
          <a:xfrm>
            <a:off x="685800" y="4187952"/>
            <a:ext cx="10789920" cy="768096"/>
          </a:xfrm>
          <a:prstGeom prst="rect">
            <a:avLst/>
          </a:prstGeom>
          <a:noFill/>
          <a:ln/>
        </p:spPr>
        <p:txBody>
          <a:bodyPr wrap="square" rtlCol="0" anchor="t"/>
          <a:lstStyle/>
          <a:p>
            <a:pPr indent="0" marL="0">
              <a:lnSpc>
                <a:spcPct val="105000"/>
              </a:lnSpc>
              <a:buNone/>
            </a:pPr>
            <a:r>
              <a:rPr lang="en-US" sz="1200" b="1" dirty="0">
                <a:solidFill>
                  <a:srgbClr val="2E946B"/>
                </a:solidFill>
                <a:latin typeface="Calibri" pitchFamily="34" charset="0"/>
                <a:ea typeface="Calibri" pitchFamily="34" charset="-122"/>
                <a:cs typeface="Calibri" pitchFamily="34" charset="-120"/>
              </a:rPr>
              <a:t>Why it matters
</a:t>
            </a:r>
            <a:pPr indent="0" marL="0">
              <a:lnSpc>
                <a:spcPct val="105000"/>
              </a:lnSpc>
              <a:buNone/>
            </a:pPr>
            <a:r>
              <a:rPr lang="en-US" sz="1150" dirty="0">
                <a:solidFill>
                  <a:srgbClr val="27333D"/>
                </a:solidFill>
                <a:latin typeface="Calibri" pitchFamily="34" charset="0"/>
                <a:ea typeface="Calibri" pitchFamily="34" charset="-122"/>
                <a:cs typeface="Calibri" pitchFamily="34" charset="-120"/>
              </a:rPr>
              <a:t>Understanding seasonal performance differences helps every stakeholder along the agricultural value chain make more informed, evidence-based decisions.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CFE3ED"/>
          </a:solidFill>
          <a:ln/>
        </p:spPr>
      </p:sp>
      <p:sp>
        <p:nvSpPr>
          <p:cNvPr id="3" name="Shape 1"/>
          <p:cNvSpPr/>
          <p:nvPr/>
        </p:nvSpPr>
        <p:spPr>
          <a:xfrm rot="2700000">
            <a:off x="10362895" y="5029200"/>
            <a:ext cx="3291840" cy="3291840"/>
          </a:xfrm>
          <a:prstGeom prst="rect">
            <a:avLst/>
          </a:prstGeom>
          <a:solidFill>
            <a:srgbClr val="BFE3DE"/>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Text 4"/>
          <p:cNvSpPr/>
          <p:nvPr/>
        </p:nvSpPr>
        <p:spPr>
          <a:xfrm>
            <a:off x="502920" y="320040"/>
            <a:ext cx="11185855" cy="640080"/>
          </a:xfrm>
          <a:prstGeom prst="rect">
            <a:avLst/>
          </a:prstGeom>
          <a:noFill/>
          <a:ln/>
        </p:spPr>
        <p:txBody>
          <a:bodyPr wrap="square" rtlCol="0" anchor="ctr"/>
          <a:lstStyle/>
          <a:p>
            <a:pPr indent="0" marL="0">
              <a:buNone/>
            </a:pPr>
            <a:r>
              <a:rPr lang="en-US" sz="3000" b="1" dirty="0">
                <a:solidFill>
                  <a:srgbClr val="1B5E86"/>
                </a:solidFill>
                <a:latin typeface="Cambria" pitchFamily="34" charset="0"/>
                <a:ea typeface="Cambria" pitchFamily="34" charset="-122"/>
                <a:cs typeface="Cambria" pitchFamily="34" charset="-120"/>
              </a:rPr>
              <a:t>Technology Used</a:t>
            </a:r>
            <a:endParaRPr lang="en-US" sz="3000" dirty="0"/>
          </a:p>
        </p:txBody>
      </p:sp>
      <p:sp>
        <p:nvSpPr>
          <p:cNvPr id="7" name="Shape 5"/>
          <p:cNvSpPr/>
          <p:nvPr/>
        </p:nvSpPr>
        <p:spPr>
          <a:xfrm>
            <a:off x="530352" y="960120"/>
            <a:ext cx="1188720" cy="41148"/>
          </a:xfrm>
          <a:prstGeom prst="rect">
            <a:avLst/>
          </a:prstGeom>
          <a:solidFill>
            <a:srgbClr val="E07B1A"/>
          </a:solidFill>
          <a:ln/>
        </p:spPr>
      </p:sp>
      <p:sp>
        <p:nvSpPr>
          <p:cNvPr id="8" name="Text 6"/>
          <p:cNvSpPr/>
          <p:nvPr/>
        </p:nvSpPr>
        <p:spPr>
          <a:xfrm>
            <a:off x="365760" y="6528816"/>
            <a:ext cx="6400800" cy="274320"/>
          </a:xfrm>
          <a:prstGeom prst="rect">
            <a:avLst/>
          </a:prstGeom>
          <a:noFill/>
          <a:ln/>
        </p:spPr>
        <p:txBody>
          <a:bodyPr wrap="square" rtlCol="0" anchor="ctr"/>
          <a:lstStyle/>
          <a:p>
            <a:pPr indent="0" marL="0">
              <a:buNone/>
            </a:pPr>
            <a:r>
              <a:rPr lang="en-US" sz="900" i="1" dirty="0">
                <a:solidFill>
                  <a:srgbClr val="5B6B76"/>
                </a:solidFill>
                <a:latin typeface="Calibri" pitchFamily="34" charset="0"/>
                <a:ea typeface="Calibri" pitchFamily="34" charset="-122"/>
                <a:cs typeface="Calibri" pitchFamily="34" charset="-120"/>
              </a:rPr>
              <a:t>Seasonal Agriculture Performance Analysis</a:t>
            </a:r>
            <a:endParaRPr lang="en-US" sz="900" dirty="0"/>
          </a:p>
        </p:txBody>
      </p:sp>
      <p:sp>
        <p:nvSpPr>
          <p:cNvPr id="9" name="Text 7"/>
          <p:cNvSpPr/>
          <p:nvPr/>
        </p:nvSpPr>
        <p:spPr>
          <a:xfrm>
            <a:off x="11551615" y="6528816"/>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4</a:t>
            </a:r>
            <a:endParaRPr lang="en-US" sz="900" dirty="0"/>
          </a:p>
        </p:txBody>
      </p:sp>
      <p:sp>
        <p:nvSpPr>
          <p:cNvPr id="10" name="Shape 8"/>
          <p:cNvSpPr/>
          <p:nvPr/>
        </p:nvSpPr>
        <p:spPr>
          <a:xfrm>
            <a:off x="548640" y="1371600"/>
            <a:ext cx="1490472" cy="1051560"/>
          </a:xfrm>
          <a:prstGeom prst="roundRect">
            <a:avLst>
              <a:gd name="adj" fmla="val 6957"/>
            </a:avLst>
          </a:prstGeom>
          <a:solidFill>
            <a:srgbClr val="FFFFFF"/>
          </a:solidFill>
          <a:ln w="12700">
            <a:solidFill>
              <a:srgbClr val="DDE6EA"/>
            </a:solidFill>
            <a:prstDash val="solid"/>
          </a:ln>
          <a:effectLst>
            <a:outerShdw sx="100000" sy="100000" kx="0" ky="0" algn="bl" rotWithShape="0" blurRad="38100" dist="25400" dir="5400000">
              <a:srgbClr val="888888">
                <a:alpha val="20000"/>
              </a:srgbClr>
            </a:outerShdw>
          </a:effectLst>
        </p:spPr>
      </p:sp>
      <p:sp>
        <p:nvSpPr>
          <p:cNvPr id="11" name="Shape 9"/>
          <p:cNvSpPr/>
          <p:nvPr/>
        </p:nvSpPr>
        <p:spPr>
          <a:xfrm>
            <a:off x="1147572" y="1499616"/>
            <a:ext cx="292608" cy="292608"/>
          </a:xfrm>
          <a:prstGeom prst="ellipse">
            <a:avLst/>
          </a:prstGeom>
          <a:solidFill>
            <a:srgbClr val="1B5E86"/>
          </a:solidFill>
          <a:ln/>
        </p:spPr>
      </p:sp>
      <p:sp>
        <p:nvSpPr>
          <p:cNvPr id="12" name="Text 10"/>
          <p:cNvSpPr/>
          <p:nvPr/>
        </p:nvSpPr>
        <p:spPr>
          <a:xfrm>
            <a:off x="594360" y="1874520"/>
            <a:ext cx="1399032" cy="502920"/>
          </a:xfrm>
          <a:prstGeom prst="rect">
            <a:avLst/>
          </a:prstGeom>
          <a:noFill/>
          <a:ln/>
        </p:spPr>
        <p:txBody>
          <a:bodyPr wrap="square" rtlCol="0" anchor="t"/>
          <a:lstStyle/>
          <a:p>
            <a:pPr algn="ctr" indent="0" marL="0">
              <a:buNone/>
            </a:pPr>
            <a:r>
              <a:rPr lang="en-US" sz="1050" b="1" dirty="0">
                <a:solidFill>
                  <a:srgbClr val="27333D"/>
                </a:solidFill>
                <a:latin typeface="Calibri" pitchFamily="34" charset="0"/>
                <a:ea typeface="Calibri" pitchFamily="34" charset="-122"/>
                <a:cs typeface="Calibri" pitchFamily="34" charset="-120"/>
              </a:rPr>
              <a:t>Python</a:t>
            </a:r>
            <a:endParaRPr lang="en-US" sz="1050" dirty="0"/>
          </a:p>
        </p:txBody>
      </p:sp>
      <p:sp>
        <p:nvSpPr>
          <p:cNvPr id="13" name="Shape 11"/>
          <p:cNvSpPr/>
          <p:nvPr/>
        </p:nvSpPr>
        <p:spPr>
          <a:xfrm>
            <a:off x="2176272" y="1371600"/>
            <a:ext cx="1490472" cy="1051560"/>
          </a:xfrm>
          <a:prstGeom prst="roundRect">
            <a:avLst>
              <a:gd name="adj" fmla="val 6957"/>
            </a:avLst>
          </a:prstGeom>
          <a:solidFill>
            <a:srgbClr val="FFFFFF"/>
          </a:solidFill>
          <a:ln w="12700">
            <a:solidFill>
              <a:srgbClr val="DDE6EA"/>
            </a:solidFill>
            <a:prstDash val="solid"/>
          </a:ln>
          <a:effectLst>
            <a:outerShdw sx="100000" sy="100000" kx="0" ky="0" algn="bl" rotWithShape="0" blurRad="38100" dist="25400" dir="5400000">
              <a:srgbClr val="888888">
                <a:alpha val="20000"/>
              </a:srgbClr>
            </a:outerShdw>
          </a:effectLst>
        </p:spPr>
      </p:sp>
      <p:sp>
        <p:nvSpPr>
          <p:cNvPr id="14" name="Shape 12"/>
          <p:cNvSpPr/>
          <p:nvPr/>
        </p:nvSpPr>
        <p:spPr>
          <a:xfrm>
            <a:off x="2775204" y="1499616"/>
            <a:ext cx="292608" cy="292608"/>
          </a:xfrm>
          <a:prstGeom prst="ellipse">
            <a:avLst/>
          </a:prstGeom>
          <a:solidFill>
            <a:srgbClr val="1B5E86"/>
          </a:solidFill>
          <a:ln/>
        </p:spPr>
      </p:sp>
      <p:sp>
        <p:nvSpPr>
          <p:cNvPr id="15" name="Text 13"/>
          <p:cNvSpPr/>
          <p:nvPr/>
        </p:nvSpPr>
        <p:spPr>
          <a:xfrm>
            <a:off x="2221992" y="1874520"/>
            <a:ext cx="1399032" cy="502920"/>
          </a:xfrm>
          <a:prstGeom prst="rect">
            <a:avLst/>
          </a:prstGeom>
          <a:noFill/>
          <a:ln/>
        </p:spPr>
        <p:txBody>
          <a:bodyPr wrap="square" rtlCol="0" anchor="t"/>
          <a:lstStyle/>
          <a:p>
            <a:pPr algn="ctr" indent="0" marL="0">
              <a:buNone/>
            </a:pPr>
            <a:r>
              <a:rPr lang="en-US" sz="1050" b="1" dirty="0">
                <a:solidFill>
                  <a:srgbClr val="27333D"/>
                </a:solidFill>
                <a:latin typeface="Calibri" pitchFamily="34" charset="0"/>
                <a:ea typeface="Calibri" pitchFamily="34" charset="-122"/>
                <a:cs typeface="Calibri" pitchFamily="34" charset="-120"/>
              </a:rPr>
              <a:t>Jupyter Notebook</a:t>
            </a:r>
            <a:endParaRPr lang="en-US" sz="1050" dirty="0"/>
          </a:p>
        </p:txBody>
      </p:sp>
      <p:sp>
        <p:nvSpPr>
          <p:cNvPr id="16" name="Shape 14"/>
          <p:cNvSpPr/>
          <p:nvPr/>
        </p:nvSpPr>
        <p:spPr>
          <a:xfrm>
            <a:off x="3803904" y="1371600"/>
            <a:ext cx="1490472" cy="1051560"/>
          </a:xfrm>
          <a:prstGeom prst="roundRect">
            <a:avLst>
              <a:gd name="adj" fmla="val 6957"/>
            </a:avLst>
          </a:prstGeom>
          <a:solidFill>
            <a:srgbClr val="FFFFFF"/>
          </a:solidFill>
          <a:ln w="12700">
            <a:solidFill>
              <a:srgbClr val="DDE6EA"/>
            </a:solidFill>
            <a:prstDash val="solid"/>
          </a:ln>
          <a:effectLst>
            <a:outerShdw sx="100000" sy="100000" kx="0" ky="0" algn="bl" rotWithShape="0" blurRad="38100" dist="25400" dir="5400000">
              <a:srgbClr val="888888">
                <a:alpha val="20000"/>
              </a:srgbClr>
            </a:outerShdw>
          </a:effectLst>
        </p:spPr>
      </p:sp>
      <p:sp>
        <p:nvSpPr>
          <p:cNvPr id="17" name="Shape 15"/>
          <p:cNvSpPr/>
          <p:nvPr/>
        </p:nvSpPr>
        <p:spPr>
          <a:xfrm>
            <a:off x="4402836" y="1499616"/>
            <a:ext cx="292608" cy="292608"/>
          </a:xfrm>
          <a:prstGeom prst="ellipse">
            <a:avLst/>
          </a:prstGeom>
          <a:solidFill>
            <a:srgbClr val="1B5E86"/>
          </a:solidFill>
          <a:ln/>
        </p:spPr>
      </p:sp>
      <p:sp>
        <p:nvSpPr>
          <p:cNvPr id="18" name="Text 16"/>
          <p:cNvSpPr/>
          <p:nvPr/>
        </p:nvSpPr>
        <p:spPr>
          <a:xfrm>
            <a:off x="3849624" y="1874520"/>
            <a:ext cx="1399032" cy="502920"/>
          </a:xfrm>
          <a:prstGeom prst="rect">
            <a:avLst/>
          </a:prstGeom>
          <a:noFill/>
          <a:ln/>
        </p:spPr>
        <p:txBody>
          <a:bodyPr wrap="square" rtlCol="0" anchor="t"/>
          <a:lstStyle/>
          <a:p>
            <a:pPr algn="ctr" indent="0" marL="0">
              <a:buNone/>
            </a:pPr>
            <a:r>
              <a:rPr lang="en-US" sz="1050" b="1" dirty="0">
                <a:solidFill>
                  <a:srgbClr val="27333D"/>
                </a:solidFill>
                <a:latin typeface="Calibri" pitchFamily="34" charset="0"/>
                <a:ea typeface="Calibri" pitchFamily="34" charset="-122"/>
                <a:cs typeface="Calibri" pitchFamily="34" charset="-120"/>
              </a:rPr>
              <a:t>Pandas</a:t>
            </a:r>
            <a:endParaRPr lang="en-US" sz="1050" dirty="0"/>
          </a:p>
        </p:txBody>
      </p:sp>
      <p:sp>
        <p:nvSpPr>
          <p:cNvPr id="19" name="Shape 17"/>
          <p:cNvSpPr/>
          <p:nvPr/>
        </p:nvSpPr>
        <p:spPr>
          <a:xfrm>
            <a:off x="5431536" y="1371600"/>
            <a:ext cx="1490472" cy="1051560"/>
          </a:xfrm>
          <a:prstGeom prst="roundRect">
            <a:avLst>
              <a:gd name="adj" fmla="val 6957"/>
            </a:avLst>
          </a:prstGeom>
          <a:solidFill>
            <a:srgbClr val="FFFFFF"/>
          </a:solidFill>
          <a:ln w="12700">
            <a:solidFill>
              <a:srgbClr val="DDE6EA"/>
            </a:solidFill>
            <a:prstDash val="solid"/>
          </a:ln>
          <a:effectLst>
            <a:outerShdw sx="100000" sy="100000" kx="0" ky="0" algn="bl" rotWithShape="0" blurRad="38100" dist="25400" dir="5400000">
              <a:srgbClr val="888888">
                <a:alpha val="20000"/>
              </a:srgbClr>
            </a:outerShdw>
          </a:effectLst>
        </p:spPr>
      </p:sp>
      <p:sp>
        <p:nvSpPr>
          <p:cNvPr id="20" name="Shape 18"/>
          <p:cNvSpPr/>
          <p:nvPr/>
        </p:nvSpPr>
        <p:spPr>
          <a:xfrm>
            <a:off x="6030468" y="1499616"/>
            <a:ext cx="292608" cy="292608"/>
          </a:xfrm>
          <a:prstGeom prst="ellipse">
            <a:avLst/>
          </a:prstGeom>
          <a:solidFill>
            <a:srgbClr val="1B5E86"/>
          </a:solidFill>
          <a:ln/>
        </p:spPr>
      </p:sp>
      <p:sp>
        <p:nvSpPr>
          <p:cNvPr id="21" name="Text 19"/>
          <p:cNvSpPr/>
          <p:nvPr/>
        </p:nvSpPr>
        <p:spPr>
          <a:xfrm>
            <a:off x="5477256" y="1874520"/>
            <a:ext cx="1399032" cy="502920"/>
          </a:xfrm>
          <a:prstGeom prst="rect">
            <a:avLst/>
          </a:prstGeom>
          <a:noFill/>
          <a:ln/>
        </p:spPr>
        <p:txBody>
          <a:bodyPr wrap="square" rtlCol="0" anchor="t"/>
          <a:lstStyle/>
          <a:p>
            <a:pPr algn="ctr" indent="0" marL="0">
              <a:buNone/>
            </a:pPr>
            <a:r>
              <a:rPr lang="en-US" sz="1050" b="1" dirty="0">
                <a:solidFill>
                  <a:srgbClr val="27333D"/>
                </a:solidFill>
                <a:latin typeface="Calibri" pitchFamily="34" charset="0"/>
                <a:ea typeface="Calibri" pitchFamily="34" charset="-122"/>
                <a:cs typeface="Calibri" pitchFamily="34" charset="-120"/>
              </a:rPr>
              <a:t>NumPy</a:t>
            </a:r>
            <a:endParaRPr lang="en-US" sz="1050" dirty="0"/>
          </a:p>
        </p:txBody>
      </p:sp>
      <p:sp>
        <p:nvSpPr>
          <p:cNvPr id="22" name="Shape 20"/>
          <p:cNvSpPr/>
          <p:nvPr/>
        </p:nvSpPr>
        <p:spPr>
          <a:xfrm>
            <a:off x="548640" y="2560320"/>
            <a:ext cx="1490472" cy="1051560"/>
          </a:xfrm>
          <a:prstGeom prst="roundRect">
            <a:avLst>
              <a:gd name="adj" fmla="val 6957"/>
            </a:avLst>
          </a:prstGeom>
          <a:solidFill>
            <a:srgbClr val="FFFFFF"/>
          </a:solidFill>
          <a:ln w="12700">
            <a:solidFill>
              <a:srgbClr val="DDE6EA"/>
            </a:solidFill>
            <a:prstDash val="solid"/>
          </a:ln>
          <a:effectLst>
            <a:outerShdw sx="100000" sy="100000" kx="0" ky="0" algn="bl" rotWithShape="0" blurRad="38100" dist="25400" dir="5400000">
              <a:srgbClr val="888888">
                <a:alpha val="20000"/>
              </a:srgbClr>
            </a:outerShdw>
          </a:effectLst>
        </p:spPr>
      </p:sp>
      <p:sp>
        <p:nvSpPr>
          <p:cNvPr id="23" name="Shape 21"/>
          <p:cNvSpPr/>
          <p:nvPr/>
        </p:nvSpPr>
        <p:spPr>
          <a:xfrm>
            <a:off x="1147572" y="2688336"/>
            <a:ext cx="292608" cy="292608"/>
          </a:xfrm>
          <a:prstGeom prst="ellipse">
            <a:avLst/>
          </a:prstGeom>
          <a:solidFill>
            <a:srgbClr val="1B5E86"/>
          </a:solidFill>
          <a:ln/>
        </p:spPr>
      </p:sp>
      <p:sp>
        <p:nvSpPr>
          <p:cNvPr id="24" name="Text 22"/>
          <p:cNvSpPr/>
          <p:nvPr/>
        </p:nvSpPr>
        <p:spPr>
          <a:xfrm>
            <a:off x="594360" y="3063240"/>
            <a:ext cx="1399032" cy="502920"/>
          </a:xfrm>
          <a:prstGeom prst="rect">
            <a:avLst/>
          </a:prstGeom>
          <a:noFill/>
          <a:ln/>
        </p:spPr>
        <p:txBody>
          <a:bodyPr wrap="square" rtlCol="0" anchor="t"/>
          <a:lstStyle/>
          <a:p>
            <a:pPr algn="ctr" indent="0" marL="0">
              <a:buNone/>
            </a:pPr>
            <a:r>
              <a:rPr lang="en-US" sz="1050" b="1" dirty="0">
                <a:solidFill>
                  <a:srgbClr val="27333D"/>
                </a:solidFill>
                <a:latin typeface="Calibri" pitchFamily="34" charset="0"/>
                <a:ea typeface="Calibri" pitchFamily="34" charset="-122"/>
                <a:cs typeface="Calibri" pitchFamily="34" charset="-120"/>
              </a:rPr>
              <a:t>Matplotlib</a:t>
            </a:r>
            <a:endParaRPr lang="en-US" sz="1050" dirty="0"/>
          </a:p>
        </p:txBody>
      </p:sp>
      <p:sp>
        <p:nvSpPr>
          <p:cNvPr id="25" name="Shape 23"/>
          <p:cNvSpPr/>
          <p:nvPr/>
        </p:nvSpPr>
        <p:spPr>
          <a:xfrm>
            <a:off x="2176272" y="2560320"/>
            <a:ext cx="1490472" cy="1051560"/>
          </a:xfrm>
          <a:prstGeom prst="roundRect">
            <a:avLst>
              <a:gd name="adj" fmla="val 6957"/>
            </a:avLst>
          </a:prstGeom>
          <a:solidFill>
            <a:srgbClr val="FFFFFF"/>
          </a:solidFill>
          <a:ln w="12700">
            <a:solidFill>
              <a:srgbClr val="DDE6EA"/>
            </a:solidFill>
            <a:prstDash val="solid"/>
          </a:ln>
          <a:effectLst>
            <a:outerShdw sx="100000" sy="100000" kx="0" ky="0" algn="bl" rotWithShape="0" blurRad="38100" dist="25400" dir="5400000">
              <a:srgbClr val="888888">
                <a:alpha val="20000"/>
              </a:srgbClr>
            </a:outerShdw>
          </a:effectLst>
        </p:spPr>
      </p:sp>
      <p:sp>
        <p:nvSpPr>
          <p:cNvPr id="26" name="Shape 24"/>
          <p:cNvSpPr/>
          <p:nvPr/>
        </p:nvSpPr>
        <p:spPr>
          <a:xfrm>
            <a:off x="2775204" y="2688336"/>
            <a:ext cx="292608" cy="292608"/>
          </a:xfrm>
          <a:prstGeom prst="ellipse">
            <a:avLst/>
          </a:prstGeom>
          <a:solidFill>
            <a:srgbClr val="1B5E86"/>
          </a:solidFill>
          <a:ln/>
        </p:spPr>
      </p:sp>
      <p:sp>
        <p:nvSpPr>
          <p:cNvPr id="27" name="Text 25"/>
          <p:cNvSpPr/>
          <p:nvPr/>
        </p:nvSpPr>
        <p:spPr>
          <a:xfrm>
            <a:off x="2221992" y="3063240"/>
            <a:ext cx="1399032" cy="502920"/>
          </a:xfrm>
          <a:prstGeom prst="rect">
            <a:avLst/>
          </a:prstGeom>
          <a:noFill/>
          <a:ln/>
        </p:spPr>
        <p:txBody>
          <a:bodyPr wrap="square" rtlCol="0" anchor="t"/>
          <a:lstStyle/>
          <a:p>
            <a:pPr algn="ctr" indent="0" marL="0">
              <a:buNone/>
            </a:pPr>
            <a:r>
              <a:rPr lang="en-US" sz="1050" b="1" dirty="0">
                <a:solidFill>
                  <a:srgbClr val="27333D"/>
                </a:solidFill>
                <a:latin typeface="Calibri" pitchFamily="34" charset="0"/>
                <a:ea typeface="Calibri" pitchFamily="34" charset="-122"/>
                <a:cs typeface="Calibri" pitchFamily="34" charset="-120"/>
              </a:rPr>
              <a:t>Seaborn</a:t>
            </a:r>
            <a:endParaRPr lang="en-US" sz="1050" dirty="0"/>
          </a:p>
        </p:txBody>
      </p:sp>
      <p:sp>
        <p:nvSpPr>
          <p:cNvPr id="28" name="Shape 26"/>
          <p:cNvSpPr/>
          <p:nvPr/>
        </p:nvSpPr>
        <p:spPr>
          <a:xfrm>
            <a:off x="3803904" y="2560320"/>
            <a:ext cx="1490472" cy="1051560"/>
          </a:xfrm>
          <a:prstGeom prst="roundRect">
            <a:avLst>
              <a:gd name="adj" fmla="val 6957"/>
            </a:avLst>
          </a:prstGeom>
          <a:solidFill>
            <a:srgbClr val="FFFFFF"/>
          </a:solidFill>
          <a:ln w="12700">
            <a:solidFill>
              <a:srgbClr val="DDE6EA"/>
            </a:solidFill>
            <a:prstDash val="solid"/>
          </a:ln>
          <a:effectLst>
            <a:outerShdw sx="100000" sy="100000" kx="0" ky="0" algn="bl" rotWithShape="0" blurRad="38100" dist="25400" dir="5400000">
              <a:srgbClr val="888888">
                <a:alpha val="20000"/>
              </a:srgbClr>
            </a:outerShdw>
          </a:effectLst>
        </p:spPr>
      </p:sp>
      <p:sp>
        <p:nvSpPr>
          <p:cNvPr id="29" name="Shape 27"/>
          <p:cNvSpPr/>
          <p:nvPr/>
        </p:nvSpPr>
        <p:spPr>
          <a:xfrm>
            <a:off x="4402836" y="2688336"/>
            <a:ext cx="292608" cy="292608"/>
          </a:xfrm>
          <a:prstGeom prst="ellipse">
            <a:avLst/>
          </a:prstGeom>
          <a:solidFill>
            <a:srgbClr val="1B5E86"/>
          </a:solidFill>
          <a:ln/>
        </p:spPr>
      </p:sp>
      <p:sp>
        <p:nvSpPr>
          <p:cNvPr id="30" name="Text 28"/>
          <p:cNvSpPr/>
          <p:nvPr/>
        </p:nvSpPr>
        <p:spPr>
          <a:xfrm>
            <a:off x="3849624" y="3063240"/>
            <a:ext cx="1399032" cy="502920"/>
          </a:xfrm>
          <a:prstGeom prst="rect">
            <a:avLst/>
          </a:prstGeom>
          <a:noFill/>
          <a:ln/>
        </p:spPr>
        <p:txBody>
          <a:bodyPr wrap="square" rtlCol="0" anchor="t"/>
          <a:lstStyle/>
          <a:p>
            <a:pPr algn="ctr" indent="0" marL="0">
              <a:buNone/>
            </a:pPr>
            <a:r>
              <a:rPr lang="en-US" sz="1050" b="1" dirty="0">
                <a:solidFill>
                  <a:srgbClr val="27333D"/>
                </a:solidFill>
                <a:latin typeface="Calibri" pitchFamily="34" charset="0"/>
                <a:ea typeface="Calibri" pitchFamily="34" charset="-122"/>
                <a:cs typeface="Calibri" pitchFamily="34" charset="-120"/>
              </a:rPr>
              <a:t>SciPy (Statistics)</a:t>
            </a:r>
            <a:endParaRPr lang="en-US" sz="1050" dirty="0"/>
          </a:p>
        </p:txBody>
      </p:sp>
      <p:sp>
        <p:nvSpPr>
          <p:cNvPr id="31" name="Shape 29"/>
          <p:cNvSpPr/>
          <p:nvPr/>
        </p:nvSpPr>
        <p:spPr>
          <a:xfrm>
            <a:off x="548640" y="3794760"/>
            <a:ext cx="82296" cy="292608"/>
          </a:xfrm>
          <a:prstGeom prst="rect">
            <a:avLst/>
          </a:prstGeom>
          <a:solidFill>
            <a:srgbClr val="2E946B"/>
          </a:solidFill>
          <a:ln/>
        </p:spPr>
      </p:sp>
      <p:sp>
        <p:nvSpPr>
          <p:cNvPr id="32" name="Text 30"/>
          <p:cNvSpPr/>
          <p:nvPr/>
        </p:nvSpPr>
        <p:spPr>
          <a:xfrm>
            <a:off x="713232" y="3767328"/>
            <a:ext cx="7150608" cy="347472"/>
          </a:xfrm>
          <a:prstGeom prst="rect">
            <a:avLst/>
          </a:prstGeom>
          <a:noFill/>
          <a:ln/>
        </p:spPr>
        <p:txBody>
          <a:bodyPr wrap="square" rtlCol="0" anchor="ctr"/>
          <a:lstStyle/>
          <a:p>
            <a:pPr indent="0" marL="0">
              <a:buNone/>
            </a:pPr>
            <a:r>
              <a:rPr lang="en-US" sz="1500" b="1" dirty="0">
                <a:solidFill>
                  <a:srgbClr val="27333D"/>
                </a:solidFill>
                <a:latin typeface="Cambria" pitchFamily="34" charset="0"/>
                <a:ea typeface="Cambria" pitchFamily="34" charset="-122"/>
                <a:cs typeface="Cambria" pitchFamily="34" charset="-120"/>
              </a:rPr>
              <a:t>Analytical Workflow</a:t>
            </a:r>
            <a:endParaRPr lang="en-US" sz="1500" dirty="0"/>
          </a:p>
        </p:txBody>
      </p:sp>
      <p:sp>
        <p:nvSpPr>
          <p:cNvPr id="33" name="Shape 31"/>
          <p:cNvSpPr/>
          <p:nvPr/>
        </p:nvSpPr>
        <p:spPr>
          <a:xfrm>
            <a:off x="548640" y="4297680"/>
            <a:ext cx="2011680" cy="777240"/>
          </a:xfrm>
          <a:prstGeom prst="roundRect">
            <a:avLst>
              <a:gd name="adj" fmla="val 47059"/>
            </a:avLst>
          </a:prstGeom>
          <a:solidFill>
            <a:srgbClr val="1B5E86"/>
          </a:solidFill>
          <a:ln/>
        </p:spPr>
      </p:sp>
      <p:sp>
        <p:nvSpPr>
          <p:cNvPr id="34" name="Text 32"/>
          <p:cNvSpPr/>
          <p:nvPr/>
        </p:nvSpPr>
        <p:spPr>
          <a:xfrm>
            <a:off x="548640" y="4297680"/>
            <a:ext cx="2011680" cy="7772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Data</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Cleaning</a:t>
            </a:r>
            <a:endParaRPr lang="en-US" sz="1100" dirty="0"/>
          </a:p>
        </p:txBody>
      </p:sp>
      <p:sp>
        <p:nvSpPr>
          <p:cNvPr id="35" name="Text 33"/>
          <p:cNvSpPr/>
          <p:nvPr/>
        </p:nvSpPr>
        <p:spPr>
          <a:xfrm>
            <a:off x="2560320" y="4297680"/>
            <a:ext cx="320040" cy="777240"/>
          </a:xfrm>
          <a:prstGeom prst="rect">
            <a:avLst/>
          </a:prstGeom>
          <a:noFill/>
          <a:ln/>
        </p:spPr>
        <p:txBody>
          <a:bodyPr wrap="square" rtlCol="0" anchor="ctr"/>
          <a:lstStyle/>
          <a:p>
            <a:pPr algn="ctr" indent="0" marL="0">
              <a:buNone/>
            </a:pPr>
            <a:r>
              <a:rPr lang="en-US" sz="1600" b="1" dirty="0">
                <a:solidFill>
                  <a:srgbClr val="5B6B76"/>
                </a:solidFill>
              </a:rPr>
              <a:t>→</a:t>
            </a:r>
            <a:endParaRPr lang="en-US" sz="1600" dirty="0"/>
          </a:p>
        </p:txBody>
      </p:sp>
      <p:sp>
        <p:nvSpPr>
          <p:cNvPr id="36" name="Shape 34"/>
          <p:cNvSpPr/>
          <p:nvPr/>
        </p:nvSpPr>
        <p:spPr>
          <a:xfrm>
            <a:off x="2880360" y="4297680"/>
            <a:ext cx="2011680" cy="777240"/>
          </a:xfrm>
          <a:prstGeom prst="roundRect">
            <a:avLst>
              <a:gd name="adj" fmla="val 47059"/>
            </a:avLst>
          </a:prstGeom>
          <a:solidFill>
            <a:srgbClr val="1B5E86">
              <a:alpha val="85000"/>
            </a:srgbClr>
          </a:solidFill>
          <a:ln/>
        </p:spPr>
      </p:sp>
      <p:sp>
        <p:nvSpPr>
          <p:cNvPr id="37" name="Text 35"/>
          <p:cNvSpPr/>
          <p:nvPr/>
        </p:nvSpPr>
        <p:spPr>
          <a:xfrm>
            <a:off x="2880360" y="4297680"/>
            <a:ext cx="2011680" cy="7772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EDA</a:t>
            </a:r>
            <a:endParaRPr lang="en-US" sz="1100" dirty="0"/>
          </a:p>
        </p:txBody>
      </p:sp>
      <p:sp>
        <p:nvSpPr>
          <p:cNvPr id="38" name="Text 36"/>
          <p:cNvSpPr/>
          <p:nvPr/>
        </p:nvSpPr>
        <p:spPr>
          <a:xfrm>
            <a:off x="4892040" y="4297680"/>
            <a:ext cx="320040" cy="777240"/>
          </a:xfrm>
          <a:prstGeom prst="rect">
            <a:avLst/>
          </a:prstGeom>
          <a:noFill/>
          <a:ln/>
        </p:spPr>
        <p:txBody>
          <a:bodyPr wrap="square" rtlCol="0" anchor="ctr"/>
          <a:lstStyle/>
          <a:p>
            <a:pPr algn="ctr" indent="0" marL="0">
              <a:buNone/>
            </a:pPr>
            <a:r>
              <a:rPr lang="en-US" sz="1600" b="1" dirty="0">
                <a:solidFill>
                  <a:srgbClr val="5B6B76"/>
                </a:solidFill>
              </a:rPr>
              <a:t>→</a:t>
            </a:r>
            <a:endParaRPr lang="en-US" sz="1600" dirty="0"/>
          </a:p>
        </p:txBody>
      </p:sp>
      <p:sp>
        <p:nvSpPr>
          <p:cNvPr id="39" name="Shape 37"/>
          <p:cNvSpPr/>
          <p:nvPr/>
        </p:nvSpPr>
        <p:spPr>
          <a:xfrm>
            <a:off x="5212080" y="4297680"/>
            <a:ext cx="2011680" cy="777240"/>
          </a:xfrm>
          <a:prstGeom prst="roundRect">
            <a:avLst>
              <a:gd name="adj" fmla="val 47059"/>
            </a:avLst>
          </a:prstGeom>
          <a:solidFill>
            <a:srgbClr val="1B5E86"/>
          </a:solidFill>
          <a:ln/>
        </p:spPr>
      </p:sp>
      <p:sp>
        <p:nvSpPr>
          <p:cNvPr id="40" name="Text 38"/>
          <p:cNvSpPr/>
          <p:nvPr/>
        </p:nvSpPr>
        <p:spPr>
          <a:xfrm>
            <a:off x="5212080" y="4297680"/>
            <a:ext cx="2011680" cy="7772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Visualization</a:t>
            </a:r>
            <a:endParaRPr lang="en-US" sz="1100" dirty="0"/>
          </a:p>
        </p:txBody>
      </p:sp>
      <p:sp>
        <p:nvSpPr>
          <p:cNvPr id="41" name="Text 39"/>
          <p:cNvSpPr/>
          <p:nvPr/>
        </p:nvSpPr>
        <p:spPr>
          <a:xfrm>
            <a:off x="7223760" y="4297680"/>
            <a:ext cx="320040" cy="777240"/>
          </a:xfrm>
          <a:prstGeom prst="rect">
            <a:avLst/>
          </a:prstGeom>
          <a:noFill/>
          <a:ln/>
        </p:spPr>
        <p:txBody>
          <a:bodyPr wrap="square" rtlCol="0" anchor="ctr"/>
          <a:lstStyle/>
          <a:p>
            <a:pPr algn="ctr" indent="0" marL="0">
              <a:buNone/>
            </a:pPr>
            <a:r>
              <a:rPr lang="en-US" sz="1600" b="1" dirty="0">
                <a:solidFill>
                  <a:srgbClr val="5B6B76"/>
                </a:solidFill>
              </a:rPr>
              <a:t>→</a:t>
            </a:r>
            <a:endParaRPr lang="en-US" sz="1600" dirty="0"/>
          </a:p>
        </p:txBody>
      </p:sp>
      <p:sp>
        <p:nvSpPr>
          <p:cNvPr id="42" name="Shape 40"/>
          <p:cNvSpPr/>
          <p:nvPr/>
        </p:nvSpPr>
        <p:spPr>
          <a:xfrm>
            <a:off x="7543800" y="4297680"/>
            <a:ext cx="2011680" cy="777240"/>
          </a:xfrm>
          <a:prstGeom prst="roundRect">
            <a:avLst>
              <a:gd name="adj" fmla="val 47059"/>
            </a:avLst>
          </a:prstGeom>
          <a:solidFill>
            <a:srgbClr val="1B5E86">
              <a:alpha val="85000"/>
            </a:srgbClr>
          </a:solidFill>
          <a:ln/>
        </p:spPr>
      </p:sp>
      <p:sp>
        <p:nvSpPr>
          <p:cNvPr id="43" name="Text 41"/>
          <p:cNvSpPr/>
          <p:nvPr/>
        </p:nvSpPr>
        <p:spPr>
          <a:xfrm>
            <a:off x="7543800" y="4297680"/>
            <a:ext cx="2011680" cy="7772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Statistical</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Testing</a:t>
            </a:r>
            <a:endParaRPr lang="en-US" sz="1100" dirty="0"/>
          </a:p>
        </p:txBody>
      </p:sp>
      <p:sp>
        <p:nvSpPr>
          <p:cNvPr id="44" name="Text 42"/>
          <p:cNvSpPr/>
          <p:nvPr/>
        </p:nvSpPr>
        <p:spPr>
          <a:xfrm>
            <a:off x="9555480" y="4297680"/>
            <a:ext cx="320040" cy="777240"/>
          </a:xfrm>
          <a:prstGeom prst="rect">
            <a:avLst/>
          </a:prstGeom>
          <a:noFill/>
          <a:ln/>
        </p:spPr>
        <p:txBody>
          <a:bodyPr wrap="square" rtlCol="0" anchor="ctr"/>
          <a:lstStyle/>
          <a:p>
            <a:pPr algn="ctr" indent="0" marL="0">
              <a:buNone/>
            </a:pPr>
            <a:r>
              <a:rPr lang="en-US" sz="1600" b="1" dirty="0">
                <a:solidFill>
                  <a:srgbClr val="5B6B76"/>
                </a:solidFill>
              </a:rPr>
              <a:t>→</a:t>
            </a:r>
            <a:endParaRPr lang="en-US" sz="1600" dirty="0"/>
          </a:p>
        </p:txBody>
      </p:sp>
      <p:sp>
        <p:nvSpPr>
          <p:cNvPr id="45" name="Shape 43"/>
          <p:cNvSpPr/>
          <p:nvPr/>
        </p:nvSpPr>
        <p:spPr>
          <a:xfrm>
            <a:off x="9875520" y="4297680"/>
            <a:ext cx="2011680" cy="777240"/>
          </a:xfrm>
          <a:prstGeom prst="roundRect">
            <a:avLst>
              <a:gd name="adj" fmla="val 47059"/>
            </a:avLst>
          </a:prstGeom>
          <a:solidFill>
            <a:srgbClr val="1B5E86"/>
          </a:solidFill>
          <a:ln/>
        </p:spPr>
      </p:sp>
      <p:sp>
        <p:nvSpPr>
          <p:cNvPr id="46" name="Text 44"/>
          <p:cNvSpPr/>
          <p:nvPr/>
        </p:nvSpPr>
        <p:spPr>
          <a:xfrm>
            <a:off x="9875520" y="4297680"/>
            <a:ext cx="2011680" cy="7772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Insights &amp;</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Recommendations</a:t>
            </a:r>
            <a:endParaRPr lang="en-US" sz="1100" dirty="0"/>
          </a:p>
        </p:txBody>
      </p:sp>
      <p:sp>
        <p:nvSpPr>
          <p:cNvPr id="47" name="Text 45"/>
          <p:cNvSpPr/>
          <p:nvPr/>
        </p:nvSpPr>
        <p:spPr>
          <a:xfrm>
            <a:off x="548640" y="5349240"/>
            <a:ext cx="10515600" cy="365760"/>
          </a:xfrm>
          <a:prstGeom prst="rect">
            <a:avLst/>
          </a:prstGeom>
          <a:noFill/>
          <a:ln/>
        </p:spPr>
        <p:txBody>
          <a:bodyPr wrap="square" rtlCol="0" anchor="ctr"/>
          <a:lstStyle/>
          <a:p>
            <a:pPr indent="0" marL="0">
              <a:buNone/>
            </a:pPr>
            <a:r>
              <a:rPr lang="en-US" sz="1050" i="1" dirty="0">
                <a:solidFill>
                  <a:srgbClr val="5B6B76"/>
                </a:solidFill>
                <a:latin typeface="Calibri" pitchFamily="34" charset="0"/>
                <a:ea typeface="Calibri" pitchFamily="34" charset="-122"/>
                <a:cs typeface="Calibri" pitchFamily="34" charset="-120"/>
              </a:rPr>
              <a:t>Data Analysis → Data Cleaning → EDA → Visualization → Statistical Testing → Insights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CFE3ED"/>
          </a:solidFill>
          <a:ln/>
        </p:spPr>
      </p:sp>
      <p:sp>
        <p:nvSpPr>
          <p:cNvPr id="3" name="Shape 1"/>
          <p:cNvSpPr/>
          <p:nvPr/>
        </p:nvSpPr>
        <p:spPr>
          <a:xfrm rot="2700000">
            <a:off x="10362895" y="5029200"/>
            <a:ext cx="3291840" cy="3291840"/>
          </a:xfrm>
          <a:prstGeom prst="rect">
            <a:avLst/>
          </a:prstGeom>
          <a:solidFill>
            <a:srgbClr val="BFE3DE"/>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Text 4"/>
          <p:cNvSpPr/>
          <p:nvPr/>
        </p:nvSpPr>
        <p:spPr>
          <a:xfrm>
            <a:off x="502920" y="320040"/>
            <a:ext cx="11185855" cy="640080"/>
          </a:xfrm>
          <a:prstGeom prst="rect">
            <a:avLst/>
          </a:prstGeom>
          <a:noFill/>
          <a:ln/>
        </p:spPr>
        <p:txBody>
          <a:bodyPr wrap="square" rtlCol="0" anchor="ctr"/>
          <a:lstStyle/>
          <a:p>
            <a:pPr indent="0" marL="0">
              <a:buNone/>
            </a:pPr>
            <a:r>
              <a:rPr lang="en-US" sz="3000" b="1" dirty="0">
                <a:solidFill>
                  <a:srgbClr val="1B5E86"/>
                </a:solidFill>
                <a:latin typeface="Cambria" pitchFamily="34" charset="0"/>
                <a:ea typeface="Cambria" pitchFamily="34" charset="-122"/>
                <a:cs typeface="Cambria" pitchFamily="34" charset="-120"/>
              </a:rPr>
              <a:t>Results: Dataset Overview &amp; EDA</a:t>
            </a:r>
            <a:endParaRPr lang="en-US" sz="3000" dirty="0"/>
          </a:p>
        </p:txBody>
      </p:sp>
      <p:sp>
        <p:nvSpPr>
          <p:cNvPr id="7" name="Shape 5"/>
          <p:cNvSpPr/>
          <p:nvPr/>
        </p:nvSpPr>
        <p:spPr>
          <a:xfrm>
            <a:off x="530352" y="960120"/>
            <a:ext cx="1188720" cy="41148"/>
          </a:xfrm>
          <a:prstGeom prst="rect">
            <a:avLst/>
          </a:prstGeom>
          <a:solidFill>
            <a:srgbClr val="E07B1A"/>
          </a:solidFill>
          <a:ln/>
        </p:spPr>
      </p:sp>
      <p:sp>
        <p:nvSpPr>
          <p:cNvPr id="8" name="Text 6"/>
          <p:cNvSpPr/>
          <p:nvPr/>
        </p:nvSpPr>
        <p:spPr>
          <a:xfrm>
            <a:off x="365760" y="6528816"/>
            <a:ext cx="6400800" cy="274320"/>
          </a:xfrm>
          <a:prstGeom prst="rect">
            <a:avLst/>
          </a:prstGeom>
          <a:noFill/>
          <a:ln/>
        </p:spPr>
        <p:txBody>
          <a:bodyPr wrap="square" rtlCol="0" anchor="ctr"/>
          <a:lstStyle/>
          <a:p>
            <a:pPr indent="0" marL="0">
              <a:buNone/>
            </a:pPr>
            <a:r>
              <a:rPr lang="en-US" sz="900" i="1" dirty="0">
                <a:solidFill>
                  <a:srgbClr val="5B6B76"/>
                </a:solidFill>
                <a:latin typeface="Calibri" pitchFamily="34" charset="0"/>
                <a:ea typeface="Calibri" pitchFamily="34" charset="-122"/>
                <a:cs typeface="Calibri" pitchFamily="34" charset="-120"/>
              </a:rPr>
              <a:t>Results — Dataset &amp; Exploratory Data Analysis</a:t>
            </a:r>
            <a:endParaRPr lang="en-US" sz="900" dirty="0"/>
          </a:p>
        </p:txBody>
      </p:sp>
      <p:sp>
        <p:nvSpPr>
          <p:cNvPr id="9" name="Text 7"/>
          <p:cNvSpPr/>
          <p:nvPr/>
        </p:nvSpPr>
        <p:spPr>
          <a:xfrm>
            <a:off x="11551615" y="6528816"/>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5</a:t>
            </a:r>
            <a:endParaRPr lang="en-US" sz="900" dirty="0"/>
          </a:p>
        </p:txBody>
      </p:sp>
      <p:sp>
        <p:nvSpPr>
          <p:cNvPr id="10" name="Shape 8"/>
          <p:cNvSpPr/>
          <p:nvPr/>
        </p:nvSpPr>
        <p:spPr>
          <a:xfrm>
            <a:off x="548640" y="1188720"/>
            <a:ext cx="82296" cy="292608"/>
          </a:xfrm>
          <a:prstGeom prst="rect">
            <a:avLst/>
          </a:prstGeom>
          <a:solidFill>
            <a:srgbClr val="1B5E86"/>
          </a:solidFill>
          <a:ln/>
        </p:spPr>
      </p:sp>
      <p:sp>
        <p:nvSpPr>
          <p:cNvPr id="11" name="Text 9"/>
          <p:cNvSpPr/>
          <p:nvPr/>
        </p:nvSpPr>
        <p:spPr>
          <a:xfrm>
            <a:off x="713232" y="1161288"/>
            <a:ext cx="4864608" cy="347472"/>
          </a:xfrm>
          <a:prstGeom prst="rect">
            <a:avLst/>
          </a:prstGeom>
          <a:noFill/>
          <a:ln/>
        </p:spPr>
        <p:txBody>
          <a:bodyPr wrap="square" rtlCol="0" anchor="ctr"/>
          <a:lstStyle/>
          <a:p>
            <a:pPr indent="0" marL="0">
              <a:buNone/>
            </a:pPr>
            <a:r>
              <a:rPr lang="en-US" sz="1500" b="1" dirty="0">
                <a:solidFill>
                  <a:srgbClr val="27333D"/>
                </a:solidFill>
                <a:latin typeface="Cambria" pitchFamily="34" charset="0"/>
                <a:ea typeface="Cambria" pitchFamily="34" charset="-122"/>
                <a:cs typeface="Cambria" pitchFamily="34" charset="-120"/>
              </a:rPr>
              <a:t>Dataset Summary</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394960" cy="914400"/>
        </p:xfrm>
        <a:graphic>
          <a:graphicData uri="http://schemas.openxmlformats.org/drawingml/2006/table">
            <a:tbl>
              <a:tblPr/>
              <a:tblGrid>
                <a:gridCol w="1920240"/>
                <a:gridCol w="3474720"/>
              </a:tblGrid>
              <a:tr h="329184">
                <a:tc>
                  <a:txBody>
                    <a:bodyPr/>
                    <a:lstStyle/>
                    <a:p>
                      <a:pPr indent="0" marL="0">
                        <a:buNone/>
                      </a:pPr>
                      <a:r>
                        <a:rPr lang="en-US" sz="1050" b="1" dirty="0">
                          <a:solidFill>
                            <a:srgbClr val="27333D"/>
                          </a:solidFill>
                        </a:rPr>
                        <a:t>Observations (rows)</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1F5"/>
                    </a:solidFill>
                  </a:tcPr>
                </a:tc>
                <a:tc>
                  <a:txBody>
                    <a:bodyPr/>
                    <a:lstStyle/>
                    <a:p>
                      <a:pPr indent="0" marL="0">
                        <a:buNone/>
                      </a:pPr>
                      <a:r>
                        <a:rPr lang="en-US" sz="1050" dirty="0">
                          <a:solidFill>
                            <a:srgbClr val="27333D"/>
                          </a:solidFill>
                        </a:rPr>
                        <a:t>4,000</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tcPr>
                </a:tc>
              </a:tr>
              <a:tr h="329184">
                <a:tc>
                  <a:txBody>
                    <a:bodyPr/>
                    <a:lstStyle/>
                    <a:p>
                      <a:pPr indent="0" marL="0">
                        <a:buNone/>
                      </a:pPr>
                      <a:r>
                        <a:rPr lang="en-US" sz="1050" b="1" dirty="0">
                          <a:solidFill>
                            <a:srgbClr val="27333D"/>
                          </a:solidFill>
                        </a:rPr>
                        <a:t>Variables (columns)</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1F5"/>
                    </a:solidFill>
                  </a:tcPr>
                </a:tc>
                <a:tc>
                  <a:txBody>
                    <a:bodyPr/>
                    <a:lstStyle/>
                    <a:p>
                      <a:pPr indent="0" marL="0">
                        <a:buNone/>
                      </a:pPr>
                      <a:r>
                        <a:rPr lang="en-US" sz="1050" dirty="0">
                          <a:solidFill>
                            <a:srgbClr val="27333D"/>
                          </a:solidFill>
                        </a:rPr>
                        <a:t>28</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tcPr>
                </a:tc>
              </a:tr>
              <a:tr h="329184">
                <a:tc>
                  <a:txBody>
                    <a:bodyPr/>
                    <a:lstStyle/>
                    <a:p>
                      <a:pPr indent="0" marL="0">
                        <a:buNone/>
                      </a:pPr>
                      <a:r>
                        <a:rPr lang="en-US" sz="1050" b="1" dirty="0">
                          <a:solidFill>
                            <a:srgbClr val="27333D"/>
                          </a:solidFill>
                        </a:rPr>
                        <a:t>Categorical variables</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1F5"/>
                    </a:solidFill>
                  </a:tcPr>
                </a:tc>
                <a:tc>
                  <a:txBody>
                    <a:bodyPr/>
                    <a:lstStyle/>
                    <a:p>
                      <a:pPr indent="0" marL="0">
                        <a:buNone/>
                      </a:pPr>
                      <a:r>
                        <a:rPr lang="en-US" sz="1050" dirty="0">
                          <a:solidFill>
                            <a:srgbClr val="27333D"/>
                          </a:solidFill>
                        </a:rPr>
                        <a:t>6 (State, District, Crop, Season, Irrigation Method, Farm ID)</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tcPr>
                </a:tc>
              </a:tr>
              <a:tr h="329184">
                <a:tc>
                  <a:txBody>
                    <a:bodyPr/>
                    <a:lstStyle/>
                    <a:p>
                      <a:pPr indent="0" marL="0">
                        <a:buNone/>
                      </a:pPr>
                      <a:r>
                        <a:rPr lang="en-US" sz="1050" b="1" dirty="0">
                          <a:solidFill>
                            <a:srgbClr val="27333D"/>
                          </a:solidFill>
                        </a:rPr>
                        <a:t>Numerical variables</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1F5"/>
                    </a:solidFill>
                  </a:tcPr>
                </a:tc>
                <a:tc>
                  <a:txBody>
                    <a:bodyPr/>
                    <a:lstStyle/>
                    <a:p>
                      <a:pPr indent="0" marL="0">
                        <a:buNone/>
                      </a:pPr>
                      <a:r>
                        <a:rPr lang="en-US" sz="1050" dirty="0">
                          <a:solidFill>
                            <a:srgbClr val="27333D"/>
                          </a:solidFill>
                        </a:rPr>
                        <a:t>22 (environmental, resource &amp; economic measures)</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tcPr>
                </a:tc>
              </a:tr>
              <a:tr h="329184">
                <a:tc>
                  <a:txBody>
                    <a:bodyPr/>
                    <a:lstStyle/>
                    <a:p>
                      <a:pPr indent="0" marL="0">
                        <a:buNone/>
                      </a:pPr>
                      <a:r>
                        <a:rPr lang="en-US" sz="1050" b="1" dirty="0">
                          <a:solidFill>
                            <a:srgbClr val="27333D"/>
                          </a:solidFill>
                        </a:rPr>
                        <a:t>Season categories</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1F5"/>
                    </a:solidFill>
                  </a:tcPr>
                </a:tc>
                <a:tc>
                  <a:txBody>
                    <a:bodyPr/>
                    <a:lstStyle/>
                    <a:p>
                      <a:pPr indent="0" marL="0">
                        <a:buNone/>
                      </a:pPr>
                      <a:r>
                        <a:rPr lang="en-US" sz="1050" dirty="0">
                          <a:solidFill>
                            <a:srgbClr val="27333D"/>
                          </a:solidFill>
                        </a:rPr>
                        <a:t>Kharif, Rabi, Zaid</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tcPr>
                </a:tc>
              </a:tr>
              <a:tr h="329184">
                <a:tc>
                  <a:txBody>
                    <a:bodyPr/>
                    <a:lstStyle/>
                    <a:p>
                      <a:pPr indent="0" marL="0">
                        <a:buNone/>
                      </a:pPr>
                      <a:r>
                        <a:rPr lang="en-US" sz="1050" b="1" dirty="0">
                          <a:solidFill>
                            <a:srgbClr val="27333D"/>
                          </a:solidFill>
                        </a:rPr>
                        <a:t>States / Crops</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EAF1F5"/>
                    </a:solidFill>
                  </a:tcPr>
                </a:tc>
                <a:tc>
                  <a:txBody>
                    <a:bodyPr/>
                    <a:lstStyle/>
                    <a:p>
                      <a:pPr indent="0" marL="0">
                        <a:buNone/>
                      </a:pPr>
                      <a:r>
                        <a:rPr lang="en-US" sz="1050" dirty="0">
                          <a:solidFill>
                            <a:srgbClr val="27333D"/>
                          </a:solidFill>
                        </a:rPr>
                        <a:t>8 states / 8 crops</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tcPr>
                </a:tc>
              </a:tr>
            </a:tbl>
          </a:graphicData>
        </a:graphic>
      </p:graphicFrame>
      <p:sp>
        <p:nvSpPr>
          <p:cNvPr id="13" name="Shape 10"/>
          <p:cNvSpPr/>
          <p:nvPr/>
        </p:nvSpPr>
        <p:spPr>
          <a:xfrm>
            <a:off x="548640" y="3977640"/>
            <a:ext cx="82296" cy="292608"/>
          </a:xfrm>
          <a:prstGeom prst="rect">
            <a:avLst/>
          </a:prstGeom>
          <a:solidFill>
            <a:srgbClr val="2E946B"/>
          </a:solidFill>
          <a:ln/>
        </p:spPr>
      </p:sp>
      <p:sp>
        <p:nvSpPr>
          <p:cNvPr id="14" name="Text 11"/>
          <p:cNvSpPr/>
          <p:nvPr/>
        </p:nvSpPr>
        <p:spPr>
          <a:xfrm>
            <a:off x="713232" y="3950208"/>
            <a:ext cx="4864608" cy="347472"/>
          </a:xfrm>
          <a:prstGeom prst="rect">
            <a:avLst/>
          </a:prstGeom>
          <a:noFill/>
          <a:ln/>
        </p:spPr>
        <p:txBody>
          <a:bodyPr wrap="square" rtlCol="0" anchor="ctr"/>
          <a:lstStyle/>
          <a:p>
            <a:pPr indent="0" marL="0">
              <a:buNone/>
            </a:pPr>
            <a:r>
              <a:rPr lang="en-US" sz="1500" b="1" dirty="0">
                <a:solidFill>
                  <a:srgbClr val="27333D"/>
                </a:solidFill>
                <a:latin typeface="Cambria" pitchFamily="34" charset="0"/>
                <a:ea typeface="Cambria" pitchFamily="34" charset="-122"/>
                <a:cs typeface="Cambria" pitchFamily="34" charset="-120"/>
              </a:rPr>
              <a:t>Data Cleaning</a:t>
            </a:r>
            <a:endParaRPr lang="en-US" sz="1500" dirty="0"/>
          </a:p>
        </p:txBody>
      </p:sp>
      <p:sp>
        <p:nvSpPr>
          <p:cNvPr id="15" name="Text 12"/>
          <p:cNvSpPr/>
          <p:nvPr/>
        </p:nvSpPr>
        <p:spPr>
          <a:xfrm>
            <a:off x="548640" y="4343400"/>
            <a:ext cx="5394960" cy="1371600"/>
          </a:xfrm>
          <a:prstGeom prst="rect">
            <a:avLst/>
          </a:prstGeom>
          <a:noFill/>
          <a:ln/>
        </p:spPr>
        <p:txBody>
          <a:bodyPr wrap="square" rtlCol="0" anchor="t"/>
          <a:lstStyle/>
          <a:p>
            <a:pPr indent="0" marL="0">
              <a:lnSpc>
                <a:spcPct val="120000"/>
              </a:lnSpc>
              <a:buNone/>
            </a:pPr>
            <a:r>
              <a:rPr lang="en-US" sz="1100" b="1" dirty="0">
                <a:solidFill>
                  <a:srgbClr val="27333D"/>
                </a:solidFill>
                <a:latin typeface="Calibri" pitchFamily="34" charset="0"/>
                <a:ea typeface="Calibri" pitchFamily="34" charset="-122"/>
                <a:cs typeface="Calibri" pitchFamily="34" charset="-120"/>
              </a:rPr>
              <a:t>Missing values found: </a:t>
            </a:r>
            <a:pPr indent="0" marL="0">
              <a:lnSpc>
                <a:spcPct val="120000"/>
              </a:lnSpc>
              <a:buNone/>
            </a:pPr>
            <a:r>
              <a:rPr lang="en-US" sz="1100" dirty="0">
                <a:solidFill>
                  <a:srgbClr val="27333D"/>
                </a:solidFill>
                <a:latin typeface="Calibri" pitchFamily="34" charset="0"/>
                <a:ea typeface="Calibri" pitchFamily="34" charset="-122"/>
                <a:cs typeface="Calibri" pitchFamily="34" charset="-120"/>
              </a:rPr>
              <a:t>Rainfall_mm (48), Soil_Moisture_pct (40), Yield_Tonnes_Ha (32)
</a:t>
            </a:r>
            <a:pPr indent="0" marL="0">
              <a:lnSpc>
                <a:spcPct val="120000"/>
              </a:lnSpc>
              <a:buNone/>
            </a:pPr>
            <a:r>
              <a:rPr lang="en-US" sz="1100" b="1" dirty="0">
                <a:solidFill>
                  <a:srgbClr val="27333D"/>
                </a:solidFill>
                <a:latin typeface="Calibri" pitchFamily="34" charset="0"/>
                <a:ea typeface="Calibri" pitchFamily="34" charset="-122"/>
                <a:cs typeface="Calibri" pitchFamily="34" charset="-120"/>
              </a:rPr>
              <a:t>Duplicates: </a:t>
            </a:r>
            <a:pPr indent="0" marL="0">
              <a:lnSpc>
                <a:spcPct val="120000"/>
              </a:lnSpc>
              <a:buNone/>
            </a:pPr>
            <a:r>
              <a:rPr lang="en-US" sz="1100" dirty="0">
                <a:solidFill>
                  <a:srgbClr val="27333D"/>
                </a:solidFill>
                <a:latin typeface="Calibri" pitchFamily="34" charset="0"/>
                <a:ea typeface="Calibri" pitchFamily="34" charset="-122"/>
                <a:cs typeface="Calibri" pitchFamily="34" charset="-120"/>
              </a:rPr>
              <a:t>0 duplicate rows, 0 duplicate Farm IDs
</a:t>
            </a:r>
            <a:pPr indent="0" marL="0">
              <a:lnSpc>
                <a:spcPct val="120000"/>
              </a:lnSpc>
              <a:buNone/>
            </a:pPr>
            <a:r>
              <a:rPr lang="en-US" sz="1100" b="1" dirty="0">
                <a:solidFill>
                  <a:srgbClr val="27333D"/>
                </a:solidFill>
                <a:latin typeface="Calibri" pitchFamily="34" charset="0"/>
                <a:ea typeface="Calibri" pitchFamily="34" charset="-122"/>
                <a:cs typeface="Calibri" pitchFamily="34" charset="-120"/>
              </a:rPr>
              <a:t>Treatment: </a:t>
            </a:r>
            <a:pPr indent="0" marL="0">
              <a:lnSpc>
                <a:spcPct val="120000"/>
              </a:lnSpc>
              <a:buNone/>
            </a:pPr>
            <a:r>
              <a:rPr lang="en-US" sz="1100" dirty="0">
                <a:solidFill>
                  <a:srgbClr val="27333D"/>
                </a:solidFill>
                <a:latin typeface="Calibri" pitchFamily="34" charset="0"/>
                <a:ea typeface="Calibri" pitchFamily="34" charset="-122"/>
                <a:cs typeface="Calibri" pitchFamily="34" charset="-120"/>
              </a:rPr>
              <a:t>Missing values imputed using group-wise median — Rainfall &amp; Soil Moisture by Season, Yield by Crop — 0 missing values remain.</a:t>
            </a:r>
            <a:endParaRPr lang="en-US" sz="1100" dirty="0"/>
          </a:p>
        </p:txBody>
      </p:sp>
      <p:pic>
        <p:nvPicPr>
          <p:cNvPr id="16" name="Image 0" descr="figs/cell20_0.png">    </p:cNvPr>
          <p:cNvPicPr>
            <a:picLocks noChangeAspect="1"/>
          </p:cNvPicPr>
          <p:nvPr/>
        </p:nvPicPr>
        <p:blipFill>
          <a:blip r:embed="rId1"/>
          <a:stretch>
            <a:fillRect/>
          </a:stretch>
        </p:blipFill>
        <p:spPr>
          <a:xfrm>
            <a:off x="6172200" y="1234440"/>
            <a:ext cx="5486400" cy="1737360"/>
          </a:xfrm>
          <a:prstGeom prst="rect">
            <a:avLst/>
          </a:prstGeom>
        </p:spPr>
      </p:pic>
      <p:sp>
        <p:nvSpPr>
          <p:cNvPr id="17" name="Text 13"/>
          <p:cNvSpPr/>
          <p:nvPr/>
        </p:nvSpPr>
        <p:spPr>
          <a:xfrm>
            <a:off x="6172200" y="3063240"/>
            <a:ext cx="5486400" cy="502920"/>
          </a:xfrm>
          <a:prstGeom prst="rect">
            <a:avLst/>
          </a:prstGeom>
          <a:noFill/>
          <a:ln/>
        </p:spPr>
        <p:txBody>
          <a:bodyPr wrap="square" rtlCol="0" anchor="t"/>
          <a:lstStyle/>
          <a:p>
            <a:pPr indent="0" marL="0">
              <a:lnSpc>
                <a:spcPct val="102000"/>
              </a:lnSpc>
              <a:buNone/>
            </a:pPr>
            <a:r>
              <a:rPr lang="en-US" sz="1100" b="1" dirty="0">
                <a:solidFill>
                  <a:srgbClr val="1B5E86"/>
                </a:solidFill>
                <a:latin typeface="Calibri" pitchFamily="34" charset="0"/>
                <a:ea typeface="Calibri" pitchFamily="34" charset="-122"/>
                <a:cs typeface="Calibri" pitchFamily="34" charset="-120"/>
              </a:rPr>
              <a:t>What it represents:  </a:t>
            </a:r>
            <a:pPr indent="0" marL="0">
              <a:lnSpc>
                <a:spcPct val="102000"/>
              </a:lnSpc>
              <a:buNone/>
            </a:pPr>
            <a:r>
              <a:rPr lang="en-US" sz="1100" dirty="0">
                <a:solidFill>
                  <a:srgbClr val="27333D"/>
                </a:solidFill>
                <a:latin typeface="Calibri" pitchFamily="34" charset="0"/>
                <a:ea typeface="Calibri" pitchFamily="34" charset="-122"/>
                <a:cs typeface="Calibri" pitchFamily="34" charset="-120"/>
              </a:rPr>
              <a:t>Distribution of farm records across seasons, crops and states.</a:t>
            </a:r>
            <a:endParaRPr lang="en-US" sz="1100" dirty="0"/>
          </a:p>
        </p:txBody>
      </p:sp>
      <p:sp>
        <p:nvSpPr>
          <p:cNvPr id="18" name="Text 14"/>
          <p:cNvSpPr/>
          <p:nvPr/>
        </p:nvSpPr>
        <p:spPr>
          <a:xfrm>
            <a:off x="6172200" y="3566160"/>
            <a:ext cx="5486400" cy="502920"/>
          </a:xfrm>
          <a:prstGeom prst="rect">
            <a:avLst/>
          </a:prstGeom>
          <a:noFill/>
          <a:ln/>
        </p:spPr>
        <p:txBody>
          <a:bodyPr wrap="square" rtlCol="0" anchor="t"/>
          <a:lstStyle/>
          <a:p>
            <a:pPr indent="0" marL="0">
              <a:lnSpc>
                <a:spcPct val="102000"/>
              </a:lnSpc>
              <a:buNone/>
            </a:pPr>
            <a:r>
              <a:rPr lang="en-US" sz="1100" b="1" dirty="0">
                <a:solidFill>
                  <a:srgbClr val="2E946B"/>
                </a:solidFill>
                <a:latin typeface="Calibri" pitchFamily="34" charset="0"/>
                <a:ea typeface="Calibri" pitchFamily="34" charset="-122"/>
                <a:cs typeface="Calibri" pitchFamily="34" charset="-120"/>
              </a:rPr>
              <a:t>Observation:  </a:t>
            </a:r>
            <a:pPr indent="0" marL="0">
              <a:lnSpc>
                <a:spcPct val="102000"/>
              </a:lnSpc>
              <a:buNone/>
            </a:pPr>
            <a:r>
              <a:rPr lang="en-US" sz="1100" dirty="0">
                <a:solidFill>
                  <a:srgbClr val="27333D"/>
                </a:solidFill>
                <a:latin typeface="Calibri" pitchFamily="34" charset="0"/>
                <a:ea typeface="Calibri" pitchFamily="34" charset="-122"/>
                <a:cs typeface="Calibri" pitchFamily="34" charset="-120"/>
              </a:rPr>
              <a:t>Kharif and Rabi contribute the most records; Zaid, the shortest cropping season, contributes noticeably fewer. Rice and Wheat are the most frequent crops.</a:t>
            </a:r>
            <a:endParaRPr lang="en-US" sz="1100" dirty="0"/>
          </a:p>
        </p:txBody>
      </p:sp>
      <p:sp>
        <p:nvSpPr>
          <p:cNvPr id="19" name="Text 15"/>
          <p:cNvSpPr/>
          <p:nvPr/>
        </p:nvSpPr>
        <p:spPr>
          <a:xfrm>
            <a:off x="6172200" y="4069080"/>
            <a:ext cx="5486400" cy="502920"/>
          </a:xfrm>
          <a:prstGeom prst="rect">
            <a:avLst/>
          </a:prstGeom>
          <a:noFill/>
          <a:ln/>
        </p:spPr>
        <p:txBody>
          <a:bodyPr wrap="square" rtlCol="0" anchor="t"/>
          <a:lstStyle/>
          <a:p>
            <a:pPr indent="0" marL="0">
              <a:lnSpc>
                <a:spcPct val="102000"/>
              </a:lnSpc>
              <a:buNone/>
            </a:pPr>
            <a:r>
              <a:rPr lang="en-US" sz="1100" b="1" dirty="0">
                <a:solidFill>
                  <a:srgbClr val="E07B1A"/>
                </a:solidFill>
                <a:latin typeface="Calibri" pitchFamily="34" charset="0"/>
                <a:ea typeface="Calibri" pitchFamily="34" charset="-122"/>
                <a:cs typeface="Calibri" pitchFamily="34" charset="-120"/>
              </a:rPr>
              <a:t>Agricultural Insight:  </a:t>
            </a:r>
            <a:pPr indent="0" marL="0">
              <a:lnSpc>
                <a:spcPct val="102000"/>
              </a:lnSpc>
              <a:buNone/>
            </a:pPr>
            <a:r>
              <a:rPr lang="en-US" sz="1100" dirty="0">
                <a:solidFill>
                  <a:srgbClr val="27333D"/>
                </a:solidFill>
                <a:latin typeface="Calibri" pitchFamily="34" charset="0"/>
                <a:ea typeface="Calibri" pitchFamily="34" charset="-122"/>
                <a:cs typeface="Calibri" pitchFamily="34" charset="-120"/>
              </a:rPr>
              <a:t>The dataset offers reasonably broad seasonal, crop and geographic coverage for a meaningful seasonal comparison.</a:t>
            </a:r>
            <a:endParaRPr lang="en-US" sz="1100" dirty="0"/>
          </a:p>
        </p:txBody>
      </p:sp>
      <p:pic>
        <p:nvPicPr>
          <p:cNvPr id="20" name="Image 1" descr="code_loading.png">    </p:cNvPr>
          <p:cNvPicPr>
            <a:picLocks noChangeAspect="1"/>
          </p:cNvPicPr>
          <p:nvPr/>
        </p:nvPicPr>
        <p:blipFill>
          <a:blip r:embed="rId2"/>
          <a:stretch>
            <a:fillRect/>
          </a:stretch>
        </p:blipFill>
        <p:spPr>
          <a:xfrm>
            <a:off x="6172200" y="4709160"/>
            <a:ext cx="3246120" cy="722376"/>
          </a:xfrm>
          <a:prstGeom prst="rect">
            <a:avLst/>
          </a:prstGeom>
        </p:spPr>
      </p:pic>
      <p:sp>
        <p:nvSpPr>
          <p:cNvPr id="21" name="Text 16"/>
          <p:cNvSpPr/>
          <p:nvPr/>
        </p:nvSpPr>
        <p:spPr>
          <a:xfrm>
            <a:off x="9509760" y="4892040"/>
            <a:ext cx="2148840" cy="457200"/>
          </a:xfrm>
          <a:prstGeom prst="rect">
            <a:avLst/>
          </a:prstGeom>
          <a:noFill/>
          <a:ln/>
        </p:spPr>
        <p:txBody>
          <a:bodyPr wrap="square" rtlCol="0" anchor="ctr"/>
          <a:lstStyle/>
          <a:p>
            <a:pPr indent="0" marL="0">
              <a:buNone/>
            </a:pPr>
            <a:r>
              <a:rPr lang="en-US" sz="900" i="1" dirty="0">
                <a:solidFill>
                  <a:srgbClr val="5B6B76"/>
                </a:solidFill>
                <a:latin typeface="Calibri" pitchFamily="34" charset="0"/>
                <a:ea typeface="Calibri" pitchFamily="34" charset="-122"/>
                <a:cs typeface="Calibri" pitchFamily="34" charset="-120"/>
              </a:rPr>
              <a:t>Loads the dataset and confirms its size (4,000 × 28).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CFE3ED"/>
          </a:solidFill>
          <a:ln/>
        </p:spPr>
      </p:sp>
      <p:sp>
        <p:nvSpPr>
          <p:cNvPr id="3" name="Shape 1"/>
          <p:cNvSpPr/>
          <p:nvPr/>
        </p:nvSpPr>
        <p:spPr>
          <a:xfrm rot="2700000">
            <a:off x="10362895" y="5029200"/>
            <a:ext cx="3291840" cy="3291840"/>
          </a:xfrm>
          <a:prstGeom prst="rect">
            <a:avLst/>
          </a:prstGeom>
          <a:solidFill>
            <a:srgbClr val="BFE3DE"/>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Text 4"/>
          <p:cNvSpPr/>
          <p:nvPr/>
        </p:nvSpPr>
        <p:spPr>
          <a:xfrm>
            <a:off x="502920" y="320040"/>
            <a:ext cx="11185855" cy="640080"/>
          </a:xfrm>
          <a:prstGeom prst="rect">
            <a:avLst/>
          </a:prstGeom>
          <a:noFill/>
          <a:ln/>
        </p:spPr>
        <p:txBody>
          <a:bodyPr wrap="square" rtlCol="0" anchor="ctr"/>
          <a:lstStyle/>
          <a:p>
            <a:pPr indent="0" marL="0">
              <a:buNone/>
            </a:pPr>
            <a:r>
              <a:rPr lang="en-US" sz="3000" b="1" dirty="0">
                <a:solidFill>
                  <a:srgbClr val="1B5E86"/>
                </a:solidFill>
                <a:latin typeface="Cambria" pitchFamily="34" charset="0"/>
                <a:ea typeface="Cambria" pitchFamily="34" charset="-122"/>
                <a:cs typeface="Cambria" pitchFamily="34" charset="-120"/>
              </a:rPr>
              <a:t>Results: Seasonal Performance</a:t>
            </a:r>
            <a:endParaRPr lang="en-US" sz="3000" dirty="0"/>
          </a:p>
        </p:txBody>
      </p:sp>
      <p:sp>
        <p:nvSpPr>
          <p:cNvPr id="7" name="Shape 5"/>
          <p:cNvSpPr/>
          <p:nvPr/>
        </p:nvSpPr>
        <p:spPr>
          <a:xfrm>
            <a:off x="530352" y="960120"/>
            <a:ext cx="1188720" cy="41148"/>
          </a:xfrm>
          <a:prstGeom prst="rect">
            <a:avLst/>
          </a:prstGeom>
          <a:solidFill>
            <a:srgbClr val="E07B1A"/>
          </a:solidFill>
          <a:ln/>
        </p:spPr>
      </p:sp>
      <p:sp>
        <p:nvSpPr>
          <p:cNvPr id="8" name="Text 6"/>
          <p:cNvSpPr/>
          <p:nvPr/>
        </p:nvSpPr>
        <p:spPr>
          <a:xfrm>
            <a:off x="365760" y="6528816"/>
            <a:ext cx="6400800" cy="274320"/>
          </a:xfrm>
          <a:prstGeom prst="rect">
            <a:avLst/>
          </a:prstGeom>
          <a:noFill/>
          <a:ln/>
        </p:spPr>
        <p:txBody>
          <a:bodyPr wrap="square" rtlCol="0" anchor="ctr"/>
          <a:lstStyle/>
          <a:p>
            <a:pPr indent="0" marL="0">
              <a:buNone/>
            </a:pPr>
            <a:r>
              <a:rPr lang="en-US" sz="900" i="1" dirty="0">
                <a:solidFill>
                  <a:srgbClr val="5B6B76"/>
                </a:solidFill>
                <a:latin typeface="Calibri" pitchFamily="34" charset="0"/>
                <a:ea typeface="Calibri" pitchFamily="34" charset="-122"/>
                <a:cs typeface="Calibri" pitchFamily="34" charset="-120"/>
              </a:rPr>
              <a:t>Results — Seasonal Performance (Central Question)</a:t>
            </a:r>
            <a:endParaRPr lang="en-US" sz="900" dirty="0"/>
          </a:p>
        </p:txBody>
      </p:sp>
      <p:sp>
        <p:nvSpPr>
          <p:cNvPr id="9" name="Text 7"/>
          <p:cNvSpPr/>
          <p:nvPr/>
        </p:nvSpPr>
        <p:spPr>
          <a:xfrm>
            <a:off x="11551615" y="6528816"/>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6</a:t>
            </a:r>
            <a:endParaRPr lang="en-US" sz="900" dirty="0"/>
          </a:p>
        </p:txBody>
      </p:sp>
      <p:pic>
        <p:nvPicPr>
          <p:cNvPr id="10" name="Image 0" descr="figs/cell28_0.png">    </p:cNvPr>
          <p:cNvPicPr>
            <a:picLocks noChangeAspect="1"/>
          </p:cNvPicPr>
          <p:nvPr/>
        </p:nvPicPr>
        <p:blipFill>
          <a:blip r:embed="rId1"/>
          <a:stretch>
            <a:fillRect/>
          </a:stretch>
        </p:blipFill>
        <p:spPr>
          <a:xfrm>
            <a:off x="502920" y="1188720"/>
            <a:ext cx="7315200" cy="2240280"/>
          </a:xfrm>
          <a:prstGeom prst="rect">
            <a:avLst/>
          </a:prstGeom>
        </p:spPr>
      </p:pic>
      <p:sp>
        <p:nvSpPr>
          <p:cNvPr id="11" name="Text 8"/>
          <p:cNvSpPr/>
          <p:nvPr/>
        </p:nvSpPr>
        <p:spPr>
          <a:xfrm>
            <a:off x="502920" y="3520440"/>
            <a:ext cx="7315200" cy="457200"/>
          </a:xfrm>
          <a:prstGeom prst="rect">
            <a:avLst/>
          </a:prstGeom>
          <a:noFill/>
          <a:ln/>
        </p:spPr>
        <p:txBody>
          <a:bodyPr wrap="square" rtlCol="0" anchor="t"/>
          <a:lstStyle/>
          <a:p>
            <a:pPr indent="0" marL="0">
              <a:lnSpc>
                <a:spcPct val="102000"/>
              </a:lnSpc>
              <a:buNone/>
            </a:pPr>
            <a:r>
              <a:rPr lang="en-US" sz="1100" b="1" dirty="0">
                <a:solidFill>
                  <a:srgbClr val="1B5E86"/>
                </a:solidFill>
                <a:latin typeface="Calibri" pitchFamily="34" charset="0"/>
                <a:ea typeface="Calibri" pitchFamily="34" charset="-122"/>
                <a:cs typeface="Calibri" pitchFamily="34" charset="-120"/>
              </a:rPr>
              <a:t>What it represents:  </a:t>
            </a:r>
            <a:pPr indent="0" marL="0">
              <a:lnSpc>
                <a:spcPct val="102000"/>
              </a:lnSpc>
              <a:buNone/>
            </a:pPr>
            <a:r>
              <a:rPr lang="en-US" sz="1100" dirty="0">
                <a:solidFill>
                  <a:srgbClr val="27333D"/>
                </a:solidFill>
                <a:latin typeface="Calibri" pitchFamily="34" charset="0"/>
                <a:ea typeface="Calibri" pitchFamily="34" charset="-122"/>
                <a:cs typeface="Calibri" pitchFamily="34" charset="-120"/>
              </a:rPr>
              <a:t>Comparison of yield, production and water-use efficiency across Kharif, Rabi and Zaid (outliers hidden for readability).</a:t>
            </a:r>
            <a:endParaRPr lang="en-US" sz="1100" dirty="0"/>
          </a:p>
        </p:txBody>
      </p:sp>
      <p:sp>
        <p:nvSpPr>
          <p:cNvPr id="12" name="Text 9"/>
          <p:cNvSpPr/>
          <p:nvPr/>
        </p:nvSpPr>
        <p:spPr>
          <a:xfrm>
            <a:off x="502920" y="3977640"/>
            <a:ext cx="7315200" cy="457200"/>
          </a:xfrm>
          <a:prstGeom prst="rect">
            <a:avLst/>
          </a:prstGeom>
          <a:noFill/>
          <a:ln/>
        </p:spPr>
        <p:txBody>
          <a:bodyPr wrap="square" rtlCol="0" anchor="t"/>
          <a:lstStyle/>
          <a:p>
            <a:pPr indent="0" marL="0">
              <a:lnSpc>
                <a:spcPct val="102000"/>
              </a:lnSpc>
              <a:buNone/>
            </a:pPr>
            <a:r>
              <a:rPr lang="en-US" sz="1100" b="1" dirty="0">
                <a:solidFill>
                  <a:srgbClr val="2E946B"/>
                </a:solidFill>
                <a:latin typeface="Calibri" pitchFamily="34" charset="0"/>
                <a:ea typeface="Calibri" pitchFamily="34" charset="-122"/>
                <a:cs typeface="Calibri" pitchFamily="34" charset="-120"/>
              </a:rPr>
              <a:t>Observation:  </a:t>
            </a:r>
            <a:pPr indent="0" marL="0">
              <a:lnSpc>
                <a:spcPct val="102000"/>
              </a:lnSpc>
              <a:buNone/>
            </a:pPr>
            <a:r>
              <a:rPr lang="en-US" sz="1100" dirty="0">
                <a:solidFill>
                  <a:srgbClr val="27333D"/>
                </a:solidFill>
                <a:latin typeface="Calibri" pitchFamily="34" charset="0"/>
                <a:ea typeface="Calibri" pitchFamily="34" charset="-122"/>
                <a:cs typeface="Calibri" pitchFamily="34" charset="-120"/>
              </a:rPr>
              <a:t>Kharif records the highest median and mean on all three measures, Rabi is second, and Zaid is consistently the lowest.</a:t>
            </a:r>
            <a:endParaRPr lang="en-US" sz="1100" dirty="0"/>
          </a:p>
        </p:txBody>
      </p:sp>
      <p:sp>
        <p:nvSpPr>
          <p:cNvPr id="13" name="Text 10"/>
          <p:cNvSpPr/>
          <p:nvPr/>
        </p:nvSpPr>
        <p:spPr>
          <a:xfrm>
            <a:off x="502920" y="4434840"/>
            <a:ext cx="7315200" cy="457200"/>
          </a:xfrm>
          <a:prstGeom prst="rect">
            <a:avLst/>
          </a:prstGeom>
          <a:noFill/>
          <a:ln/>
        </p:spPr>
        <p:txBody>
          <a:bodyPr wrap="square" rtlCol="0" anchor="t"/>
          <a:lstStyle/>
          <a:p>
            <a:pPr indent="0" marL="0">
              <a:lnSpc>
                <a:spcPct val="102000"/>
              </a:lnSpc>
              <a:buNone/>
            </a:pPr>
            <a:r>
              <a:rPr lang="en-US" sz="1100" b="1" dirty="0">
                <a:solidFill>
                  <a:srgbClr val="E07B1A"/>
                </a:solidFill>
                <a:latin typeface="Calibri" pitchFamily="34" charset="0"/>
                <a:ea typeface="Calibri" pitchFamily="34" charset="-122"/>
                <a:cs typeface="Calibri" pitchFamily="34" charset="-120"/>
              </a:rPr>
              <a:t>Agricultural Insight:  </a:t>
            </a:r>
            <a:pPr indent="0" marL="0">
              <a:lnSpc>
                <a:spcPct val="102000"/>
              </a:lnSpc>
              <a:buNone/>
            </a:pPr>
            <a:r>
              <a:rPr lang="en-US" sz="1100" dirty="0">
                <a:solidFill>
                  <a:srgbClr val="27333D"/>
                </a:solidFill>
                <a:latin typeface="Calibri" pitchFamily="34" charset="0"/>
                <a:ea typeface="Calibri" pitchFamily="34" charset="-122"/>
                <a:cs typeface="Calibri" pitchFamily="34" charset="-120"/>
              </a:rPr>
              <a:t>Seasonal conditions are associated with meaningfully different agricultural outcomes, not just a difference in one metric.</a:t>
            </a:r>
            <a:endParaRPr lang="en-US" sz="1100" dirty="0"/>
          </a:p>
        </p:txBody>
      </p:sp>
      <p:sp>
        <p:nvSpPr>
          <p:cNvPr id="14" name="Shape 11"/>
          <p:cNvSpPr/>
          <p:nvPr/>
        </p:nvSpPr>
        <p:spPr>
          <a:xfrm>
            <a:off x="8092440" y="1188720"/>
            <a:ext cx="82296" cy="292608"/>
          </a:xfrm>
          <a:prstGeom prst="rect">
            <a:avLst/>
          </a:prstGeom>
          <a:solidFill>
            <a:srgbClr val="2E946B"/>
          </a:solidFill>
          <a:ln/>
        </p:spPr>
      </p:sp>
      <p:sp>
        <p:nvSpPr>
          <p:cNvPr id="15" name="Text 12"/>
          <p:cNvSpPr/>
          <p:nvPr/>
        </p:nvSpPr>
        <p:spPr>
          <a:xfrm>
            <a:off x="8257032" y="1161288"/>
            <a:ext cx="3493008" cy="347472"/>
          </a:xfrm>
          <a:prstGeom prst="rect">
            <a:avLst/>
          </a:prstGeom>
          <a:noFill/>
          <a:ln/>
        </p:spPr>
        <p:txBody>
          <a:bodyPr wrap="square" rtlCol="0" anchor="ctr"/>
          <a:lstStyle/>
          <a:p>
            <a:pPr indent="0" marL="0">
              <a:buNone/>
            </a:pPr>
            <a:r>
              <a:rPr lang="en-US" sz="1500" b="1" dirty="0">
                <a:solidFill>
                  <a:srgbClr val="27333D"/>
                </a:solidFill>
                <a:latin typeface="Cambria" pitchFamily="34" charset="0"/>
                <a:ea typeface="Cambria" pitchFamily="34" charset="-122"/>
                <a:cs typeface="Cambria" pitchFamily="34" charset="-120"/>
              </a:rPr>
              <a:t>Mean Values by Season</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092440" y="1600200"/>
          <a:ext cx="3566160" cy="914400"/>
        </p:xfrm>
        <a:graphic>
          <a:graphicData uri="http://schemas.openxmlformats.org/drawingml/2006/table">
            <a:tbl>
              <a:tblPr/>
              <a:tblGrid>
                <a:gridCol w="914400"/>
                <a:gridCol w="914400"/>
                <a:gridCol w="868680"/>
                <a:gridCol w="868680"/>
              </a:tblGrid>
              <a:tr h="292608">
                <a:tc>
                  <a:txBody>
                    <a:bodyPr/>
                    <a:lstStyle/>
                    <a:p>
                      <a:pPr algn="ctr" indent="0" marL="0">
                        <a:buNone/>
                      </a:pPr>
                      <a:r>
                        <a:rPr lang="en-US" sz="1000" b="1" dirty="0">
                          <a:solidFill>
                            <a:srgbClr val="FFFFFF"/>
                          </a:solidFill>
                        </a:rPr>
                        <a:t>Season</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1B5E86"/>
                    </a:solidFill>
                  </a:tcPr>
                </a:tc>
                <a:tc>
                  <a:txBody>
                    <a:bodyPr/>
                    <a:lstStyle/>
                    <a:p>
                      <a:pPr algn="ctr" indent="0" marL="0">
                        <a:buNone/>
                      </a:pPr>
                      <a:r>
                        <a:rPr lang="en-US" sz="1000" b="1" dirty="0">
                          <a:solidFill>
                            <a:srgbClr val="FFFFFF"/>
                          </a:solidFill>
                        </a:rPr>
                        <a:t>Yield (t/ha)</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1B5E86"/>
                    </a:solidFill>
                  </a:tcPr>
                </a:tc>
                <a:tc>
                  <a:txBody>
                    <a:bodyPr/>
                    <a:lstStyle/>
                    <a:p>
                      <a:pPr algn="ctr" indent="0" marL="0">
                        <a:buNone/>
                      </a:pPr>
                      <a:r>
                        <a:rPr lang="en-US" sz="1000" b="1" dirty="0">
                          <a:solidFill>
                            <a:srgbClr val="FFFFFF"/>
                          </a:solidFill>
                        </a:rPr>
                        <a:t>Prod. (t)</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1B5E86"/>
                    </a:solidFill>
                  </a:tcPr>
                </a:tc>
                <a:tc>
                  <a:txBody>
                    <a:bodyPr/>
                    <a:lstStyle/>
                    <a:p>
                      <a:pPr algn="ctr" indent="0" marL="0">
                        <a:buNone/>
                      </a:pPr>
                      <a:r>
                        <a:rPr lang="en-US" sz="1000" b="1" dirty="0">
                          <a:solidFill>
                            <a:srgbClr val="FFFFFF"/>
                          </a:solidFill>
                        </a:rPr>
                        <a:t>Water Eff.</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1B5E86"/>
                    </a:solidFill>
                  </a:tcPr>
                </a:tc>
              </a:tr>
              <a:tr h="292608">
                <a:tc>
                  <a:txBody>
                    <a:bodyPr/>
                    <a:lstStyle/>
                    <a:p>
                      <a:pPr algn="ctr" indent="0" marL="0">
                        <a:buNone/>
                      </a:pPr>
                      <a:r>
                        <a:rPr lang="en-US" sz="1000" dirty="0">
                          <a:solidFill>
                            <a:srgbClr val="27333D"/>
                          </a:solidFill>
                        </a:rPr>
                        <a:t>Kharif</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7333D"/>
                          </a:solidFill>
                        </a:rPr>
                        <a:t>5.63</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7333D"/>
                          </a:solidFill>
                        </a:rPr>
                        <a:t>46.31</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7333D"/>
                          </a:solidFill>
                        </a:rPr>
                        <a:t>5.89</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292608">
                <a:tc>
                  <a:txBody>
                    <a:bodyPr/>
                    <a:lstStyle/>
                    <a:p>
                      <a:pPr algn="ctr" indent="0" marL="0">
                        <a:buNone/>
                      </a:pPr>
                      <a:r>
                        <a:rPr lang="en-US" sz="1000" dirty="0">
                          <a:solidFill>
                            <a:srgbClr val="27333D"/>
                          </a:solidFill>
                        </a:rPr>
                        <a:t>Rabi</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1000" dirty="0">
                          <a:solidFill>
                            <a:srgbClr val="27333D"/>
                          </a:solidFill>
                        </a:rPr>
                        <a:t>5.10</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1000" dirty="0">
                          <a:solidFill>
                            <a:srgbClr val="27333D"/>
                          </a:solidFill>
                        </a:rPr>
                        <a:t>41.49</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1000" dirty="0">
                          <a:solidFill>
                            <a:srgbClr val="27333D"/>
                          </a:solidFill>
                        </a:rPr>
                        <a:t>5.19</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r>
              <a:tr h="292608">
                <a:tc>
                  <a:txBody>
                    <a:bodyPr/>
                    <a:lstStyle/>
                    <a:p>
                      <a:pPr algn="ctr" indent="0" marL="0">
                        <a:buNone/>
                      </a:pPr>
                      <a:r>
                        <a:rPr lang="en-US" sz="1000" dirty="0">
                          <a:solidFill>
                            <a:srgbClr val="27333D"/>
                          </a:solidFill>
                        </a:rPr>
                        <a:t>Zaid</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7333D"/>
                          </a:solidFill>
                        </a:rPr>
                        <a:t>4.64</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7333D"/>
                          </a:solidFill>
                        </a:rPr>
                        <a:t>38.89</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7333D"/>
                          </a:solidFill>
                        </a:rPr>
                        <a:t>4.41</a:t>
                      </a:r>
                      <a:endParaRPr lang="en-US" sz="10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bl>
          </a:graphicData>
        </a:graphic>
      </p:graphicFrame>
      <p:sp>
        <p:nvSpPr>
          <p:cNvPr id="17" name="Shape 13"/>
          <p:cNvSpPr/>
          <p:nvPr/>
        </p:nvSpPr>
        <p:spPr>
          <a:xfrm>
            <a:off x="8092440" y="2971800"/>
            <a:ext cx="3611880" cy="1965960"/>
          </a:xfrm>
          <a:prstGeom prst="roundRect">
            <a:avLst>
              <a:gd name="adj" fmla="val 3721"/>
            </a:avLst>
          </a:prstGeom>
          <a:solidFill>
            <a:srgbClr val="E07B1A">
              <a:alpha val="10000"/>
            </a:srgbClr>
          </a:solidFill>
          <a:ln w="12700">
            <a:solidFill>
              <a:srgbClr val="E07B1A"/>
            </a:solidFill>
            <a:prstDash val="solid"/>
          </a:ln>
        </p:spPr>
      </p:sp>
      <p:sp>
        <p:nvSpPr>
          <p:cNvPr id="18" name="Text 14"/>
          <p:cNvSpPr/>
          <p:nvPr/>
        </p:nvSpPr>
        <p:spPr>
          <a:xfrm>
            <a:off x="8229600" y="3044952"/>
            <a:ext cx="3337560" cy="1819656"/>
          </a:xfrm>
          <a:prstGeom prst="rect">
            <a:avLst/>
          </a:prstGeom>
          <a:noFill/>
          <a:ln/>
        </p:spPr>
        <p:txBody>
          <a:bodyPr wrap="square" rtlCol="0" anchor="t"/>
          <a:lstStyle/>
          <a:p>
            <a:pPr indent="0" marL="0">
              <a:lnSpc>
                <a:spcPct val="105000"/>
              </a:lnSpc>
              <a:buNone/>
            </a:pPr>
            <a:r>
              <a:rPr lang="en-US" sz="1200" b="1" dirty="0">
                <a:solidFill>
                  <a:srgbClr val="E07B1A"/>
                </a:solidFill>
                <a:latin typeface="Calibri" pitchFamily="34" charset="0"/>
                <a:ea typeface="Calibri" pitchFamily="34" charset="-122"/>
                <a:cs typeface="Calibri" pitchFamily="34" charset="-120"/>
              </a:rPr>
              <a:t>Key Seasonal Insight
</a:t>
            </a:r>
            <a:pPr indent="0" marL="0">
              <a:lnSpc>
                <a:spcPct val="105000"/>
              </a:lnSpc>
              <a:buNone/>
            </a:pPr>
            <a:r>
              <a:rPr lang="en-US" sz="1150" dirty="0">
                <a:solidFill>
                  <a:srgbClr val="27333D"/>
                </a:solidFill>
                <a:latin typeface="Calibri" pitchFamily="34" charset="0"/>
                <a:ea typeface="Calibri" pitchFamily="34" charset="-122"/>
                <a:cs typeface="Calibri" pitchFamily="34" charset="-120"/>
              </a:rPr>
              <a:t>Kharif demonstrates the strongest overall agricultural performance, while Zaid shows the weakest performance across yield, production and water efficiency in the analyzed dataset.</a:t>
            </a:r>
            <a:endParaRPr lang="en-US" sz="1200" dirty="0"/>
          </a:p>
        </p:txBody>
      </p:sp>
      <p:pic>
        <p:nvPicPr>
          <p:cNvPr id="19" name="Image 1" descr="code_seasonal.png">    </p:cNvPr>
          <p:cNvPicPr>
            <a:picLocks noChangeAspect="1"/>
          </p:cNvPicPr>
          <p:nvPr/>
        </p:nvPicPr>
        <p:blipFill>
          <a:blip r:embed="rId2"/>
          <a:stretch>
            <a:fillRect/>
          </a:stretch>
        </p:blipFill>
        <p:spPr>
          <a:xfrm>
            <a:off x="8092440" y="5074920"/>
            <a:ext cx="3611880" cy="8961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CFE3ED"/>
          </a:solidFill>
          <a:ln/>
        </p:spPr>
      </p:sp>
      <p:sp>
        <p:nvSpPr>
          <p:cNvPr id="3" name="Shape 1"/>
          <p:cNvSpPr/>
          <p:nvPr/>
        </p:nvSpPr>
        <p:spPr>
          <a:xfrm rot="2700000">
            <a:off x="10362895" y="5029200"/>
            <a:ext cx="3291840" cy="3291840"/>
          </a:xfrm>
          <a:prstGeom prst="rect">
            <a:avLst/>
          </a:prstGeom>
          <a:solidFill>
            <a:srgbClr val="BFE3DE"/>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Text 4"/>
          <p:cNvSpPr/>
          <p:nvPr/>
        </p:nvSpPr>
        <p:spPr>
          <a:xfrm>
            <a:off x="502920" y="320040"/>
            <a:ext cx="11185855" cy="640080"/>
          </a:xfrm>
          <a:prstGeom prst="rect">
            <a:avLst/>
          </a:prstGeom>
          <a:noFill/>
          <a:ln/>
        </p:spPr>
        <p:txBody>
          <a:bodyPr wrap="square" rtlCol="0" anchor="ctr"/>
          <a:lstStyle/>
          <a:p>
            <a:pPr indent="0" marL="0">
              <a:buNone/>
            </a:pPr>
            <a:r>
              <a:rPr lang="en-US" sz="3000" b="1" dirty="0">
                <a:solidFill>
                  <a:srgbClr val="1B5E86"/>
                </a:solidFill>
                <a:latin typeface="Cambria" pitchFamily="34" charset="0"/>
                <a:ea typeface="Cambria" pitchFamily="34" charset="-122"/>
                <a:cs typeface="Cambria" pitchFamily="34" charset="-120"/>
              </a:rPr>
              <a:t>Results: Environmental &amp; Resource Analysis</a:t>
            </a:r>
            <a:endParaRPr lang="en-US" sz="3000" dirty="0"/>
          </a:p>
        </p:txBody>
      </p:sp>
      <p:sp>
        <p:nvSpPr>
          <p:cNvPr id="7" name="Shape 5"/>
          <p:cNvSpPr/>
          <p:nvPr/>
        </p:nvSpPr>
        <p:spPr>
          <a:xfrm>
            <a:off x="530352" y="960120"/>
            <a:ext cx="1188720" cy="41148"/>
          </a:xfrm>
          <a:prstGeom prst="rect">
            <a:avLst/>
          </a:prstGeom>
          <a:solidFill>
            <a:srgbClr val="E07B1A"/>
          </a:solidFill>
          <a:ln/>
        </p:spPr>
      </p:sp>
      <p:sp>
        <p:nvSpPr>
          <p:cNvPr id="8" name="Text 6"/>
          <p:cNvSpPr/>
          <p:nvPr/>
        </p:nvSpPr>
        <p:spPr>
          <a:xfrm>
            <a:off x="365760" y="6528816"/>
            <a:ext cx="6400800" cy="274320"/>
          </a:xfrm>
          <a:prstGeom prst="rect">
            <a:avLst/>
          </a:prstGeom>
          <a:noFill/>
          <a:ln/>
        </p:spPr>
        <p:txBody>
          <a:bodyPr wrap="square" rtlCol="0" anchor="ctr"/>
          <a:lstStyle/>
          <a:p>
            <a:pPr indent="0" marL="0">
              <a:buNone/>
            </a:pPr>
            <a:r>
              <a:rPr lang="en-US" sz="900" i="1" dirty="0">
                <a:solidFill>
                  <a:srgbClr val="5B6B76"/>
                </a:solidFill>
                <a:latin typeface="Calibri" pitchFamily="34" charset="0"/>
                <a:ea typeface="Calibri" pitchFamily="34" charset="-122"/>
                <a:cs typeface="Calibri" pitchFamily="34" charset="-120"/>
              </a:rPr>
              <a:t>Results — Environment &amp; Resources</a:t>
            </a:r>
            <a:endParaRPr lang="en-US" sz="900" dirty="0"/>
          </a:p>
        </p:txBody>
      </p:sp>
      <p:sp>
        <p:nvSpPr>
          <p:cNvPr id="9" name="Text 7"/>
          <p:cNvSpPr/>
          <p:nvPr/>
        </p:nvSpPr>
        <p:spPr>
          <a:xfrm>
            <a:off x="11551615" y="6528816"/>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7</a:t>
            </a:r>
            <a:endParaRPr lang="en-US" sz="900" dirty="0"/>
          </a:p>
        </p:txBody>
      </p:sp>
      <p:pic>
        <p:nvPicPr>
          <p:cNvPr id="10" name="Image 0" descr="figs/cell34_0.png">    </p:cNvPr>
          <p:cNvPicPr>
            <a:picLocks noChangeAspect="1"/>
          </p:cNvPicPr>
          <p:nvPr/>
        </p:nvPicPr>
        <p:blipFill>
          <a:blip r:embed="rId1"/>
          <a:stretch>
            <a:fillRect/>
          </a:stretch>
        </p:blipFill>
        <p:spPr>
          <a:xfrm>
            <a:off x="457200" y="1143000"/>
            <a:ext cx="6675120" cy="2971800"/>
          </a:xfrm>
          <a:prstGeom prst="rect">
            <a:avLst/>
          </a:prstGeom>
        </p:spPr>
      </p:pic>
      <p:sp>
        <p:nvSpPr>
          <p:cNvPr id="11" name="Text 8"/>
          <p:cNvSpPr/>
          <p:nvPr/>
        </p:nvSpPr>
        <p:spPr>
          <a:xfrm>
            <a:off x="457200" y="4160520"/>
            <a:ext cx="6675120" cy="365760"/>
          </a:xfrm>
          <a:prstGeom prst="rect">
            <a:avLst/>
          </a:prstGeom>
          <a:noFill/>
          <a:ln/>
        </p:spPr>
        <p:txBody>
          <a:bodyPr wrap="square" rtlCol="0" anchor="t"/>
          <a:lstStyle/>
          <a:p>
            <a:pPr indent="0" marL="0">
              <a:lnSpc>
                <a:spcPct val="102000"/>
              </a:lnSpc>
              <a:buNone/>
            </a:pPr>
            <a:r>
              <a:rPr lang="en-US" sz="1100" b="1" dirty="0">
                <a:solidFill>
                  <a:srgbClr val="1B5E86"/>
                </a:solidFill>
                <a:latin typeface="Calibri" pitchFamily="34" charset="0"/>
                <a:ea typeface="Calibri" pitchFamily="34" charset="-122"/>
                <a:cs typeface="Calibri" pitchFamily="34" charset="-120"/>
              </a:rPr>
              <a:t>What it represents:  </a:t>
            </a:r>
            <a:pPr indent="0" marL="0">
              <a:lnSpc>
                <a:spcPct val="102000"/>
              </a:lnSpc>
              <a:buNone/>
            </a:pPr>
            <a:r>
              <a:rPr lang="en-US" sz="1100" dirty="0">
                <a:solidFill>
                  <a:srgbClr val="27333D"/>
                </a:solidFill>
                <a:latin typeface="Calibri" pitchFamily="34" charset="0"/>
                <a:ea typeface="Calibri" pitchFamily="34" charset="-122"/>
                <a:cs typeface="Calibri" pitchFamily="34" charset="-120"/>
              </a:rPr>
              <a:t>Mean environmental conditions (rainfall, temperature, humidity, soil moisture, etc.) by season.</a:t>
            </a:r>
            <a:endParaRPr lang="en-US" sz="1100" dirty="0"/>
          </a:p>
        </p:txBody>
      </p:sp>
      <p:sp>
        <p:nvSpPr>
          <p:cNvPr id="12" name="Text 9"/>
          <p:cNvSpPr/>
          <p:nvPr/>
        </p:nvSpPr>
        <p:spPr>
          <a:xfrm>
            <a:off x="457200" y="4526280"/>
            <a:ext cx="6675120" cy="365760"/>
          </a:xfrm>
          <a:prstGeom prst="rect">
            <a:avLst/>
          </a:prstGeom>
          <a:noFill/>
          <a:ln/>
        </p:spPr>
        <p:txBody>
          <a:bodyPr wrap="square" rtlCol="0" anchor="t"/>
          <a:lstStyle/>
          <a:p>
            <a:pPr indent="0" marL="0">
              <a:lnSpc>
                <a:spcPct val="102000"/>
              </a:lnSpc>
              <a:buNone/>
            </a:pPr>
            <a:r>
              <a:rPr lang="en-US" sz="1100" b="1" dirty="0">
                <a:solidFill>
                  <a:srgbClr val="2E946B"/>
                </a:solidFill>
                <a:latin typeface="Calibri" pitchFamily="34" charset="0"/>
                <a:ea typeface="Calibri" pitchFamily="34" charset="-122"/>
                <a:cs typeface="Calibri" pitchFamily="34" charset="-120"/>
              </a:rPr>
              <a:t>Observation:  </a:t>
            </a:r>
            <a:pPr indent="0" marL="0">
              <a:lnSpc>
                <a:spcPct val="102000"/>
              </a:lnSpc>
              <a:buNone/>
            </a:pPr>
            <a:r>
              <a:rPr lang="en-US" sz="1100" dirty="0">
                <a:solidFill>
                  <a:srgbClr val="27333D"/>
                </a:solidFill>
                <a:latin typeface="Calibri" pitchFamily="34" charset="0"/>
                <a:ea typeface="Calibri" pitchFamily="34" charset="-122"/>
                <a:cs typeface="Calibri" pitchFamily="34" charset="-120"/>
              </a:rPr>
              <a:t>Rainfall, humidity and soil moisture fall sharply from Kharif to Zaid, while temperature and sunlight hours rise — matching monsoon → winter → dry-summer progression.</a:t>
            </a:r>
            <a:endParaRPr lang="en-US" sz="1100" dirty="0"/>
          </a:p>
        </p:txBody>
      </p:sp>
      <p:sp>
        <p:nvSpPr>
          <p:cNvPr id="13" name="Text 10"/>
          <p:cNvSpPr/>
          <p:nvPr/>
        </p:nvSpPr>
        <p:spPr>
          <a:xfrm>
            <a:off x="457200" y="4892040"/>
            <a:ext cx="6675120" cy="365760"/>
          </a:xfrm>
          <a:prstGeom prst="rect">
            <a:avLst/>
          </a:prstGeom>
          <a:noFill/>
          <a:ln/>
        </p:spPr>
        <p:txBody>
          <a:bodyPr wrap="square" rtlCol="0" anchor="t"/>
          <a:lstStyle/>
          <a:p>
            <a:pPr indent="0" marL="0">
              <a:lnSpc>
                <a:spcPct val="102000"/>
              </a:lnSpc>
              <a:buNone/>
            </a:pPr>
            <a:r>
              <a:rPr lang="en-US" sz="1100" b="1" dirty="0">
                <a:solidFill>
                  <a:srgbClr val="E07B1A"/>
                </a:solidFill>
                <a:latin typeface="Calibri" pitchFamily="34" charset="0"/>
                <a:ea typeface="Calibri" pitchFamily="34" charset="-122"/>
                <a:cs typeface="Calibri" pitchFamily="34" charset="-120"/>
              </a:rPr>
              <a:t>Agricultural Insight:  </a:t>
            </a:r>
            <a:pPr indent="0" marL="0">
              <a:lnSpc>
                <a:spcPct val="102000"/>
              </a:lnSpc>
              <a:buNone/>
            </a:pPr>
            <a:r>
              <a:rPr lang="en-US" sz="1100" dirty="0">
                <a:solidFill>
                  <a:srgbClr val="27333D"/>
                </a:solidFill>
                <a:latin typeface="Calibri" pitchFamily="34" charset="0"/>
                <a:ea typeface="Calibri" pitchFamily="34" charset="-122"/>
                <a:cs typeface="Calibri" pitchFamily="34" charset="-120"/>
              </a:rPr>
              <a:t>Water availability drops precisely in the season (Zaid) where performance is weakest, a plausible contributing factor.</a:t>
            </a:r>
            <a:endParaRPr lang="en-US" sz="1100" dirty="0"/>
          </a:p>
        </p:txBody>
      </p:sp>
      <p:sp>
        <p:nvSpPr>
          <p:cNvPr id="14" name="Shape 11"/>
          <p:cNvSpPr/>
          <p:nvPr/>
        </p:nvSpPr>
        <p:spPr>
          <a:xfrm>
            <a:off x="7406640" y="1143000"/>
            <a:ext cx="82296" cy="292608"/>
          </a:xfrm>
          <a:prstGeom prst="rect">
            <a:avLst/>
          </a:prstGeom>
          <a:solidFill>
            <a:srgbClr val="2E946B"/>
          </a:solidFill>
          <a:ln/>
        </p:spPr>
      </p:sp>
      <p:sp>
        <p:nvSpPr>
          <p:cNvPr id="15" name="Text 12"/>
          <p:cNvSpPr/>
          <p:nvPr/>
        </p:nvSpPr>
        <p:spPr>
          <a:xfrm>
            <a:off x="7571232" y="1115568"/>
            <a:ext cx="4133088" cy="347472"/>
          </a:xfrm>
          <a:prstGeom prst="rect">
            <a:avLst/>
          </a:prstGeom>
          <a:noFill/>
          <a:ln/>
        </p:spPr>
        <p:txBody>
          <a:bodyPr wrap="square" rtlCol="0" anchor="ctr"/>
          <a:lstStyle/>
          <a:p>
            <a:pPr indent="0" marL="0">
              <a:buNone/>
            </a:pPr>
            <a:r>
              <a:rPr lang="en-US" sz="1500" b="1" dirty="0">
                <a:solidFill>
                  <a:srgbClr val="27333D"/>
                </a:solidFill>
                <a:latin typeface="Cambria" pitchFamily="34" charset="0"/>
                <a:ea typeface="Cambria" pitchFamily="34" charset="-122"/>
                <a:cs typeface="Cambria" pitchFamily="34" charset="-120"/>
              </a:rPr>
              <a:t>Resource Utilization</a:t>
            </a:r>
            <a:endParaRPr lang="en-US" sz="1500" dirty="0"/>
          </a:p>
        </p:txBody>
      </p:sp>
      <p:pic>
        <p:nvPicPr>
          <p:cNvPr id="16" name="Image 1" descr="figs/cell40_0.png">    </p:cNvPr>
          <p:cNvPicPr>
            <a:picLocks noChangeAspect="1"/>
          </p:cNvPicPr>
          <p:nvPr/>
        </p:nvPicPr>
        <p:blipFill>
          <a:blip r:embed="rId2"/>
          <a:stretch>
            <a:fillRect/>
          </a:stretch>
        </p:blipFill>
        <p:spPr>
          <a:xfrm>
            <a:off x="7406640" y="1508760"/>
            <a:ext cx="4251960" cy="1234440"/>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406640" y="2880360"/>
          <a:ext cx="4251960" cy="914400"/>
        </p:xfrm>
        <a:graphic>
          <a:graphicData uri="http://schemas.openxmlformats.org/drawingml/2006/table">
            <a:tbl>
              <a:tblPr/>
              <a:tblGrid>
                <a:gridCol w="914400"/>
                <a:gridCol w="1417320"/>
                <a:gridCol w="960120"/>
                <a:gridCol w="960120"/>
              </a:tblGrid>
              <a:tr h="292608">
                <a:tc>
                  <a:txBody>
                    <a:bodyPr/>
                    <a:lstStyle/>
                    <a:p>
                      <a:pPr algn="ctr" indent="0" marL="0">
                        <a:buNone/>
                      </a:pPr>
                      <a:r>
                        <a:rPr lang="en-US" sz="900" b="1" dirty="0">
                          <a:solidFill>
                            <a:srgbClr val="FFFFFF"/>
                          </a:solidFill>
                        </a:rPr>
                        <a:t>Season</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E946B"/>
                    </a:solidFill>
                  </a:tcPr>
                </a:tc>
                <a:tc>
                  <a:txBody>
                    <a:bodyPr/>
                    <a:lstStyle/>
                    <a:p>
                      <a:pPr algn="ctr" indent="0" marL="0">
                        <a:buNone/>
                      </a:pPr>
                      <a:r>
                        <a:rPr lang="en-US" sz="900" b="1" dirty="0">
                          <a:solidFill>
                            <a:srgbClr val="FFFFFF"/>
                          </a:solidFill>
                        </a:rPr>
                        <a:t>Water Used (m³)</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E946B"/>
                    </a:solidFill>
                  </a:tcPr>
                </a:tc>
                <a:tc>
                  <a:txBody>
                    <a:bodyPr/>
                    <a:lstStyle/>
                    <a:p>
                      <a:pPr algn="ctr" indent="0" marL="0">
                        <a:buNone/>
                      </a:pPr>
                      <a:r>
                        <a:rPr lang="en-US" sz="900" b="1" dirty="0">
                          <a:solidFill>
                            <a:srgbClr val="FFFFFF"/>
                          </a:solidFill>
                        </a:rPr>
                        <a:t>Water Eff.</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E946B"/>
                    </a:solidFill>
                  </a:tcPr>
                </a:tc>
                <a:tc>
                  <a:txBody>
                    <a:bodyPr/>
                    <a:lstStyle/>
                    <a:p>
                      <a:pPr algn="ctr" indent="0" marL="0">
                        <a:buNone/>
                      </a:pPr>
                      <a:r>
                        <a:rPr lang="en-US" sz="900" b="1" dirty="0">
                          <a:solidFill>
                            <a:srgbClr val="FFFFFF"/>
                          </a:solidFill>
                        </a:rPr>
                        <a:t>Fertilizer</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E946B"/>
                    </a:solidFill>
                  </a:tcPr>
                </a:tc>
              </a:tr>
              <a:tr h="292608">
                <a:tc>
                  <a:txBody>
                    <a:bodyPr/>
                    <a:lstStyle/>
                    <a:p>
                      <a:pPr algn="ctr" indent="0" marL="0">
                        <a:buNone/>
                      </a:pPr>
                      <a:r>
                        <a:rPr lang="en-US" sz="900" dirty="0">
                          <a:solidFill>
                            <a:srgbClr val="27333D"/>
                          </a:solidFill>
                        </a:rPr>
                        <a:t>Kharif</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7333D"/>
                          </a:solidFill>
                        </a:rPr>
                        <a:t>6,102</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7333D"/>
                          </a:solidFill>
                        </a:rPr>
                        <a:t>5.89</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7333D"/>
                          </a:solidFill>
                        </a:rPr>
                        <a:t>187.1</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292608">
                <a:tc>
                  <a:txBody>
                    <a:bodyPr/>
                    <a:lstStyle/>
                    <a:p>
                      <a:pPr algn="ctr" indent="0" marL="0">
                        <a:buNone/>
                      </a:pPr>
                      <a:r>
                        <a:rPr lang="en-US" sz="900" dirty="0">
                          <a:solidFill>
                            <a:srgbClr val="27333D"/>
                          </a:solidFill>
                        </a:rPr>
                        <a:t>Rabi</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900" dirty="0">
                          <a:solidFill>
                            <a:srgbClr val="27333D"/>
                          </a:solidFill>
                        </a:rPr>
                        <a:t>5,847</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900" dirty="0">
                          <a:solidFill>
                            <a:srgbClr val="27333D"/>
                          </a:solidFill>
                        </a:rPr>
                        <a:t>5.19</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900" dirty="0">
                          <a:solidFill>
                            <a:srgbClr val="27333D"/>
                          </a:solidFill>
                        </a:rPr>
                        <a:t>185.4</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r>
              <a:tr h="292608">
                <a:tc>
                  <a:txBody>
                    <a:bodyPr/>
                    <a:lstStyle/>
                    <a:p>
                      <a:pPr algn="ctr" indent="0" marL="0">
                        <a:buNone/>
                      </a:pPr>
                      <a:r>
                        <a:rPr lang="en-US" sz="900" dirty="0">
                          <a:solidFill>
                            <a:srgbClr val="27333D"/>
                          </a:solidFill>
                        </a:rPr>
                        <a:t>Zaid</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7333D"/>
                          </a:solidFill>
                        </a:rPr>
                        <a:t>6,420</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7333D"/>
                          </a:solidFill>
                        </a:rPr>
                        <a:t>4.41</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7333D"/>
                          </a:solidFill>
                        </a:rPr>
                        <a:t>184.6</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bl>
          </a:graphicData>
        </a:graphic>
      </p:graphicFrame>
      <p:sp>
        <p:nvSpPr>
          <p:cNvPr id="18" name="Shape 13"/>
          <p:cNvSpPr/>
          <p:nvPr/>
        </p:nvSpPr>
        <p:spPr>
          <a:xfrm>
            <a:off x="7406640" y="4251960"/>
            <a:ext cx="4251960" cy="1874520"/>
          </a:xfrm>
          <a:prstGeom prst="roundRect">
            <a:avLst>
              <a:gd name="adj" fmla="val 3902"/>
            </a:avLst>
          </a:prstGeom>
          <a:solidFill>
            <a:srgbClr val="E07B1A">
              <a:alpha val="10000"/>
            </a:srgbClr>
          </a:solidFill>
          <a:ln w="12700">
            <a:solidFill>
              <a:srgbClr val="E07B1A"/>
            </a:solidFill>
            <a:prstDash val="solid"/>
          </a:ln>
        </p:spPr>
      </p:sp>
      <p:sp>
        <p:nvSpPr>
          <p:cNvPr id="19" name="Text 14"/>
          <p:cNvSpPr/>
          <p:nvPr/>
        </p:nvSpPr>
        <p:spPr>
          <a:xfrm>
            <a:off x="7543800" y="4325112"/>
            <a:ext cx="3977640" cy="1728216"/>
          </a:xfrm>
          <a:prstGeom prst="rect">
            <a:avLst/>
          </a:prstGeom>
          <a:noFill/>
          <a:ln/>
        </p:spPr>
        <p:txBody>
          <a:bodyPr wrap="square" rtlCol="0" anchor="t"/>
          <a:lstStyle/>
          <a:p>
            <a:pPr indent="0" marL="0">
              <a:lnSpc>
                <a:spcPct val="105000"/>
              </a:lnSpc>
              <a:buNone/>
            </a:pPr>
            <a:r>
              <a:rPr lang="en-US" sz="1200" b="1" dirty="0">
                <a:solidFill>
                  <a:srgbClr val="E07B1A"/>
                </a:solidFill>
                <a:latin typeface="Calibri" pitchFamily="34" charset="0"/>
                <a:ea typeface="Calibri" pitchFamily="34" charset="-122"/>
                <a:cs typeface="Calibri" pitchFamily="34" charset="-120"/>
              </a:rPr>
              <a:t>Resource &amp; Climate Insight
</a:t>
            </a:r>
            <a:pPr indent="0" marL="0">
              <a:lnSpc>
                <a:spcPct val="105000"/>
              </a:lnSpc>
              <a:buNone/>
            </a:pPr>
            <a:r>
              <a:rPr lang="en-US" sz="1150" dirty="0">
                <a:solidFill>
                  <a:srgbClr val="27333D"/>
                </a:solidFill>
                <a:latin typeface="Calibri" pitchFamily="34" charset="0"/>
                <a:ea typeface="Calibri" pitchFamily="34" charset="-122"/>
                <a:cs typeface="Calibri" pitchFamily="34" charset="-120"/>
              </a:rPr>
              <a:t>Zaid uses the most water on average yet achieves the lowest water-use efficiency, while Kharif uses comparatively less water for the highest efficiency — pointing to climate rather than irrigation-method mix as the likely driver.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CFE3ED"/>
          </a:solidFill>
          <a:ln/>
        </p:spPr>
      </p:sp>
      <p:sp>
        <p:nvSpPr>
          <p:cNvPr id="3" name="Shape 1"/>
          <p:cNvSpPr/>
          <p:nvPr/>
        </p:nvSpPr>
        <p:spPr>
          <a:xfrm rot="2700000">
            <a:off x="10362895" y="5029200"/>
            <a:ext cx="3291840" cy="3291840"/>
          </a:xfrm>
          <a:prstGeom prst="rect">
            <a:avLst/>
          </a:prstGeom>
          <a:solidFill>
            <a:srgbClr val="BFE3DE"/>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Text 4"/>
          <p:cNvSpPr/>
          <p:nvPr/>
        </p:nvSpPr>
        <p:spPr>
          <a:xfrm>
            <a:off x="502920" y="320040"/>
            <a:ext cx="11185855" cy="640080"/>
          </a:xfrm>
          <a:prstGeom prst="rect">
            <a:avLst/>
          </a:prstGeom>
          <a:noFill/>
          <a:ln/>
        </p:spPr>
        <p:txBody>
          <a:bodyPr wrap="square" rtlCol="0" anchor="ctr"/>
          <a:lstStyle/>
          <a:p>
            <a:pPr indent="0" marL="0">
              <a:buNone/>
            </a:pPr>
            <a:r>
              <a:rPr lang="en-US" sz="3000" b="1" dirty="0">
                <a:solidFill>
                  <a:srgbClr val="1B5E86"/>
                </a:solidFill>
                <a:latin typeface="Cambria" pitchFamily="34" charset="0"/>
                <a:ea typeface="Cambria" pitchFamily="34" charset="-122"/>
                <a:cs typeface="Cambria" pitchFamily="34" charset="-120"/>
              </a:rPr>
              <a:t>Results: Economic Performance</a:t>
            </a:r>
            <a:endParaRPr lang="en-US" sz="3000" dirty="0"/>
          </a:p>
        </p:txBody>
      </p:sp>
      <p:sp>
        <p:nvSpPr>
          <p:cNvPr id="7" name="Shape 5"/>
          <p:cNvSpPr/>
          <p:nvPr/>
        </p:nvSpPr>
        <p:spPr>
          <a:xfrm>
            <a:off x="530352" y="960120"/>
            <a:ext cx="1188720" cy="41148"/>
          </a:xfrm>
          <a:prstGeom prst="rect">
            <a:avLst/>
          </a:prstGeom>
          <a:solidFill>
            <a:srgbClr val="E07B1A"/>
          </a:solidFill>
          <a:ln/>
        </p:spPr>
      </p:sp>
      <p:sp>
        <p:nvSpPr>
          <p:cNvPr id="8" name="Text 6"/>
          <p:cNvSpPr/>
          <p:nvPr/>
        </p:nvSpPr>
        <p:spPr>
          <a:xfrm>
            <a:off x="365760" y="6528816"/>
            <a:ext cx="6400800" cy="274320"/>
          </a:xfrm>
          <a:prstGeom prst="rect">
            <a:avLst/>
          </a:prstGeom>
          <a:noFill/>
          <a:ln/>
        </p:spPr>
        <p:txBody>
          <a:bodyPr wrap="square" rtlCol="0" anchor="ctr"/>
          <a:lstStyle/>
          <a:p>
            <a:pPr indent="0" marL="0">
              <a:buNone/>
            </a:pPr>
            <a:r>
              <a:rPr lang="en-US" sz="900" i="1" dirty="0">
                <a:solidFill>
                  <a:srgbClr val="5B6B76"/>
                </a:solidFill>
                <a:latin typeface="Calibri" pitchFamily="34" charset="0"/>
                <a:ea typeface="Calibri" pitchFamily="34" charset="-122"/>
                <a:cs typeface="Calibri" pitchFamily="34" charset="-120"/>
              </a:rPr>
              <a:t>Results — Economic Performance</a:t>
            </a:r>
            <a:endParaRPr lang="en-US" sz="900" dirty="0"/>
          </a:p>
        </p:txBody>
      </p:sp>
      <p:sp>
        <p:nvSpPr>
          <p:cNvPr id="9" name="Text 7"/>
          <p:cNvSpPr/>
          <p:nvPr/>
        </p:nvSpPr>
        <p:spPr>
          <a:xfrm>
            <a:off x="11551615" y="6528816"/>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8</a:t>
            </a:r>
            <a:endParaRPr lang="en-US" sz="900" dirty="0"/>
          </a:p>
        </p:txBody>
      </p:sp>
      <p:pic>
        <p:nvPicPr>
          <p:cNvPr id="10" name="Image 0" descr="figs/cell44_0.png">    </p:cNvPr>
          <p:cNvPicPr>
            <a:picLocks noChangeAspect="1"/>
          </p:cNvPicPr>
          <p:nvPr/>
        </p:nvPicPr>
        <p:blipFill>
          <a:blip r:embed="rId1"/>
          <a:stretch>
            <a:fillRect/>
          </a:stretch>
        </p:blipFill>
        <p:spPr>
          <a:xfrm>
            <a:off x="457200" y="1143000"/>
            <a:ext cx="7406640" cy="2057400"/>
          </a:xfrm>
          <a:prstGeom prst="rect">
            <a:avLst/>
          </a:prstGeom>
        </p:spPr>
      </p:pic>
      <p:sp>
        <p:nvSpPr>
          <p:cNvPr id="11" name="Text 8"/>
          <p:cNvSpPr/>
          <p:nvPr/>
        </p:nvSpPr>
        <p:spPr>
          <a:xfrm>
            <a:off x="457200" y="3291840"/>
            <a:ext cx="7406640" cy="533400"/>
          </a:xfrm>
          <a:prstGeom prst="rect">
            <a:avLst/>
          </a:prstGeom>
          <a:noFill/>
          <a:ln/>
        </p:spPr>
        <p:txBody>
          <a:bodyPr wrap="square" rtlCol="0" anchor="t"/>
          <a:lstStyle/>
          <a:p>
            <a:pPr indent="0" marL="0">
              <a:lnSpc>
                <a:spcPct val="102000"/>
              </a:lnSpc>
              <a:buNone/>
            </a:pPr>
            <a:r>
              <a:rPr lang="en-US" sz="1100" b="1" dirty="0">
                <a:solidFill>
                  <a:srgbClr val="1B5E86"/>
                </a:solidFill>
                <a:latin typeface="Calibri" pitchFamily="34" charset="0"/>
                <a:ea typeface="Calibri" pitchFamily="34" charset="-122"/>
                <a:cs typeface="Calibri" pitchFamily="34" charset="-120"/>
              </a:rPr>
              <a:t>What it represents:  </a:t>
            </a:r>
            <a:pPr indent="0" marL="0">
              <a:lnSpc>
                <a:spcPct val="102000"/>
              </a:lnSpc>
              <a:buNone/>
            </a:pPr>
            <a:r>
              <a:rPr lang="en-US" sz="1100" dirty="0">
                <a:solidFill>
                  <a:srgbClr val="27333D"/>
                </a:solidFill>
                <a:latin typeface="Calibri" pitchFamily="34" charset="0"/>
                <a:ea typeface="Calibri" pitchFamily="34" charset="-122"/>
                <a:cs typeface="Calibri" pitchFamily="34" charset="-120"/>
              </a:rPr>
              <a:t>Mean revenue vs. cost, mean profit, and the spread of profit by season.</a:t>
            </a:r>
            <a:endParaRPr lang="en-US" sz="1100" dirty="0"/>
          </a:p>
        </p:txBody>
      </p:sp>
      <p:sp>
        <p:nvSpPr>
          <p:cNvPr id="12" name="Text 9"/>
          <p:cNvSpPr/>
          <p:nvPr/>
        </p:nvSpPr>
        <p:spPr>
          <a:xfrm>
            <a:off x="457200" y="3825240"/>
            <a:ext cx="7406640" cy="533400"/>
          </a:xfrm>
          <a:prstGeom prst="rect">
            <a:avLst/>
          </a:prstGeom>
          <a:noFill/>
          <a:ln/>
        </p:spPr>
        <p:txBody>
          <a:bodyPr wrap="square" rtlCol="0" anchor="t"/>
          <a:lstStyle/>
          <a:p>
            <a:pPr indent="0" marL="0">
              <a:lnSpc>
                <a:spcPct val="102000"/>
              </a:lnSpc>
              <a:buNone/>
            </a:pPr>
            <a:r>
              <a:rPr lang="en-US" sz="1100" b="1" dirty="0">
                <a:solidFill>
                  <a:srgbClr val="2E946B"/>
                </a:solidFill>
                <a:latin typeface="Calibri" pitchFamily="34" charset="0"/>
                <a:ea typeface="Calibri" pitchFamily="34" charset="-122"/>
                <a:cs typeface="Calibri" pitchFamily="34" charset="-120"/>
              </a:rPr>
              <a:t>Observation:  </a:t>
            </a:r>
            <a:pPr indent="0" marL="0">
              <a:lnSpc>
                <a:spcPct val="102000"/>
              </a:lnSpc>
              <a:buNone/>
            </a:pPr>
            <a:r>
              <a:rPr lang="en-US" sz="1100" dirty="0">
                <a:solidFill>
                  <a:srgbClr val="27333D"/>
                </a:solidFill>
                <a:latin typeface="Calibri" pitchFamily="34" charset="0"/>
                <a:ea typeface="Calibri" pitchFamily="34" charset="-122"/>
                <a:cs typeface="Calibri" pitchFamily="34" charset="-120"/>
              </a:rPr>
              <a:t>Mean revenue declines steadily from Kharif to Rabi to Zaid, while mean cost stays fairly flat (slightly higher in Zaid) — so mean profit is strongly positive in Kharif, modest in Rabi, and negative in Zaid.</a:t>
            </a:r>
            <a:endParaRPr lang="en-US" sz="1100" dirty="0"/>
          </a:p>
        </p:txBody>
      </p:sp>
      <p:sp>
        <p:nvSpPr>
          <p:cNvPr id="13" name="Text 10"/>
          <p:cNvSpPr/>
          <p:nvPr/>
        </p:nvSpPr>
        <p:spPr>
          <a:xfrm>
            <a:off x="457200" y="4358640"/>
            <a:ext cx="7406640" cy="533400"/>
          </a:xfrm>
          <a:prstGeom prst="rect">
            <a:avLst/>
          </a:prstGeom>
          <a:noFill/>
          <a:ln/>
        </p:spPr>
        <p:txBody>
          <a:bodyPr wrap="square" rtlCol="0" anchor="t"/>
          <a:lstStyle/>
          <a:p>
            <a:pPr indent="0" marL="0">
              <a:lnSpc>
                <a:spcPct val="102000"/>
              </a:lnSpc>
              <a:buNone/>
            </a:pPr>
            <a:r>
              <a:rPr lang="en-US" sz="1100" b="1" dirty="0">
                <a:solidFill>
                  <a:srgbClr val="E07B1A"/>
                </a:solidFill>
                <a:latin typeface="Calibri" pitchFamily="34" charset="0"/>
                <a:ea typeface="Calibri" pitchFamily="34" charset="-122"/>
                <a:cs typeface="Calibri" pitchFamily="34" charset="-120"/>
              </a:rPr>
              <a:t>Agricultural Insight:  </a:t>
            </a:r>
            <a:pPr indent="0" marL="0">
              <a:lnSpc>
                <a:spcPct val="102000"/>
              </a:lnSpc>
              <a:buNone/>
            </a:pPr>
            <a:r>
              <a:rPr lang="en-US" sz="1100" dirty="0">
                <a:solidFill>
                  <a:srgbClr val="27333D"/>
                </a:solidFill>
                <a:latin typeface="Calibri" pitchFamily="34" charset="0"/>
                <a:ea typeface="Calibri" pitchFamily="34" charset="-122"/>
                <a:cs typeface="Calibri" pitchFamily="34" charset="-120"/>
              </a:rPr>
              <a:t>Since average market price is nearly identical across seasons (₹44,000–₹45,000/tonne), the profit gap is driven by output and cost — not by farmers receiving a lower price in weaker seasons.</a:t>
            </a:r>
            <a:endParaRPr lang="en-US" sz="1100" dirty="0"/>
          </a:p>
        </p:txBody>
      </p:sp>
      <p:sp>
        <p:nvSpPr>
          <p:cNvPr id="14" name="Shape 11"/>
          <p:cNvSpPr/>
          <p:nvPr/>
        </p:nvSpPr>
        <p:spPr>
          <a:xfrm>
            <a:off x="8092440" y="1143000"/>
            <a:ext cx="82296" cy="292608"/>
          </a:xfrm>
          <a:prstGeom prst="rect">
            <a:avLst/>
          </a:prstGeom>
          <a:solidFill>
            <a:srgbClr val="2E946B"/>
          </a:solidFill>
          <a:ln/>
        </p:spPr>
      </p:sp>
      <p:sp>
        <p:nvSpPr>
          <p:cNvPr id="15" name="Text 12"/>
          <p:cNvSpPr/>
          <p:nvPr/>
        </p:nvSpPr>
        <p:spPr>
          <a:xfrm>
            <a:off x="8257032" y="1115568"/>
            <a:ext cx="3493008" cy="347472"/>
          </a:xfrm>
          <a:prstGeom prst="rect">
            <a:avLst/>
          </a:prstGeom>
          <a:noFill/>
          <a:ln/>
        </p:spPr>
        <p:txBody>
          <a:bodyPr wrap="square" rtlCol="0" anchor="ctr"/>
          <a:lstStyle/>
          <a:p>
            <a:pPr indent="0" marL="0">
              <a:buNone/>
            </a:pPr>
            <a:r>
              <a:rPr lang="en-US" sz="1500" b="1" dirty="0">
                <a:solidFill>
                  <a:srgbClr val="27333D"/>
                </a:solidFill>
                <a:latin typeface="Cambria" pitchFamily="34" charset="0"/>
                <a:ea typeface="Cambria" pitchFamily="34" charset="-122"/>
                <a:cs typeface="Cambria" pitchFamily="34" charset="-120"/>
              </a:rPr>
              <a:t>Mean Economic Indicators (₹)</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092440" y="1508760"/>
          <a:ext cx="3611880" cy="914400"/>
        </p:xfrm>
        <a:graphic>
          <a:graphicData uri="http://schemas.openxmlformats.org/drawingml/2006/table">
            <a:tbl>
              <a:tblPr/>
              <a:tblGrid>
                <a:gridCol w="868680"/>
                <a:gridCol w="960120"/>
                <a:gridCol w="914400"/>
                <a:gridCol w="868680"/>
              </a:tblGrid>
              <a:tr h="310896">
                <a:tc>
                  <a:txBody>
                    <a:bodyPr/>
                    <a:lstStyle/>
                    <a:p>
                      <a:pPr algn="ctr" indent="0" marL="0">
                        <a:buNone/>
                      </a:pPr>
                      <a:r>
                        <a:rPr lang="en-US" sz="950" b="1" dirty="0">
                          <a:solidFill>
                            <a:srgbClr val="FFFFFF"/>
                          </a:solidFill>
                        </a:rPr>
                        <a:t>Season</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1B5E86"/>
                    </a:solidFill>
                  </a:tcPr>
                </a:tc>
                <a:tc>
                  <a:txBody>
                    <a:bodyPr/>
                    <a:lstStyle/>
                    <a:p>
                      <a:pPr algn="ctr" indent="0" marL="0">
                        <a:buNone/>
                      </a:pPr>
                      <a:r>
                        <a:rPr lang="en-US" sz="950" b="1" dirty="0">
                          <a:solidFill>
                            <a:srgbClr val="FFFFFF"/>
                          </a:solidFill>
                        </a:rPr>
                        <a:t>Revenue</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1B5E86"/>
                    </a:solidFill>
                  </a:tcPr>
                </a:tc>
                <a:tc>
                  <a:txBody>
                    <a:bodyPr/>
                    <a:lstStyle/>
                    <a:p>
                      <a:pPr algn="ctr" indent="0" marL="0">
                        <a:buNone/>
                      </a:pPr>
                      <a:r>
                        <a:rPr lang="en-US" sz="950" b="1" dirty="0">
                          <a:solidFill>
                            <a:srgbClr val="FFFFFF"/>
                          </a:solidFill>
                        </a:rPr>
                        <a:t>Cost</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1B5E86"/>
                    </a:solidFill>
                  </a:tcPr>
                </a:tc>
                <a:tc>
                  <a:txBody>
                    <a:bodyPr/>
                    <a:lstStyle/>
                    <a:p>
                      <a:pPr algn="ctr" indent="0" marL="0">
                        <a:buNone/>
                      </a:pPr>
                      <a:r>
                        <a:rPr lang="en-US" sz="950" b="1" dirty="0">
                          <a:solidFill>
                            <a:srgbClr val="FFFFFF"/>
                          </a:solidFill>
                        </a:rPr>
                        <a:t>Profit</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1B5E86"/>
                    </a:solidFill>
                  </a:tcPr>
                </a:tc>
              </a:tr>
              <a:tr h="310896">
                <a:tc>
                  <a:txBody>
                    <a:bodyPr/>
                    <a:lstStyle/>
                    <a:p>
                      <a:pPr algn="ctr" indent="0" marL="0">
                        <a:buNone/>
                      </a:pPr>
                      <a:r>
                        <a:rPr lang="en-US" sz="950" dirty="0">
                          <a:solidFill>
                            <a:srgbClr val="27333D"/>
                          </a:solidFill>
                        </a:rPr>
                        <a:t>Kharif</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7333D"/>
                          </a:solidFill>
                        </a:rPr>
                        <a:t>7,10,719</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7333D"/>
                          </a:solidFill>
                        </a:rPr>
                        <a:t>5,31,804</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7333D"/>
                          </a:solidFill>
                        </a:rPr>
                        <a:t>1,78,915</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310896">
                <a:tc>
                  <a:txBody>
                    <a:bodyPr/>
                    <a:lstStyle/>
                    <a:p>
                      <a:pPr algn="ctr" indent="0" marL="0">
                        <a:buNone/>
                      </a:pPr>
                      <a:r>
                        <a:rPr lang="en-US" sz="950" dirty="0">
                          <a:solidFill>
                            <a:srgbClr val="27333D"/>
                          </a:solidFill>
                        </a:rPr>
                        <a:t>Rabi</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950" dirty="0">
                          <a:solidFill>
                            <a:srgbClr val="27333D"/>
                          </a:solidFill>
                        </a:rPr>
                        <a:t>6,01,526</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950" dirty="0">
                          <a:solidFill>
                            <a:srgbClr val="27333D"/>
                          </a:solidFill>
                        </a:rPr>
                        <a:t>5,13,837</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950" dirty="0">
                          <a:solidFill>
                            <a:srgbClr val="27333D"/>
                          </a:solidFill>
                        </a:rPr>
                        <a:t>87,689</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r>
              <a:tr h="310896">
                <a:tc>
                  <a:txBody>
                    <a:bodyPr/>
                    <a:lstStyle/>
                    <a:p>
                      <a:pPr algn="ctr" indent="0" marL="0">
                        <a:buNone/>
                      </a:pPr>
                      <a:r>
                        <a:rPr lang="en-US" sz="950" dirty="0">
                          <a:solidFill>
                            <a:srgbClr val="27333D"/>
                          </a:solidFill>
                        </a:rPr>
                        <a:t>Zaid</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7333D"/>
                          </a:solidFill>
                        </a:rPr>
                        <a:t>5,19,172</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7333D"/>
                          </a:solidFill>
                        </a:rPr>
                        <a:t>5,43,977</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7333D"/>
                          </a:solidFill>
                        </a:rPr>
                        <a:t>–24,805</a:t>
                      </a:r>
                      <a:endParaRPr lang="en-US" sz="9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bl>
          </a:graphicData>
        </a:graphic>
      </p:graphicFrame>
      <p:sp>
        <p:nvSpPr>
          <p:cNvPr id="17" name="Text 13"/>
          <p:cNvSpPr/>
          <p:nvPr/>
        </p:nvSpPr>
        <p:spPr>
          <a:xfrm>
            <a:off x="8092440" y="3063240"/>
            <a:ext cx="3611880" cy="502920"/>
          </a:xfrm>
          <a:prstGeom prst="rect">
            <a:avLst/>
          </a:prstGeom>
          <a:noFill/>
          <a:ln/>
        </p:spPr>
        <p:txBody>
          <a:bodyPr wrap="square" rtlCol="0" anchor="t"/>
          <a:lstStyle/>
          <a:p>
            <a:pPr indent="0" marL="0">
              <a:buNone/>
            </a:pPr>
            <a:r>
              <a:rPr lang="en-US" sz="950" i="1" dirty="0">
                <a:solidFill>
                  <a:srgbClr val="5B6B76"/>
                </a:solidFill>
                <a:latin typeface="Calibri" pitchFamily="34" charset="0"/>
                <a:ea typeface="Calibri" pitchFamily="34" charset="-122"/>
                <a:cs typeface="Calibri" pitchFamily="34" charset="-120"/>
              </a:rPr>
              <a:t>Median Profit (₹):  Kharif 38,808   |   Rabi –3,187   |   Zaid –62,144</a:t>
            </a:r>
            <a:endParaRPr lang="en-US" sz="950" dirty="0"/>
          </a:p>
        </p:txBody>
      </p:sp>
      <p:sp>
        <p:nvSpPr>
          <p:cNvPr id="18" name="Shape 14"/>
          <p:cNvSpPr/>
          <p:nvPr/>
        </p:nvSpPr>
        <p:spPr>
          <a:xfrm>
            <a:off x="8092440" y="3657600"/>
            <a:ext cx="3611880" cy="1737360"/>
          </a:xfrm>
          <a:prstGeom prst="roundRect">
            <a:avLst>
              <a:gd name="adj" fmla="val 4211"/>
            </a:avLst>
          </a:prstGeom>
          <a:solidFill>
            <a:srgbClr val="E07B1A">
              <a:alpha val="10000"/>
            </a:srgbClr>
          </a:solidFill>
          <a:ln w="12700">
            <a:solidFill>
              <a:srgbClr val="E07B1A"/>
            </a:solidFill>
            <a:prstDash val="solid"/>
          </a:ln>
        </p:spPr>
      </p:sp>
      <p:sp>
        <p:nvSpPr>
          <p:cNvPr id="19" name="Text 15"/>
          <p:cNvSpPr/>
          <p:nvPr/>
        </p:nvSpPr>
        <p:spPr>
          <a:xfrm>
            <a:off x="8229600" y="3730752"/>
            <a:ext cx="3337560" cy="1591056"/>
          </a:xfrm>
          <a:prstGeom prst="rect">
            <a:avLst/>
          </a:prstGeom>
          <a:noFill/>
          <a:ln/>
        </p:spPr>
        <p:txBody>
          <a:bodyPr wrap="square" rtlCol="0" anchor="t"/>
          <a:lstStyle/>
          <a:p>
            <a:pPr indent="0" marL="0">
              <a:lnSpc>
                <a:spcPct val="105000"/>
              </a:lnSpc>
              <a:buNone/>
            </a:pPr>
            <a:r>
              <a:rPr lang="en-US" sz="1200" b="1" dirty="0">
                <a:solidFill>
                  <a:srgbClr val="E07B1A"/>
                </a:solidFill>
                <a:latin typeface="Calibri" pitchFamily="34" charset="0"/>
                <a:ea typeface="Calibri" pitchFamily="34" charset="-122"/>
                <a:cs typeface="Calibri" pitchFamily="34" charset="-120"/>
              </a:rPr>
              <a:t>Economic Insight
</a:t>
            </a:r>
            <a:pPr indent="0" marL="0">
              <a:lnSpc>
                <a:spcPct val="105000"/>
              </a:lnSpc>
              <a:buNone/>
            </a:pPr>
            <a:r>
              <a:rPr lang="en-US" sz="1150" dirty="0">
                <a:solidFill>
                  <a:srgbClr val="27333D"/>
                </a:solidFill>
                <a:latin typeface="Calibri" pitchFamily="34" charset="0"/>
                <a:ea typeface="Calibri" pitchFamily="34" charset="-122"/>
                <a:cs typeface="Calibri" pitchFamily="34" charset="-120"/>
              </a:rPr>
              <a:t>Seasonal profitability is influenced not only by market price but also by production/revenue levels and costs; Zaid-season farms show a negative average profit in this dataset.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CFE3ED"/>
          </a:solidFill>
          <a:ln/>
        </p:spPr>
      </p:sp>
      <p:sp>
        <p:nvSpPr>
          <p:cNvPr id="3" name="Shape 1"/>
          <p:cNvSpPr/>
          <p:nvPr/>
        </p:nvSpPr>
        <p:spPr>
          <a:xfrm rot="2700000">
            <a:off x="10362895" y="5029200"/>
            <a:ext cx="3291840" cy="3291840"/>
          </a:xfrm>
          <a:prstGeom prst="rect">
            <a:avLst/>
          </a:prstGeom>
          <a:solidFill>
            <a:srgbClr val="BFE3DE"/>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Text 4"/>
          <p:cNvSpPr/>
          <p:nvPr/>
        </p:nvSpPr>
        <p:spPr>
          <a:xfrm>
            <a:off x="502920" y="320040"/>
            <a:ext cx="11185855" cy="640080"/>
          </a:xfrm>
          <a:prstGeom prst="rect">
            <a:avLst/>
          </a:prstGeom>
          <a:noFill/>
          <a:ln/>
        </p:spPr>
        <p:txBody>
          <a:bodyPr wrap="square" rtlCol="0" anchor="ctr"/>
          <a:lstStyle/>
          <a:p>
            <a:pPr indent="0" marL="0">
              <a:buNone/>
            </a:pPr>
            <a:r>
              <a:rPr lang="en-US" sz="3000" b="1" dirty="0">
                <a:solidFill>
                  <a:srgbClr val="1B5E86"/>
                </a:solidFill>
                <a:latin typeface="Cambria" pitchFamily="34" charset="0"/>
                <a:ea typeface="Cambria" pitchFamily="34" charset="-122"/>
                <a:cs typeface="Cambria" pitchFamily="34" charset="-120"/>
              </a:rPr>
              <a:t>Results: Regional &amp; Crop Analysis</a:t>
            </a:r>
            <a:endParaRPr lang="en-US" sz="3000" dirty="0"/>
          </a:p>
        </p:txBody>
      </p:sp>
      <p:sp>
        <p:nvSpPr>
          <p:cNvPr id="7" name="Shape 5"/>
          <p:cNvSpPr/>
          <p:nvPr/>
        </p:nvSpPr>
        <p:spPr>
          <a:xfrm>
            <a:off x="530352" y="960120"/>
            <a:ext cx="1188720" cy="41148"/>
          </a:xfrm>
          <a:prstGeom prst="rect">
            <a:avLst/>
          </a:prstGeom>
          <a:solidFill>
            <a:srgbClr val="E07B1A"/>
          </a:solidFill>
          <a:ln/>
        </p:spPr>
      </p:sp>
      <p:sp>
        <p:nvSpPr>
          <p:cNvPr id="8" name="Text 6"/>
          <p:cNvSpPr/>
          <p:nvPr/>
        </p:nvSpPr>
        <p:spPr>
          <a:xfrm>
            <a:off x="365760" y="6528816"/>
            <a:ext cx="6400800" cy="274320"/>
          </a:xfrm>
          <a:prstGeom prst="rect">
            <a:avLst/>
          </a:prstGeom>
          <a:noFill/>
          <a:ln/>
        </p:spPr>
        <p:txBody>
          <a:bodyPr wrap="square" rtlCol="0" anchor="ctr"/>
          <a:lstStyle/>
          <a:p>
            <a:pPr indent="0" marL="0">
              <a:buNone/>
            </a:pPr>
            <a:r>
              <a:rPr lang="en-US" sz="900" i="1" dirty="0">
                <a:solidFill>
                  <a:srgbClr val="5B6B76"/>
                </a:solidFill>
                <a:latin typeface="Calibri" pitchFamily="34" charset="0"/>
                <a:ea typeface="Calibri" pitchFamily="34" charset="-122"/>
                <a:cs typeface="Calibri" pitchFamily="34" charset="-120"/>
              </a:rPr>
              <a:t>Results — Regional &amp; Crop Analysis</a:t>
            </a:r>
            <a:endParaRPr lang="en-US" sz="900" dirty="0"/>
          </a:p>
        </p:txBody>
      </p:sp>
      <p:sp>
        <p:nvSpPr>
          <p:cNvPr id="9" name="Text 7"/>
          <p:cNvSpPr/>
          <p:nvPr/>
        </p:nvSpPr>
        <p:spPr>
          <a:xfrm>
            <a:off x="11551615" y="6528816"/>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9</a:t>
            </a:r>
            <a:endParaRPr lang="en-US" sz="900" dirty="0"/>
          </a:p>
        </p:txBody>
      </p:sp>
      <p:pic>
        <p:nvPicPr>
          <p:cNvPr id="10" name="Image 0" descr="figs/cell48_0.png">    </p:cNvPr>
          <p:cNvPicPr>
            <a:picLocks noChangeAspect="1"/>
          </p:cNvPicPr>
          <p:nvPr/>
        </p:nvPicPr>
        <p:blipFill>
          <a:blip r:embed="rId1"/>
          <a:stretch>
            <a:fillRect/>
          </a:stretch>
        </p:blipFill>
        <p:spPr>
          <a:xfrm>
            <a:off x="457200" y="1143000"/>
            <a:ext cx="5989320" cy="3383280"/>
          </a:xfrm>
          <a:prstGeom prst="rect">
            <a:avLst/>
          </a:prstGeom>
        </p:spPr>
      </p:pic>
      <p:sp>
        <p:nvSpPr>
          <p:cNvPr id="11" name="Text 8"/>
          <p:cNvSpPr/>
          <p:nvPr/>
        </p:nvSpPr>
        <p:spPr>
          <a:xfrm>
            <a:off x="457200" y="4617720"/>
            <a:ext cx="5989320" cy="472440"/>
          </a:xfrm>
          <a:prstGeom prst="rect">
            <a:avLst/>
          </a:prstGeom>
          <a:noFill/>
          <a:ln/>
        </p:spPr>
        <p:txBody>
          <a:bodyPr wrap="square" rtlCol="0" anchor="t"/>
          <a:lstStyle/>
          <a:p>
            <a:pPr indent="0" marL="0">
              <a:lnSpc>
                <a:spcPct val="102000"/>
              </a:lnSpc>
              <a:buNone/>
            </a:pPr>
            <a:r>
              <a:rPr lang="en-US" sz="1100" b="1" dirty="0">
                <a:solidFill>
                  <a:srgbClr val="1B5E86"/>
                </a:solidFill>
                <a:latin typeface="Calibri" pitchFamily="34" charset="0"/>
                <a:ea typeface="Calibri" pitchFamily="34" charset="-122"/>
                <a:cs typeface="Calibri" pitchFamily="34" charset="-120"/>
              </a:rPr>
              <a:t>What it represents:  </a:t>
            </a:r>
            <a:pPr indent="0" marL="0">
              <a:lnSpc>
                <a:spcPct val="102000"/>
              </a:lnSpc>
              <a:buNone/>
            </a:pPr>
            <a:r>
              <a:rPr lang="en-US" sz="1100" dirty="0">
                <a:solidFill>
                  <a:srgbClr val="27333D"/>
                </a:solidFill>
                <a:latin typeface="Calibri" pitchFamily="34" charset="0"/>
                <a:ea typeface="Calibri" pitchFamily="34" charset="-122"/>
                <a:cs typeface="Calibri" pitchFamily="34" charset="-120"/>
              </a:rPr>
              <a:t>Mean profit (₹) broken down by State and Season.</a:t>
            </a:r>
            <a:endParaRPr lang="en-US" sz="1100" dirty="0"/>
          </a:p>
        </p:txBody>
      </p:sp>
      <p:sp>
        <p:nvSpPr>
          <p:cNvPr id="12" name="Text 9"/>
          <p:cNvSpPr/>
          <p:nvPr/>
        </p:nvSpPr>
        <p:spPr>
          <a:xfrm>
            <a:off x="457200" y="5090160"/>
            <a:ext cx="5989320" cy="472440"/>
          </a:xfrm>
          <a:prstGeom prst="rect">
            <a:avLst/>
          </a:prstGeom>
          <a:noFill/>
          <a:ln/>
        </p:spPr>
        <p:txBody>
          <a:bodyPr wrap="square" rtlCol="0" anchor="t"/>
          <a:lstStyle/>
          <a:p>
            <a:pPr indent="0" marL="0">
              <a:lnSpc>
                <a:spcPct val="102000"/>
              </a:lnSpc>
              <a:buNone/>
            </a:pPr>
            <a:r>
              <a:rPr lang="en-US" sz="1100" b="1" dirty="0">
                <a:solidFill>
                  <a:srgbClr val="2E946B"/>
                </a:solidFill>
                <a:latin typeface="Calibri" pitchFamily="34" charset="0"/>
                <a:ea typeface="Calibri" pitchFamily="34" charset="-122"/>
                <a:cs typeface="Calibri" pitchFamily="34" charset="-120"/>
              </a:rPr>
              <a:t>Observation:  </a:t>
            </a:r>
            <a:pPr indent="0" marL="0">
              <a:lnSpc>
                <a:spcPct val="102000"/>
              </a:lnSpc>
              <a:buNone/>
            </a:pPr>
            <a:r>
              <a:rPr lang="en-US" sz="1100" dirty="0">
                <a:solidFill>
                  <a:srgbClr val="27333D"/>
                </a:solidFill>
                <a:latin typeface="Calibri" pitchFamily="34" charset="0"/>
                <a:ea typeface="Calibri" pitchFamily="34" charset="-122"/>
                <a:cs typeface="Calibri" pitchFamily="34" charset="-120"/>
              </a:rPr>
              <a:t>Kharif is the most profitable season in 7 of 8 states, and Zaid is the least profitable season in all 8 states.</a:t>
            </a:r>
            <a:endParaRPr lang="en-US" sz="1100" dirty="0"/>
          </a:p>
        </p:txBody>
      </p:sp>
      <p:sp>
        <p:nvSpPr>
          <p:cNvPr id="13" name="Text 10"/>
          <p:cNvSpPr/>
          <p:nvPr/>
        </p:nvSpPr>
        <p:spPr>
          <a:xfrm>
            <a:off x="457200" y="5562600"/>
            <a:ext cx="5989320" cy="472440"/>
          </a:xfrm>
          <a:prstGeom prst="rect">
            <a:avLst/>
          </a:prstGeom>
          <a:noFill/>
          <a:ln/>
        </p:spPr>
        <p:txBody>
          <a:bodyPr wrap="square" rtlCol="0" anchor="t"/>
          <a:lstStyle/>
          <a:p>
            <a:pPr indent="0" marL="0">
              <a:lnSpc>
                <a:spcPct val="102000"/>
              </a:lnSpc>
              <a:buNone/>
            </a:pPr>
            <a:r>
              <a:rPr lang="en-US" sz="1100" b="1" dirty="0">
                <a:solidFill>
                  <a:srgbClr val="E07B1A"/>
                </a:solidFill>
                <a:latin typeface="Calibri" pitchFamily="34" charset="0"/>
                <a:ea typeface="Calibri" pitchFamily="34" charset="-122"/>
                <a:cs typeface="Calibri" pitchFamily="34" charset="-120"/>
              </a:rPr>
              <a:t>Agricultural Insight:  </a:t>
            </a:r>
            <a:pPr indent="0" marL="0">
              <a:lnSpc>
                <a:spcPct val="102000"/>
              </a:lnSpc>
              <a:buNone/>
            </a:pPr>
            <a:r>
              <a:rPr lang="en-US" sz="1100" dirty="0">
                <a:solidFill>
                  <a:srgbClr val="27333D"/>
                </a:solidFill>
                <a:latin typeface="Calibri" pitchFamily="34" charset="0"/>
                <a:ea typeface="Calibri" pitchFamily="34" charset="-122"/>
                <a:cs typeface="Calibri" pitchFamily="34" charset="-120"/>
              </a:rPr>
              <a:t>The Kharif-strong / Zaid-weak pattern is a broad, cross-state effect rather than an artifact of one or two large states.</a:t>
            </a:r>
            <a:endParaRPr lang="en-US" sz="1100" dirty="0"/>
          </a:p>
        </p:txBody>
      </p:sp>
      <p:sp>
        <p:nvSpPr>
          <p:cNvPr id="14" name="Shape 11"/>
          <p:cNvSpPr/>
          <p:nvPr/>
        </p:nvSpPr>
        <p:spPr>
          <a:xfrm>
            <a:off x="6720840" y="1143000"/>
            <a:ext cx="82296" cy="292608"/>
          </a:xfrm>
          <a:prstGeom prst="rect">
            <a:avLst/>
          </a:prstGeom>
          <a:solidFill>
            <a:srgbClr val="2E946B"/>
          </a:solidFill>
          <a:ln/>
        </p:spPr>
      </p:sp>
      <p:sp>
        <p:nvSpPr>
          <p:cNvPr id="15" name="Text 12"/>
          <p:cNvSpPr/>
          <p:nvPr/>
        </p:nvSpPr>
        <p:spPr>
          <a:xfrm>
            <a:off x="6885432" y="1115568"/>
            <a:ext cx="4773168" cy="347472"/>
          </a:xfrm>
          <a:prstGeom prst="rect">
            <a:avLst/>
          </a:prstGeom>
          <a:noFill/>
          <a:ln/>
        </p:spPr>
        <p:txBody>
          <a:bodyPr wrap="square" rtlCol="0" anchor="ctr"/>
          <a:lstStyle/>
          <a:p>
            <a:pPr indent="0" marL="0">
              <a:buNone/>
            </a:pPr>
            <a:r>
              <a:rPr lang="en-US" sz="1500" b="1" dirty="0">
                <a:solidFill>
                  <a:srgbClr val="27333D"/>
                </a:solidFill>
                <a:latin typeface="Cambria" pitchFamily="34" charset="0"/>
                <a:ea typeface="Cambria" pitchFamily="34" charset="-122"/>
                <a:cs typeface="Cambria" pitchFamily="34" charset="-120"/>
              </a:rPr>
              <a:t>Crop × Season Profit Pattern (₹)</a:t>
            </a:r>
            <a:endParaRPr lang="en-US" sz="15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720840" y="1536192"/>
          <a:ext cx="4937760" cy="914400"/>
        </p:xfrm>
        <a:graphic>
          <a:graphicData uri="http://schemas.openxmlformats.org/drawingml/2006/table">
            <a:tbl>
              <a:tblPr/>
              <a:tblGrid>
                <a:gridCol w="1280160"/>
                <a:gridCol w="1234440"/>
                <a:gridCol w="1234440"/>
                <a:gridCol w="1188720"/>
              </a:tblGrid>
              <a:tr h="274320">
                <a:tc>
                  <a:txBody>
                    <a:bodyPr/>
                    <a:lstStyle/>
                    <a:p>
                      <a:pPr algn="ctr" indent="0" marL="0">
                        <a:buNone/>
                      </a:pPr>
                      <a:r>
                        <a:rPr lang="en-US" sz="900" b="1" dirty="0">
                          <a:solidFill>
                            <a:srgbClr val="FFFFFF"/>
                          </a:solidFill>
                        </a:rPr>
                        <a:t>Crop</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E946B"/>
                    </a:solidFill>
                  </a:tcPr>
                </a:tc>
                <a:tc>
                  <a:txBody>
                    <a:bodyPr/>
                    <a:lstStyle/>
                    <a:p>
                      <a:pPr algn="ctr" indent="0" marL="0">
                        <a:buNone/>
                      </a:pPr>
                      <a:r>
                        <a:rPr lang="en-US" sz="900" b="1" dirty="0">
                          <a:solidFill>
                            <a:srgbClr val="FFFFFF"/>
                          </a:solidFill>
                        </a:rPr>
                        <a:t>Kharif</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E946B"/>
                    </a:solidFill>
                  </a:tcPr>
                </a:tc>
                <a:tc>
                  <a:txBody>
                    <a:bodyPr/>
                    <a:lstStyle/>
                    <a:p>
                      <a:pPr algn="ctr" indent="0" marL="0">
                        <a:buNone/>
                      </a:pPr>
                      <a:r>
                        <a:rPr lang="en-US" sz="900" b="1" dirty="0">
                          <a:solidFill>
                            <a:srgbClr val="FFFFFF"/>
                          </a:solidFill>
                        </a:rPr>
                        <a:t>Rabi</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E946B"/>
                    </a:solidFill>
                  </a:tcPr>
                </a:tc>
                <a:tc>
                  <a:txBody>
                    <a:bodyPr/>
                    <a:lstStyle/>
                    <a:p>
                      <a:pPr algn="ctr" indent="0" marL="0">
                        <a:buNone/>
                      </a:pPr>
                      <a:r>
                        <a:rPr lang="en-US" sz="900" b="1" dirty="0">
                          <a:solidFill>
                            <a:srgbClr val="FFFFFF"/>
                          </a:solidFill>
                        </a:rPr>
                        <a:t>Zaid</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2E946B"/>
                    </a:solidFill>
                  </a:tcPr>
                </a:tc>
              </a:tr>
              <a:tr h="274320">
                <a:tc>
                  <a:txBody>
                    <a:bodyPr/>
                    <a:lstStyle/>
                    <a:p>
                      <a:pPr algn="ctr" indent="0" marL="0">
                        <a:buNone/>
                      </a:pPr>
                      <a:r>
                        <a:rPr lang="en-US" sz="900" dirty="0">
                          <a:solidFill>
                            <a:srgbClr val="27333D"/>
                          </a:solidFill>
                        </a:rPr>
                        <a:t>Chilli</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7333D"/>
                          </a:solidFill>
                        </a:rPr>
                        <a:t>9,54,380</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7333D"/>
                          </a:solidFill>
                        </a:rPr>
                        <a:t>6,38,572</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7333D"/>
                          </a:solidFill>
                        </a:rPr>
                        <a:t>4,48,659</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274320">
                <a:tc>
                  <a:txBody>
                    <a:bodyPr/>
                    <a:lstStyle/>
                    <a:p>
                      <a:pPr algn="ctr" indent="0" marL="0">
                        <a:buNone/>
                      </a:pPr>
                      <a:r>
                        <a:rPr lang="en-US" sz="900" dirty="0">
                          <a:solidFill>
                            <a:srgbClr val="27333D"/>
                          </a:solidFill>
                        </a:rPr>
                        <a:t>Cotton</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900" dirty="0">
                          <a:solidFill>
                            <a:srgbClr val="27333D"/>
                          </a:solidFill>
                        </a:rPr>
                        <a:t>2,17,000</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900" dirty="0">
                          <a:solidFill>
                            <a:srgbClr val="27333D"/>
                          </a:solidFill>
                        </a:rPr>
                        <a:t>1,07,344</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900" dirty="0">
                          <a:solidFill>
                            <a:srgbClr val="27333D"/>
                          </a:solidFill>
                        </a:rPr>
                        <a:t>–53,925</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r>
              <a:tr h="274320">
                <a:tc>
                  <a:txBody>
                    <a:bodyPr/>
                    <a:lstStyle/>
                    <a:p>
                      <a:pPr algn="ctr" indent="0" marL="0">
                        <a:buNone/>
                      </a:pPr>
                      <a:r>
                        <a:rPr lang="en-US" sz="900" dirty="0">
                          <a:solidFill>
                            <a:srgbClr val="27333D"/>
                          </a:solidFill>
                        </a:rPr>
                        <a:t>Sugarcane</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7333D"/>
                          </a:solidFill>
                        </a:rPr>
                        <a:t>10,00,791</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7333D"/>
                          </a:solidFill>
                        </a:rPr>
                        <a:t>7,31,613</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7333D"/>
                          </a:solidFill>
                        </a:rPr>
                        <a:t>5,83,636</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274320">
                <a:tc>
                  <a:txBody>
                    <a:bodyPr/>
                    <a:lstStyle/>
                    <a:p>
                      <a:pPr algn="ctr" indent="0" marL="0">
                        <a:buNone/>
                      </a:pPr>
                      <a:r>
                        <a:rPr lang="en-US" sz="900" dirty="0">
                          <a:solidFill>
                            <a:srgbClr val="27333D"/>
                          </a:solidFill>
                        </a:rPr>
                        <a:t>Rice</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900" dirty="0">
                          <a:solidFill>
                            <a:srgbClr val="27333D"/>
                          </a:solidFill>
                        </a:rPr>
                        <a:t>–64,903</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900" dirty="0">
                          <a:solidFill>
                            <a:srgbClr val="27333D"/>
                          </a:solidFill>
                        </a:rPr>
                        <a:t>–98,428</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900" dirty="0">
                          <a:solidFill>
                            <a:srgbClr val="27333D"/>
                          </a:solidFill>
                        </a:rPr>
                        <a:t>–227,239</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r>
              <a:tr h="274320">
                <a:tc>
                  <a:txBody>
                    <a:bodyPr/>
                    <a:lstStyle/>
                    <a:p>
                      <a:pPr algn="ctr" indent="0" marL="0">
                        <a:buNone/>
                      </a:pPr>
                      <a:r>
                        <a:rPr lang="en-US" sz="900" dirty="0">
                          <a:solidFill>
                            <a:srgbClr val="27333D"/>
                          </a:solidFill>
                        </a:rPr>
                        <a:t>Wheat</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7333D"/>
                          </a:solidFill>
                        </a:rPr>
                        <a:t>–105,872</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7333D"/>
                          </a:solidFill>
                        </a:rPr>
                        <a:t>–119,955</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27333D"/>
                          </a:solidFill>
                        </a:rPr>
                        <a:t>–193,209</a:t>
                      </a:r>
                      <a:endParaRPr lang="en-US" sz="90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bl>
          </a:graphicData>
        </a:graphic>
      </p:graphicFrame>
      <p:sp>
        <p:nvSpPr>
          <p:cNvPr id="17" name="Text 13"/>
          <p:cNvSpPr/>
          <p:nvPr/>
        </p:nvSpPr>
        <p:spPr>
          <a:xfrm>
            <a:off x="6720840" y="3200400"/>
            <a:ext cx="4937760" cy="777240"/>
          </a:xfrm>
          <a:prstGeom prst="rect">
            <a:avLst/>
          </a:prstGeom>
          <a:noFill/>
          <a:ln/>
        </p:spPr>
        <p:txBody>
          <a:bodyPr wrap="square" rtlCol="0" anchor="t"/>
          <a:lstStyle/>
          <a:p>
            <a:pPr indent="0" marL="0">
              <a:lnSpc>
                <a:spcPct val="115000"/>
              </a:lnSpc>
              <a:buNone/>
            </a:pPr>
            <a:r>
              <a:rPr lang="en-US" sz="1000" i="1" dirty="0">
                <a:solidFill>
                  <a:srgbClr val="5B6B76"/>
                </a:solidFill>
                <a:latin typeface="Calibri" pitchFamily="34" charset="0"/>
                <a:ea typeface="Calibri" pitchFamily="34" charset="-122"/>
                <a:cs typeface="Calibri" pitchFamily="34" charset="-120"/>
              </a:rPr>
              <a:t>The best season is not identical for every crop — the same Kharif–Zaid gap appears within most individual crops too, reinforcing that season itself (not just crop mix) drives the difference.</a:t>
            </a:r>
            <a:endParaRPr lang="en-US" sz="1000" dirty="0"/>
          </a:p>
        </p:txBody>
      </p:sp>
      <p:sp>
        <p:nvSpPr>
          <p:cNvPr id="18" name="Shape 14"/>
          <p:cNvSpPr/>
          <p:nvPr/>
        </p:nvSpPr>
        <p:spPr>
          <a:xfrm>
            <a:off x="6720840" y="4114800"/>
            <a:ext cx="4937760" cy="1920240"/>
          </a:xfrm>
          <a:prstGeom prst="roundRect">
            <a:avLst>
              <a:gd name="adj" fmla="val 3810"/>
            </a:avLst>
          </a:prstGeom>
          <a:solidFill>
            <a:srgbClr val="E07B1A">
              <a:alpha val="10000"/>
            </a:srgbClr>
          </a:solidFill>
          <a:ln w="12700">
            <a:solidFill>
              <a:srgbClr val="E07B1A"/>
            </a:solidFill>
            <a:prstDash val="solid"/>
          </a:ln>
        </p:spPr>
      </p:sp>
      <p:sp>
        <p:nvSpPr>
          <p:cNvPr id="19" name="Text 15"/>
          <p:cNvSpPr/>
          <p:nvPr/>
        </p:nvSpPr>
        <p:spPr>
          <a:xfrm>
            <a:off x="6858000" y="4187952"/>
            <a:ext cx="4663440" cy="1773936"/>
          </a:xfrm>
          <a:prstGeom prst="rect">
            <a:avLst/>
          </a:prstGeom>
          <a:noFill/>
          <a:ln/>
        </p:spPr>
        <p:txBody>
          <a:bodyPr wrap="square" rtlCol="0" anchor="t"/>
          <a:lstStyle/>
          <a:p>
            <a:pPr indent="0" marL="0">
              <a:lnSpc>
                <a:spcPct val="105000"/>
              </a:lnSpc>
              <a:buNone/>
            </a:pPr>
            <a:r>
              <a:rPr lang="en-US" sz="1200" b="1" dirty="0">
                <a:solidFill>
                  <a:srgbClr val="E07B1A"/>
                </a:solidFill>
                <a:latin typeface="Calibri" pitchFamily="34" charset="0"/>
                <a:ea typeface="Calibri" pitchFamily="34" charset="-122"/>
                <a:cs typeface="Calibri" pitchFamily="34" charset="-120"/>
              </a:rPr>
              <a:t>Regional &amp; Crop Insight
</a:t>
            </a:r>
            <a:pPr indent="0" marL="0">
              <a:lnSpc>
                <a:spcPct val="105000"/>
              </a:lnSpc>
              <a:buNone/>
            </a:pPr>
            <a:r>
              <a:rPr lang="en-US" sz="1150" dirty="0">
                <a:solidFill>
                  <a:srgbClr val="27333D"/>
                </a:solidFill>
                <a:latin typeface="Calibri" pitchFamily="34" charset="0"/>
                <a:ea typeface="Calibri" pitchFamily="34" charset="-122"/>
                <a:cs typeface="Calibri" pitchFamily="34" charset="-120"/>
              </a:rPr>
              <a:t>Because the pattern holds broadly across states and crops, seasonal recommendations (e.g. caution around Zaid profitability) are reasonable to generalize — while crop-specific, state-specific context should still refine local planning.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CFE3ED"/>
          </a:solidFill>
          <a:ln/>
        </p:spPr>
      </p:sp>
      <p:sp>
        <p:nvSpPr>
          <p:cNvPr id="3" name="Shape 1"/>
          <p:cNvSpPr/>
          <p:nvPr/>
        </p:nvSpPr>
        <p:spPr>
          <a:xfrm rot="2700000">
            <a:off x="10362895" y="5029200"/>
            <a:ext cx="3291840" cy="3291840"/>
          </a:xfrm>
          <a:prstGeom prst="rect">
            <a:avLst/>
          </a:prstGeom>
          <a:solidFill>
            <a:srgbClr val="BFE3DE"/>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Text 4"/>
          <p:cNvSpPr/>
          <p:nvPr/>
        </p:nvSpPr>
        <p:spPr>
          <a:xfrm>
            <a:off x="502920" y="320040"/>
            <a:ext cx="11185855" cy="640080"/>
          </a:xfrm>
          <a:prstGeom prst="rect">
            <a:avLst/>
          </a:prstGeom>
          <a:noFill/>
          <a:ln/>
        </p:spPr>
        <p:txBody>
          <a:bodyPr wrap="square" rtlCol="0" anchor="ctr"/>
          <a:lstStyle/>
          <a:p>
            <a:pPr indent="0" marL="0">
              <a:buNone/>
            </a:pPr>
            <a:r>
              <a:rPr lang="en-US" sz="3000" b="1" dirty="0">
                <a:solidFill>
                  <a:srgbClr val="1B5E86"/>
                </a:solidFill>
                <a:latin typeface="Cambria" pitchFamily="34" charset="0"/>
                <a:ea typeface="Cambria" pitchFamily="34" charset="-122"/>
                <a:cs typeface="Cambria" pitchFamily="34" charset="-120"/>
              </a:rPr>
              <a:t>Statistical Findings: Hypothesis Testing</a:t>
            </a:r>
            <a:endParaRPr lang="en-US" sz="3000" dirty="0"/>
          </a:p>
        </p:txBody>
      </p:sp>
      <p:sp>
        <p:nvSpPr>
          <p:cNvPr id="7" name="Shape 5"/>
          <p:cNvSpPr/>
          <p:nvPr/>
        </p:nvSpPr>
        <p:spPr>
          <a:xfrm>
            <a:off x="530352" y="960120"/>
            <a:ext cx="1188720" cy="41148"/>
          </a:xfrm>
          <a:prstGeom prst="rect">
            <a:avLst/>
          </a:prstGeom>
          <a:solidFill>
            <a:srgbClr val="E07B1A"/>
          </a:solidFill>
          <a:ln/>
        </p:spPr>
      </p:sp>
      <p:sp>
        <p:nvSpPr>
          <p:cNvPr id="8" name="Text 6"/>
          <p:cNvSpPr/>
          <p:nvPr/>
        </p:nvSpPr>
        <p:spPr>
          <a:xfrm>
            <a:off x="365760" y="6528816"/>
            <a:ext cx="6400800" cy="274320"/>
          </a:xfrm>
          <a:prstGeom prst="rect">
            <a:avLst/>
          </a:prstGeom>
          <a:noFill/>
          <a:ln/>
        </p:spPr>
        <p:txBody>
          <a:bodyPr wrap="square" rtlCol="0" anchor="ctr"/>
          <a:lstStyle/>
          <a:p>
            <a:pPr indent="0" marL="0">
              <a:buNone/>
            </a:pPr>
            <a:r>
              <a:rPr lang="en-US" sz="900" i="1" dirty="0">
                <a:solidFill>
                  <a:srgbClr val="5B6B76"/>
                </a:solidFill>
                <a:latin typeface="Calibri" pitchFamily="34" charset="0"/>
                <a:ea typeface="Calibri" pitchFamily="34" charset="-122"/>
                <a:cs typeface="Calibri" pitchFamily="34" charset="-120"/>
              </a:rPr>
              <a:t>Statistical Findings &amp; Insights</a:t>
            </a:r>
            <a:endParaRPr lang="en-US" sz="900" dirty="0"/>
          </a:p>
        </p:txBody>
      </p:sp>
      <p:sp>
        <p:nvSpPr>
          <p:cNvPr id="9" name="Text 7"/>
          <p:cNvSpPr/>
          <p:nvPr/>
        </p:nvSpPr>
        <p:spPr>
          <a:xfrm>
            <a:off x="11551615" y="6528816"/>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10</a:t>
            </a:r>
            <a:endParaRPr lang="en-US" sz="900" dirty="0"/>
          </a:p>
        </p:txBody>
      </p:sp>
      <p:sp>
        <p:nvSpPr>
          <p:cNvPr id="10" name="Shape 8"/>
          <p:cNvSpPr/>
          <p:nvPr/>
        </p:nvSpPr>
        <p:spPr>
          <a:xfrm>
            <a:off x="548640" y="1188720"/>
            <a:ext cx="82296" cy="292608"/>
          </a:xfrm>
          <a:prstGeom prst="rect">
            <a:avLst/>
          </a:prstGeom>
          <a:solidFill>
            <a:srgbClr val="1B5E86"/>
          </a:solidFill>
          <a:ln/>
        </p:spPr>
      </p:sp>
      <p:sp>
        <p:nvSpPr>
          <p:cNvPr id="11" name="Text 9"/>
          <p:cNvSpPr/>
          <p:nvPr/>
        </p:nvSpPr>
        <p:spPr>
          <a:xfrm>
            <a:off x="713232" y="1161288"/>
            <a:ext cx="5687568" cy="347472"/>
          </a:xfrm>
          <a:prstGeom prst="rect">
            <a:avLst/>
          </a:prstGeom>
          <a:noFill/>
          <a:ln/>
        </p:spPr>
        <p:txBody>
          <a:bodyPr wrap="square" rtlCol="0" anchor="ctr"/>
          <a:lstStyle/>
          <a:p>
            <a:pPr indent="0" marL="0">
              <a:buNone/>
            </a:pPr>
            <a:r>
              <a:rPr lang="en-US" sz="1500" b="1" dirty="0">
                <a:solidFill>
                  <a:srgbClr val="27333D"/>
                </a:solidFill>
                <a:latin typeface="Cambria" pitchFamily="34" charset="0"/>
                <a:ea typeface="Cambria" pitchFamily="34" charset="-122"/>
                <a:cs typeface="Cambria" pitchFamily="34" charset="-120"/>
              </a:rPr>
              <a:t>Hypothesis Test Setup</a:t>
            </a:r>
            <a:endParaRPr lang="en-US" sz="1500" dirty="0"/>
          </a:p>
        </p:txBody>
      </p:sp>
      <p:sp>
        <p:nvSpPr>
          <p:cNvPr id="12" name="Text 10"/>
          <p:cNvSpPr/>
          <p:nvPr/>
        </p:nvSpPr>
        <p:spPr>
          <a:xfrm>
            <a:off x="548640" y="1600200"/>
            <a:ext cx="5852160" cy="1920240"/>
          </a:xfrm>
          <a:prstGeom prst="rect">
            <a:avLst/>
          </a:prstGeom>
          <a:noFill/>
          <a:ln/>
        </p:spPr>
        <p:txBody>
          <a:bodyPr wrap="square" rtlCol="0" anchor="t"/>
          <a:lstStyle/>
          <a:p>
            <a:pPr indent="0" marL="0">
              <a:lnSpc>
                <a:spcPct val="115000"/>
              </a:lnSpc>
              <a:buNone/>
            </a:pPr>
            <a:r>
              <a:rPr lang="en-US" sz="1150" b="1" dirty="0">
                <a:solidFill>
                  <a:srgbClr val="1B5E86"/>
                </a:solidFill>
                <a:latin typeface="Calibri" pitchFamily="34" charset="0"/>
                <a:ea typeface="Calibri" pitchFamily="34" charset="-122"/>
                <a:cs typeface="Calibri" pitchFamily="34" charset="-120"/>
              </a:rPr>
              <a:t>H₀ (Null): </a:t>
            </a:r>
            <a:pPr indent="0" marL="0">
              <a:lnSpc>
                <a:spcPct val="115000"/>
              </a:lnSpc>
              <a:buNone/>
            </a:pPr>
            <a:r>
              <a:rPr lang="en-US" sz="1150" dirty="0">
                <a:solidFill>
                  <a:srgbClr val="27333D"/>
                </a:solidFill>
                <a:latin typeface="Calibri" pitchFamily="34" charset="0"/>
                <a:ea typeface="Calibri" pitchFamily="34" charset="-122"/>
                <a:cs typeface="Calibri" pitchFamily="34" charset="-120"/>
              </a:rPr>
              <a:t>No statistically significant difference in crop-adjusted yield performance across seasons.
</a:t>
            </a:r>
            <a:pPr indent="0" marL="0">
              <a:lnSpc>
                <a:spcPct val="115000"/>
              </a:lnSpc>
              <a:buNone/>
            </a:pPr>
            <a:r>
              <a:rPr lang="en-US" sz="1150" b="1" dirty="0">
                <a:solidFill>
                  <a:srgbClr val="E07B1A"/>
                </a:solidFill>
                <a:latin typeface="Calibri" pitchFamily="34" charset="0"/>
                <a:ea typeface="Calibri" pitchFamily="34" charset="-122"/>
                <a:cs typeface="Calibri" pitchFamily="34" charset="-120"/>
              </a:rPr>
              <a:t>H₁ (Alternative): </a:t>
            </a:r>
            <a:pPr indent="0" marL="0">
              <a:lnSpc>
                <a:spcPct val="115000"/>
              </a:lnSpc>
              <a:buNone/>
            </a:pPr>
            <a:r>
              <a:rPr lang="en-US" sz="1150" dirty="0">
                <a:solidFill>
                  <a:srgbClr val="27333D"/>
                </a:solidFill>
                <a:latin typeface="Calibri" pitchFamily="34" charset="0"/>
                <a:ea typeface="Calibri" pitchFamily="34" charset="-122"/>
                <a:cs typeface="Calibri" pitchFamily="34" charset="-120"/>
              </a:rPr>
              <a:t>A statistically significant difference exists in crop-adjusted yield performance across at least one pair of seasons.
</a:t>
            </a:r>
            <a:pPr indent="0" marL="0">
              <a:lnSpc>
                <a:spcPct val="115000"/>
              </a:lnSpc>
              <a:buNone/>
            </a:pPr>
            <a:r>
              <a:rPr lang="en-US" sz="1150" b="1" dirty="0">
                <a:solidFill>
                  <a:srgbClr val="27333D"/>
                </a:solidFill>
                <a:latin typeface="Calibri" pitchFamily="34" charset="0"/>
                <a:ea typeface="Calibri" pitchFamily="34" charset="-122"/>
                <a:cs typeface="Calibri" pitchFamily="34" charset="-120"/>
              </a:rPr>
              <a:t>Significance level: </a:t>
            </a:r>
            <a:pPr indent="0" marL="0">
              <a:lnSpc>
                <a:spcPct val="115000"/>
              </a:lnSpc>
              <a:buNone/>
            </a:pPr>
            <a:r>
              <a:rPr lang="en-US" sz="1150" dirty="0">
                <a:solidFill>
                  <a:srgbClr val="27333D"/>
                </a:solidFill>
                <a:latin typeface="Calibri" pitchFamily="34" charset="0"/>
                <a:ea typeface="Calibri" pitchFamily="34" charset="-122"/>
                <a:cs typeface="Calibri" pitchFamily="34" charset="-120"/>
              </a:rPr>
              <a:t>α = 0.05</a:t>
            </a:r>
            <a:endParaRPr lang="en-US" sz="1150" dirty="0"/>
          </a:p>
        </p:txBody>
      </p:sp>
      <p:sp>
        <p:nvSpPr>
          <p:cNvPr id="13" name="Shape 11"/>
          <p:cNvSpPr/>
          <p:nvPr/>
        </p:nvSpPr>
        <p:spPr>
          <a:xfrm>
            <a:off x="548640" y="3611880"/>
            <a:ext cx="82296" cy="292608"/>
          </a:xfrm>
          <a:prstGeom prst="rect">
            <a:avLst/>
          </a:prstGeom>
          <a:solidFill>
            <a:srgbClr val="2E946B"/>
          </a:solidFill>
          <a:ln/>
        </p:spPr>
      </p:sp>
      <p:sp>
        <p:nvSpPr>
          <p:cNvPr id="14" name="Text 12"/>
          <p:cNvSpPr/>
          <p:nvPr/>
        </p:nvSpPr>
        <p:spPr>
          <a:xfrm>
            <a:off x="713232" y="3584448"/>
            <a:ext cx="5687568" cy="347472"/>
          </a:xfrm>
          <a:prstGeom prst="rect">
            <a:avLst/>
          </a:prstGeom>
          <a:noFill/>
          <a:ln/>
        </p:spPr>
        <p:txBody>
          <a:bodyPr wrap="square" rtlCol="0" anchor="ctr"/>
          <a:lstStyle/>
          <a:p>
            <a:pPr indent="0" marL="0">
              <a:buNone/>
            </a:pPr>
            <a:r>
              <a:rPr lang="en-US" sz="1500" b="1" dirty="0">
                <a:solidFill>
                  <a:srgbClr val="27333D"/>
                </a:solidFill>
                <a:latin typeface="Cambria" pitchFamily="34" charset="0"/>
                <a:ea typeface="Cambria" pitchFamily="34" charset="-122"/>
                <a:cs typeface="Cambria" pitchFamily="34" charset="-120"/>
              </a:rPr>
              <a:t>Why Kruskal-Wallis?</a:t>
            </a:r>
            <a:endParaRPr lang="en-US" sz="1500" dirty="0"/>
          </a:p>
        </p:txBody>
      </p:sp>
      <p:sp>
        <p:nvSpPr>
          <p:cNvPr id="15" name="Text 13"/>
          <p:cNvSpPr/>
          <p:nvPr/>
        </p:nvSpPr>
        <p:spPr>
          <a:xfrm>
            <a:off x="548640" y="4023360"/>
            <a:ext cx="5852160" cy="1371600"/>
          </a:xfrm>
          <a:prstGeom prst="rect">
            <a:avLst/>
          </a:prstGeom>
          <a:noFill/>
          <a:ln/>
        </p:spPr>
        <p:txBody>
          <a:bodyPr wrap="square" rtlCol="0" anchor="t"/>
          <a:lstStyle/>
          <a:p>
            <a:pPr indent="0" marL="0">
              <a:lnSpc>
                <a:spcPct val="112000"/>
              </a:lnSpc>
              <a:buNone/>
            </a:pPr>
            <a:r>
              <a:rPr lang="en-US" sz="1050" dirty="0">
                <a:solidFill>
                  <a:srgbClr val="27333D"/>
                </a:solidFill>
                <a:latin typeface="Calibri" pitchFamily="34" charset="0"/>
                <a:ea typeface="Calibri" pitchFamily="34" charset="-122"/>
                <a:cs typeface="Calibri" pitchFamily="34" charset="-120"/>
              </a:rPr>
              <a:t>Raw yield differs by scale across crops, so yield is first standardized within each crop (z-score) to isolate the seasonal effect. A Shapiro-Wilk test showed the standardized yield is not normally distributed (p ≈ 2.6×10⁻⁴), so the non-parametric Kruskal-Wallis test — which does not require normality — is the appropriate primary test. One-way ANOVA is reported alongside it for reference.</a:t>
            </a:r>
            <a:endParaRPr lang="en-US" sz="1050" dirty="0"/>
          </a:p>
        </p:txBody>
      </p:sp>
      <p:pic>
        <p:nvPicPr>
          <p:cNvPr id="16" name="Image 0" descr="code_hypothesis.png">    </p:cNvPr>
          <p:cNvPicPr>
            <a:picLocks noChangeAspect="1"/>
          </p:cNvPicPr>
          <p:nvPr/>
        </p:nvPicPr>
        <p:blipFill>
          <a:blip r:embed="rId1"/>
          <a:stretch>
            <a:fillRect/>
          </a:stretch>
        </p:blipFill>
        <p:spPr>
          <a:xfrm>
            <a:off x="548640" y="5486400"/>
            <a:ext cx="3566160" cy="1078992"/>
          </a:xfrm>
          <a:prstGeom prst="rect">
            <a:avLst/>
          </a:prstGeom>
        </p:spPr>
      </p:pic>
      <p:sp>
        <p:nvSpPr>
          <p:cNvPr id="17" name="Shape 14"/>
          <p:cNvSpPr/>
          <p:nvPr/>
        </p:nvSpPr>
        <p:spPr>
          <a:xfrm>
            <a:off x="6675120" y="1188720"/>
            <a:ext cx="82296" cy="292608"/>
          </a:xfrm>
          <a:prstGeom prst="rect">
            <a:avLst/>
          </a:prstGeom>
          <a:solidFill>
            <a:srgbClr val="E07B1A"/>
          </a:solidFill>
          <a:ln/>
        </p:spPr>
      </p:sp>
      <p:sp>
        <p:nvSpPr>
          <p:cNvPr id="18" name="Text 15"/>
          <p:cNvSpPr/>
          <p:nvPr/>
        </p:nvSpPr>
        <p:spPr>
          <a:xfrm>
            <a:off x="6839712" y="1161288"/>
            <a:ext cx="4773168" cy="347472"/>
          </a:xfrm>
          <a:prstGeom prst="rect">
            <a:avLst/>
          </a:prstGeom>
          <a:noFill/>
          <a:ln/>
        </p:spPr>
        <p:txBody>
          <a:bodyPr wrap="square" rtlCol="0" anchor="ctr"/>
          <a:lstStyle/>
          <a:p>
            <a:pPr indent="0" marL="0">
              <a:buNone/>
            </a:pPr>
            <a:r>
              <a:rPr lang="en-US" sz="1500" b="1" dirty="0">
                <a:solidFill>
                  <a:srgbClr val="27333D"/>
                </a:solidFill>
                <a:latin typeface="Cambria" pitchFamily="34" charset="0"/>
                <a:ea typeface="Cambria" pitchFamily="34" charset="-122"/>
                <a:cs typeface="Cambria" pitchFamily="34" charset="-120"/>
              </a:rPr>
              <a:t>Test Results</a:t>
            </a:r>
            <a:endParaRPr lang="en-US" sz="15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75120" y="1600200"/>
          <a:ext cx="4937760" cy="914400"/>
        </p:xfrm>
        <a:graphic>
          <a:graphicData uri="http://schemas.openxmlformats.org/drawingml/2006/table">
            <a:tbl>
              <a:tblPr/>
              <a:tblGrid>
                <a:gridCol w="2103120"/>
                <a:gridCol w="1371600"/>
                <a:gridCol w="1463040"/>
              </a:tblGrid>
              <a:tr h="365760">
                <a:tc>
                  <a:txBody>
                    <a:bodyPr/>
                    <a:lstStyle/>
                    <a:p>
                      <a:pPr algn="ctr" indent="0" marL="0">
                        <a:buNone/>
                      </a:pPr>
                      <a:r>
                        <a:rPr lang="en-US" sz="1050" b="1" dirty="0">
                          <a:solidFill>
                            <a:srgbClr val="FFFFFF"/>
                          </a:solidFill>
                        </a:rPr>
                        <a:t>Test</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1B5E86"/>
                    </a:solidFill>
                  </a:tcPr>
                </a:tc>
                <a:tc>
                  <a:txBody>
                    <a:bodyPr/>
                    <a:lstStyle/>
                    <a:p>
                      <a:pPr algn="ctr" indent="0" marL="0">
                        <a:buNone/>
                      </a:pPr>
                      <a:r>
                        <a:rPr lang="en-US" sz="1050" b="1" dirty="0">
                          <a:solidFill>
                            <a:srgbClr val="FFFFFF"/>
                          </a:solidFill>
                        </a:rPr>
                        <a:t>Statistic</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1B5E86"/>
                    </a:solidFill>
                  </a:tcPr>
                </a:tc>
                <a:tc>
                  <a:txBody>
                    <a:bodyPr/>
                    <a:lstStyle/>
                    <a:p>
                      <a:pPr algn="ctr" indent="0" marL="0">
                        <a:buNone/>
                      </a:pPr>
                      <a:r>
                        <a:rPr lang="en-US" sz="1050" b="1" dirty="0">
                          <a:solidFill>
                            <a:srgbClr val="FFFFFF"/>
                          </a:solidFill>
                        </a:rPr>
                        <a:t>p-value</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1B5E86"/>
                    </a:solidFill>
                  </a:tcPr>
                </a:tc>
              </a:tr>
              <a:tr h="365760">
                <a:tc>
                  <a:txBody>
                    <a:bodyPr/>
                    <a:lstStyle/>
                    <a:p>
                      <a:pPr algn="ctr" indent="0" marL="0">
                        <a:buNone/>
                      </a:pPr>
                      <a:r>
                        <a:rPr lang="en-US" sz="1050" dirty="0">
                          <a:solidFill>
                            <a:srgbClr val="27333D"/>
                          </a:solidFill>
                        </a:rPr>
                        <a:t>Kruskal-Wallis (primary)</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7333D"/>
                          </a:solidFill>
                        </a:rPr>
                        <a:t>H = 254.342</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7333D"/>
                          </a:solidFill>
                        </a:rPr>
                        <a:t>5.89 × 10⁻⁵⁶</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FFFFF"/>
                    </a:solidFill>
                  </a:tcPr>
                </a:tc>
              </a:tr>
              <a:tr h="365760">
                <a:tc>
                  <a:txBody>
                    <a:bodyPr/>
                    <a:lstStyle/>
                    <a:p>
                      <a:pPr algn="ctr" indent="0" marL="0">
                        <a:buNone/>
                      </a:pPr>
                      <a:r>
                        <a:rPr lang="en-US" sz="1050" dirty="0">
                          <a:solidFill>
                            <a:srgbClr val="27333D"/>
                          </a:solidFill>
                        </a:rPr>
                        <a:t>One-way ANOVA (reference)</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1050" dirty="0">
                          <a:solidFill>
                            <a:srgbClr val="27333D"/>
                          </a:solidFill>
                        </a:rPr>
                        <a:t>F = 127.383</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c>
                  <a:txBody>
                    <a:bodyPr/>
                    <a:lstStyle/>
                    <a:p>
                      <a:pPr algn="ctr" indent="0" marL="0">
                        <a:buNone/>
                      </a:pPr>
                      <a:r>
                        <a:rPr lang="en-US" sz="1050" dirty="0">
                          <a:solidFill>
                            <a:srgbClr val="27333D"/>
                          </a:solidFill>
                        </a:rPr>
                        <a:t>2.34 × 10⁻⁵⁴</a:t>
                      </a:r>
                      <a:endParaRPr lang="en-US" sz="1050" dirty="0"/>
                    </a:p>
                  </a:txBody>
                  <a:tcPr marL="91440" marR="91440" marT="45720" marB="45720">
                    <a:lnL w="9525" cap="flat" cmpd="sng" algn="ctr">
                      <a:solidFill>
                        <a:srgbClr val="DDE6EA"/>
                      </a:solidFill>
                      <a:prstDash val="solid"/>
                      <a:round/>
                      <a:headEnd type="none" w="med" len="med"/>
                      <a:tailEnd type="none" w="med" len="med"/>
                    </a:lnL>
                    <a:lnR w="9525" cap="flat" cmpd="sng" algn="ctr">
                      <a:solidFill>
                        <a:srgbClr val="DDE6EA"/>
                      </a:solidFill>
                      <a:prstDash val="solid"/>
                      <a:round/>
                      <a:headEnd type="none" w="med" len="med"/>
                      <a:tailEnd type="none" w="med" len="med"/>
                    </a:lnR>
                    <a:lnT w="9525" cap="flat" cmpd="sng" algn="ctr">
                      <a:solidFill>
                        <a:srgbClr val="DDE6EA"/>
                      </a:solidFill>
                      <a:prstDash val="solid"/>
                      <a:round/>
                      <a:headEnd type="none" w="med" len="med"/>
                      <a:tailEnd type="none" w="med" len="med"/>
                    </a:lnT>
                    <a:lnB w="9525" cap="flat" cmpd="sng" algn="ctr">
                      <a:solidFill>
                        <a:srgbClr val="DDE6EA"/>
                      </a:solidFill>
                      <a:prstDash val="solid"/>
                      <a:round/>
                      <a:headEnd type="none" w="med" len="med"/>
                      <a:tailEnd type="none" w="med" len="med"/>
                    </a:lnB>
                    <a:solidFill>
                      <a:srgbClr val="F2F6F8"/>
                    </a:solidFill>
                  </a:tcPr>
                </a:tc>
              </a:tr>
            </a:tbl>
          </a:graphicData>
        </a:graphic>
      </p:graphicFrame>
      <p:sp>
        <p:nvSpPr>
          <p:cNvPr id="20" name="Shape 16"/>
          <p:cNvSpPr/>
          <p:nvPr/>
        </p:nvSpPr>
        <p:spPr>
          <a:xfrm>
            <a:off x="6675120" y="2880360"/>
            <a:ext cx="4937760" cy="1051560"/>
          </a:xfrm>
          <a:prstGeom prst="roundRect">
            <a:avLst>
              <a:gd name="adj" fmla="val 6957"/>
            </a:avLst>
          </a:prstGeom>
          <a:solidFill>
            <a:srgbClr val="1B5E86">
              <a:alpha val="10000"/>
            </a:srgbClr>
          </a:solidFill>
          <a:ln w="12700">
            <a:solidFill>
              <a:srgbClr val="1B5E86"/>
            </a:solidFill>
            <a:prstDash val="solid"/>
          </a:ln>
        </p:spPr>
      </p:sp>
      <p:sp>
        <p:nvSpPr>
          <p:cNvPr id="21" name="Text 17"/>
          <p:cNvSpPr/>
          <p:nvPr/>
        </p:nvSpPr>
        <p:spPr>
          <a:xfrm>
            <a:off x="6812280" y="2953512"/>
            <a:ext cx="4663440" cy="905256"/>
          </a:xfrm>
          <a:prstGeom prst="rect">
            <a:avLst/>
          </a:prstGeom>
          <a:noFill/>
          <a:ln/>
        </p:spPr>
        <p:txBody>
          <a:bodyPr wrap="square" rtlCol="0" anchor="t"/>
          <a:lstStyle/>
          <a:p>
            <a:pPr indent="0" marL="0">
              <a:lnSpc>
                <a:spcPct val="105000"/>
              </a:lnSpc>
              <a:buNone/>
            </a:pPr>
            <a:r>
              <a:rPr lang="en-US" sz="1200" b="1" dirty="0">
                <a:solidFill>
                  <a:srgbClr val="1B5E86"/>
                </a:solidFill>
                <a:latin typeface="Calibri" pitchFamily="34" charset="0"/>
                <a:ea typeface="Calibri" pitchFamily="34" charset="-122"/>
                <a:cs typeface="Calibri" pitchFamily="34" charset="-120"/>
              </a:rPr>
              <a:t>Decision
</a:t>
            </a:r>
            <a:pPr indent="0" marL="0">
              <a:lnSpc>
                <a:spcPct val="105000"/>
              </a:lnSpc>
              <a:buNone/>
            </a:pPr>
            <a:r>
              <a:rPr lang="en-US" sz="1150" dirty="0">
                <a:solidFill>
                  <a:srgbClr val="27333D"/>
                </a:solidFill>
                <a:latin typeface="Calibri" pitchFamily="34" charset="0"/>
                <a:ea typeface="Calibri" pitchFamily="34" charset="-122"/>
                <a:cs typeface="Calibri" pitchFamily="34" charset="-120"/>
              </a:rPr>
              <a:t>p-value (5.89×10⁻⁵⁶) ≪ 0.05  →  REJECT H₀</a:t>
            </a:r>
            <a:endParaRPr lang="en-US" sz="1200" dirty="0"/>
          </a:p>
        </p:txBody>
      </p:sp>
      <p:sp>
        <p:nvSpPr>
          <p:cNvPr id="22" name="Text 18"/>
          <p:cNvSpPr/>
          <p:nvPr/>
        </p:nvSpPr>
        <p:spPr>
          <a:xfrm>
            <a:off x="6675120" y="4114800"/>
            <a:ext cx="4937760" cy="2377440"/>
          </a:xfrm>
          <a:prstGeom prst="rect">
            <a:avLst/>
          </a:prstGeom>
          <a:noFill/>
          <a:ln/>
        </p:spPr>
        <p:txBody>
          <a:bodyPr wrap="square" rtlCol="0" anchor="t"/>
          <a:lstStyle/>
          <a:p>
            <a:pPr indent="0" marL="0">
              <a:lnSpc>
                <a:spcPct val="115000"/>
              </a:lnSpc>
              <a:buNone/>
            </a:pPr>
            <a:r>
              <a:rPr lang="en-US" sz="1250" b="1" dirty="0">
                <a:solidFill>
                  <a:srgbClr val="2E946B"/>
                </a:solidFill>
                <a:latin typeface="Calibri" pitchFamily="34" charset="0"/>
                <a:ea typeface="Calibri" pitchFamily="34" charset="-122"/>
                <a:cs typeface="Calibri" pitchFamily="34" charset="-120"/>
              </a:rPr>
              <a:t>Contextual Interpretation
</a:t>
            </a:r>
            <a:pPr indent="0" marL="0">
              <a:lnSpc>
                <a:spcPct val="115000"/>
              </a:lnSpc>
              <a:buNone/>
            </a:pPr>
            <a:r>
              <a:rPr lang="en-US" sz="1100" dirty="0">
                <a:solidFill>
                  <a:srgbClr val="27333D"/>
                </a:solidFill>
                <a:latin typeface="Calibri" pitchFamily="34" charset="0"/>
                <a:ea typeface="Calibri" pitchFamily="34" charset="-122"/>
                <a:cs typeface="Calibri" pitchFamily="34" charset="-120"/>
              </a:rPr>
              <a:t>Seasonal differences in crop-adjusted yield are statistically significant in this dataset, even after adjusting for differing crop mixes between seasons. This confirms with formal statistical support (not just visual impression) that Kharif performs best and Zaid performs worst.
</a:t>
            </a:r>
            <a:pPr indent="0" marL="0">
              <a:lnSpc>
                <a:spcPct val="115000"/>
              </a:lnSpc>
              <a:buNone/>
            </a:pPr>
            <a:r>
              <a:rPr lang="en-US" sz="1100" b="1" dirty="0">
                <a:solidFill>
                  <a:srgbClr val="E07B1A"/>
                </a:solidFill>
                <a:latin typeface="Calibri" pitchFamily="34" charset="0"/>
                <a:ea typeface="Calibri" pitchFamily="34" charset="-122"/>
                <a:cs typeface="Calibri" pitchFamily="34" charset="-120"/>
              </a:rPr>
              <a:t>Important caveat: </a:t>
            </a:r>
            <a:pPr indent="0" marL="0">
              <a:lnSpc>
                <a:spcPct val="115000"/>
              </a:lnSpc>
              <a:buNone/>
            </a:pPr>
            <a:r>
              <a:rPr lang="en-US" sz="1100" dirty="0">
                <a:solidFill>
                  <a:srgbClr val="27333D"/>
                </a:solidFill>
                <a:latin typeface="Calibri" pitchFamily="34" charset="0"/>
                <a:ea typeface="Calibri" pitchFamily="34" charset="-122"/>
                <a:cs typeface="Calibri" pitchFamily="34" charset="-120"/>
              </a:rPr>
              <a:t>statistical significance does not, on its own, prove which environmental or resource mechanism causes the difference — it establishes association, not causation.</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CFE3ED"/>
          </a:solidFill>
          <a:ln/>
        </p:spPr>
      </p:sp>
      <p:sp>
        <p:nvSpPr>
          <p:cNvPr id="3" name="Shape 1"/>
          <p:cNvSpPr/>
          <p:nvPr/>
        </p:nvSpPr>
        <p:spPr>
          <a:xfrm rot="2700000">
            <a:off x="10362895" y="5029200"/>
            <a:ext cx="3291840" cy="3291840"/>
          </a:xfrm>
          <a:prstGeom prst="rect">
            <a:avLst/>
          </a:prstGeom>
          <a:solidFill>
            <a:srgbClr val="BFE3DE"/>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Text 4"/>
          <p:cNvSpPr/>
          <p:nvPr/>
        </p:nvSpPr>
        <p:spPr>
          <a:xfrm>
            <a:off x="502920" y="320040"/>
            <a:ext cx="11185855" cy="640080"/>
          </a:xfrm>
          <a:prstGeom prst="rect">
            <a:avLst/>
          </a:prstGeom>
          <a:noFill/>
          <a:ln/>
        </p:spPr>
        <p:txBody>
          <a:bodyPr wrap="square" rtlCol="0" anchor="ctr"/>
          <a:lstStyle/>
          <a:p>
            <a:pPr indent="0" marL="0">
              <a:buNone/>
            </a:pPr>
            <a:r>
              <a:rPr lang="en-US" sz="3000" b="1" dirty="0">
                <a:solidFill>
                  <a:srgbClr val="1B5E86"/>
                </a:solidFill>
                <a:latin typeface="Cambria" pitchFamily="34" charset="0"/>
                <a:ea typeface="Cambria" pitchFamily="34" charset="-122"/>
                <a:cs typeface="Cambria" pitchFamily="34" charset="-120"/>
              </a:rPr>
              <a:t>Key Findings &amp; Recommendations</a:t>
            </a:r>
            <a:endParaRPr lang="en-US" sz="3000" dirty="0"/>
          </a:p>
        </p:txBody>
      </p:sp>
      <p:sp>
        <p:nvSpPr>
          <p:cNvPr id="7" name="Shape 5"/>
          <p:cNvSpPr/>
          <p:nvPr/>
        </p:nvSpPr>
        <p:spPr>
          <a:xfrm>
            <a:off x="530352" y="960120"/>
            <a:ext cx="1188720" cy="41148"/>
          </a:xfrm>
          <a:prstGeom prst="rect">
            <a:avLst/>
          </a:prstGeom>
          <a:solidFill>
            <a:srgbClr val="E07B1A"/>
          </a:solidFill>
          <a:ln/>
        </p:spPr>
      </p:sp>
      <p:sp>
        <p:nvSpPr>
          <p:cNvPr id="8" name="Text 6"/>
          <p:cNvSpPr/>
          <p:nvPr/>
        </p:nvSpPr>
        <p:spPr>
          <a:xfrm>
            <a:off x="365760" y="6528816"/>
            <a:ext cx="6400800" cy="274320"/>
          </a:xfrm>
          <a:prstGeom prst="rect">
            <a:avLst/>
          </a:prstGeom>
          <a:noFill/>
          <a:ln/>
        </p:spPr>
        <p:txBody>
          <a:bodyPr wrap="square" rtlCol="0" anchor="ctr"/>
          <a:lstStyle/>
          <a:p>
            <a:pPr indent="0" marL="0">
              <a:buNone/>
            </a:pPr>
            <a:r>
              <a:rPr lang="en-US" sz="900" i="1" dirty="0">
                <a:solidFill>
                  <a:srgbClr val="5B6B76"/>
                </a:solidFill>
                <a:latin typeface="Calibri" pitchFamily="34" charset="0"/>
                <a:ea typeface="Calibri" pitchFamily="34" charset="-122"/>
                <a:cs typeface="Calibri" pitchFamily="34" charset="-120"/>
              </a:rPr>
              <a:t>Key Findings &amp; Recommendations</a:t>
            </a:r>
            <a:endParaRPr lang="en-US" sz="900" dirty="0"/>
          </a:p>
        </p:txBody>
      </p:sp>
      <p:sp>
        <p:nvSpPr>
          <p:cNvPr id="9" name="Text 7"/>
          <p:cNvSpPr/>
          <p:nvPr/>
        </p:nvSpPr>
        <p:spPr>
          <a:xfrm>
            <a:off x="11551615" y="6528816"/>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11</a:t>
            </a:r>
            <a:endParaRPr lang="en-US" sz="900" dirty="0"/>
          </a:p>
        </p:txBody>
      </p:sp>
      <p:sp>
        <p:nvSpPr>
          <p:cNvPr id="10" name="Shape 8"/>
          <p:cNvSpPr/>
          <p:nvPr/>
        </p:nvSpPr>
        <p:spPr>
          <a:xfrm>
            <a:off x="502920" y="1143000"/>
            <a:ext cx="82296" cy="292608"/>
          </a:xfrm>
          <a:prstGeom prst="rect">
            <a:avLst/>
          </a:prstGeom>
          <a:solidFill>
            <a:srgbClr val="1B5E86"/>
          </a:solidFill>
          <a:ln/>
        </p:spPr>
      </p:sp>
      <p:sp>
        <p:nvSpPr>
          <p:cNvPr id="11" name="Text 9"/>
          <p:cNvSpPr/>
          <p:nvPr/>
        </p:nvSpPr>
        <p:spPr>
          <a:xfrm>
            <a:off x="667512" y="1115568"/>
            <a:ext cx="5413248" cy="347472"/>
          </a:xfrm>
          <a:prstGeom prst="rect">
            <a:avLst/>
          </a:prstGeom>
          <a:noFill/>
          <a:ln/>
        </p:spPr>
        <p:txBody>
          <a:bodyPr wrap="square" rtlCol="0" anchor="ctr"/>
          <a:lstStyle/>
          <a:p>
            <a:pPr indent="0" marL="0">
              <a:buNone/>
            </a:pPr>
            <a:r>
              <a:rPr lang="en-US" sz="1500" b="1" dirty="0">
                <a:solidFill>
                  <a:srgbClr val="27333D"/>
                </a:solidFill>
                <a:latin typeface="Cambria" pitchFamily="34" charset="0"/>
                <a:ea typeface="Cambria" pitchFamily="34" charset="-122"/>
                <a:cs typeface="Cambria" pitchFamily="34" charset="-120"/>
              </a:rPr>
              <a:t>Key Findings</a:t>
            </a:r>
            <a:endParaRPr lang="en-US" sz="1500" dirty="0"/>
          </a:p>
        </p:txBody>
      </p:sp>
      <p:sp>
        <p:nvSpPr>
          <p:cNvPr id="12" name="Shape 10"/>
          <p:cNvSpPr/>
          <p:nvPr/>
        </p:nvSpPr>
        <p:spPr>
          <a:xfrm>
            <a:off x="502920" y="1581912"/>
            <a:ext cx="82296" cy="82296"/>
          </a:xfrm>
          <a:prstGeom prst="ellipse">
            <a:avLst/>
          </a:prstGeom>
          <a:solidFill>
            <a:srgbClr val="2E946B"/>
          </a:solidFill>
          <a:ln/>
        </p:spPr>
      </p:sp>
      <p:sp>
        <p:nvSpPr>
          <p:cNvPr id="13" name="Text 11"/>
          <p:cNvSpPr/>
          <p:nvPr/>
        </p:nvSpPr>
        <p:spPr>
          <a:xfrm>
            <a:off x="685800" y="1463040"/>
            <a:ext cx="5440680" cy="566928"/>
          </a:xfrm>
          <a:prstGeom prst="rect">
            <a:avLst/>
          </a:prstGeom>
          <a:noFill/>
          <a:ln/>
        </p:spPr>
        <p:txBody>
          <a:bodyPr wrap="square" rtlCol="0" anchor="t"/>
          <a:lstStyle/>
          <a:p>
            <a:pPr indent="0" marL="0">
              <a:lnSpc>
                <a:spcPct val="100000"/>
              </a:lnSpc>
              <a:buNone/>
            </a:pPr>
            <a:r>
              <a:rPr lang="en-US" sz="1050" b="1" dirty="0">
                <a:solidFill>
                  <a:srgbClr val="27333D"/>
                </a:solidFill>
                <a:latin typeface="Calibri" pitchFamily="34" charset="0"/>
                <a:ea typeface="Calibri" pitchFamily="34" charset="-122"/>
                <a:cs typeface="Calibri" pitchFamily="34" charset="-120"/>
              </a:rPr>
              <a:t>Kharif is strongest, Zaid weakest overall.  </a:t>
            </a:r>
            <a:pPr indent="0" marL="0">
              <a:lnSpc>
                <a:spcPct val="100000"/>
              </a:lnSpc>
              <a:buNone/>
            </a:pPr>
            <a:r>
              <a:rPr lang="en-US" sz="970" dirty="0">
                <a:solidFill>
                  <a:srgbClr val="5B6B76"/>
                </a:solidFill>
                <a:latin typeface="Calibri" pitchFamily="34" charset="0"/>
                <a:ea typeface="Calibri" pitchFamily="34" charset="-122"/>
                <a:cs typeface="Calibri" pitchFamily="34" charset="-120"/>
              </a:rPr>
              <a:t>Highest mean yield, production, water efficiency &amp; profit in Kharif; lowest on every measure in Zaid.</a:t>
            </a:r>
            <a:endParaRPr lang="en-US" sz="1050" dirty="0"/>
          </a:p>
        </p:txBody>
      </p:sp>
      <p:sp>
        <p:nvSpPr>
          <p:cNvPr id="14" name="Shape 12"/>
          <p:cNvSpPr/>
          <p:nvPr/>
        </p:nvSpPr>
        <p:spPr>
          <a:xfrm>
            <a:off x="502920" y="2185416"/>
            <a:ext cx="82296" cy="82296"/>
          </a:xfrm>
          <a:prstGeom prst="ellipse">
            <a:avLst/>
          </a:prstGeom>
          <a:solidFill>
            <a:srgbClr val="2E946B"/>
          </a:solidFill>
          <a:ln/>
        </p:spPr>
      </p:sp>
      <p:sp>
        <p:nvSpPr>
          <p:cNvPr id="15" name="Text 13"/>
          <p:cNvSpPr/>
          <p:nvPr/>
        </p:nvSpPr>
        <p:spPr>
          <a:xfrm>
            <a:off x="685800" y="2066544"/>
            <a:ext cx="5440680" cy="566928"/>
          </a:xfrm>
          <a:prstGeom prst="rect">
            <a:avLst/>
          </a:prstGeom>
          <a:noFill/>
          <a:ln/>
        </p:spPr>
        <p:txBody>
          <a:bodyPr wrap="square" rtlCol="0" anchor="t"/>
          <a:lstStyle/>
          <a:p>
            <a:pPr indent="0" marL="0">
              <a:lnSpc>
                <a:spcPct val="100000"/>
              </a:lnSpc>
              <a:buNone/>
            </a:pPr>
            <a:r>
              <a:rPr lang="en-US" sz="1050" b="1" dirty="0">
                <a:solidFill>
                  <a:srgbClr val="27333D"/>
                </a:solidFill>
                <a:latin typeface="Calibri" pitchFamily="34" charset="0"/>
                <a:ea typeface="Calibri" pitchFamily="34" charset="-122"/>
                <a:cs typeface="Calibri" pitchFamily="34" charset="-120"/>
              </a:rPr>
              <a:t>Seasonal yield gap is statistically significant.  </a:t>
            </a:r>
            <a:pPr indent="0" marL="0">
              <a:lnSpc>
                <a:spcPct val="100000"/>
              </a:lnSpc>
              <a:buNone/>
            </a:pPr>
            <a:r>
              <a:rPr lang="en-US" sz="970" dirty="0">
                <a:solidFill>
                  <a:srgbClr val="5B6B76"/>
                </a:solidFill>
                <a:latin typeface="Calibri" pitchFamily="34" charset="0"/>
                <a:ea typeface="Calibri" pitchFamily="34" charset="-122"/>
                <a:cs typeface="Calibri" pitchFamily="34" charset="-120"/>
              </a:rPr>
              <a:t>Kruskal-Wallis p ≪ 0.05, even after crop-adjustment.</a:t>
            </a:r>
            <a:endParaRPr lang="en-US" sz="1050" dirty="0"/>
          </a:p>
        </p:txBody>
      </p:sp>
      <p:sp>
        <p:nvSpPr>
          <p:cNvPr id="16" name="Shape 14"/>
          <p:cNvSpPr/>
          <p:nvPr/>
        </p:nvSpPr>
        <p:spPr>
          <a:xfrm>
            <a:off x="502920" y="2788920"/>
            <a:ext cx="82296" cy="82296"/>
          </a:xfrm>
          <a:prstGeom prst="ellipse">
            <a:avLst/>
          </a:prstGeom>
          <a:solidFill>
            <a:srgbClr val="2E946B"/>
          </a:solidFill>
          <a:ln/>
        </p:spPr>
      </p:sp>
      <p:sp>
        <p:nvSpPr>
          <p:cNvPr id="17" name="Text 15"/>
          <p:cNvSpPr/>
          <p:nvPr/>
        </p:nvSpPr>
        <p:spPr>
          <a:xfrm>
            <a:off x="685800" y="2670048"/>
            <a:ext cx="5440680" cy="566928"/>
          </a:xfrm>
          <a:prstGeom prst="rect">
            <a:avLst/>
          </a:prstGeom>
          <a:noFill/>
          <a:ln/>
        </p:spPr>
        <p:txBody>
          <a:bodyPr wrap="square" rtlCol="0" anchor="t"/>
          <a:lstStyle/>
          <a:p>
            <a:pPr indent="0" marL="0">
              <a:lnSpc>
                <a:spcPct val="100000"/>
              </a:lnSpc>
              <a:buNone/>
            </a:pPr>
            <a:r>
              <a:rPr lang="en-US" sz="1050" b="1" dirty="0">
                <a:solidFill>
                  <a:srgbClr val="27333D"/>
                </a:solidFill>
                <a:latin typeface="Calibri" pitchFamily="34" charset="0"/>
                <a:ea typeface="Calibri" pitchFamily="34" charset="-122"/>
                <a:cs typeface="Calibri" pitchFamily="34" charset="-120"/>
              </a:rPr>
              <a:t>Zaid shows negative average profit.  </a:t>
            </a:r>
            <a:pPr indent="0" marL="0">
              <a:lnSpc>
                <a:spcPct val="100000"/>
              </a:lnSpc>
              <a:buNone/>
            </a:pPr>
            <a:r>
              <a:rPr lang="en-US" sz="970" dirty="0">
                <a:solidFill>
                  <a:srgbClr val="5B6B76"/>
                </a:solidFill>
                <a:latin typeface="Calibri" pitchFamily="34" charset="0"/>
                <a:ea typeface="Calibri" pitchFamily="34" charset="-122"/>
                <a:cs typeface="Calibri" pitchFamily="34" charset="-120"/>
              </a:rPr>
              <a:t>Driven by lower output/efficiency, not lower market price.</a:t>
            </a:r>
            <a:endParaRPr lang="en-US" sz="1050" dirty="0"/>
          </a:p>
        </p:txBody>
      </p:sp>
      <p:sp>
        <p:nvSpPr>
          <p:cNvPr id="18" name="Shape 16"/>
          <p:cNvSpPr/>
          <p:nvPr/>
        </p:nvSpPr>
        <p:spPr>
          <a:xfrm>
            <a:off x="502920" y="3392424"/>
            <a:ext cx="82296" cy="82296"/>
          </a:xfrm>
          <a:prstGeom prst="ellipse">
            <a:avLst/>
          </a:prstGeom>
          <a:solidFill>
            <a:srgbClr val="2E946B"/>
          </a:solidFill>
          <a:ln/>
        </p:spPr>
      </p:sp>
      <p:sp>
        <p:nvSpPr>
          <p:cNvPr id="19" name="Text 17"/>
          <p:cNvSpPr/>
          <p:nvPr/>
        </p:nvSpPr>
        <p:spPr>
          <a:xfrm>
            <a:off x="685800" y="3273552"/>
            <a:ext cx="5440680" cy="566928"/>
          </a:xfrm>
          <a:prstGeom prst="rect">
            <a:avLst/>
          </a:prstGeom>
          <a:noFill/>
          <a:ln/>
        </p:spPr>
        <p:txBody>
          <a:bodyPr wrap="square" rtlCol="0" anchor="t"/>
          <a:lstStyle/>
          <a:p>
            <a:pPr indent="0" marL="0">
              <a:lnSpc>
                <a:spcPct val="100000"/>
              </a:lnSpc>
              <a:buNone/>
            </a:pPr>
            <a:r>
              <a:rPr lang="en-US" sz="1050" b="1" dirty="0">
                <a:solidFill>
                  <a:srgbClr val="27333D"/>
                </a:solidFill>
                <a:latin typeface="Calibri" pitchFamily="34" charset="0"/>
                <a:ea typeface="Calibri" pitchFamily="34" charset="-122"/>
                <a:cs typeface="Calibri" pitchFamily="34" charset="-120"/>
              </a:rPr>
              <a:t>Zaid is least water-efficient.  </a:t>
            </a:r>
            <a:pPr indent="0" marL="0">
              <a:lnSpc>
                <a:spcPct val="100000"/>
              </a:lnSpc>
              <a:buNone/>
            </a:pPr>
            <a:r>
              <a:rPr lang="en-US" sz="970" dirty="0">
                <a:solidFill>
                  <a:srgbClr val="5B6B76"/>
                </a:solidFill>
                <a:latin typeface="Calibri" pitchFamily="34" charset="0"/>
                <a:ea typeface="Calibri" pitchFamily="34" charset="-122"/>
                <a:cs typeface="Calibri" pitchFamily="34" charset="-120"/>
              </a:rPr>
              <a:t>Highest water use but lowest tonnes produced per 1000 m³.</a:t>
            </a:r>
            <a:endParaRPr lang="en-US" sz="1050" dirty="0"/>
          </a:p>
        </p:txBody>
      </p:sp>
      <p:sp>
        <p:nvSpPr>
          <p:cNvPr id="20" name="Shape 18"/>
          <p:cNvSpPr/>
          <p:nvPr/>
        </p:nvSpPr>
        <p:spPr>
          <a:xfrm>
            <a:off x="502920" y="3995928"/>
            <a:ext cx="82296" cy="82296"/>
          </a:xfrm>
          <a:prstGeom prst="ellipse">
            <a:avLst/>
          </a:prstGeom>
          <a:solidFill>
            <a:srgbClr val="2E946B"/>
          </a:solidFill>
          <a:ln/>
        </p:spPr>
      </p:sp>
      <p:sp>
        <p:nvSpPr>
          <p:cNvPr id="21" name="Text 19"/>
          <p:cNvSpPr/>
          <p:nvPr/>
        </p:nvSpPr>
        <p:spPr>
          <a:xfrm>
            <a:off x="685800" y="3877056"/>
            <a:ext cx="5440680" cy="566928"/>
          </a:xfrm>
          <a:prstGeom prst="rect">
            <a:avLst/>
          </a:prstGeom>
          <a:noFill/>
          <a:ln/>
        </p:spPr>
        <p:txBody>
          <a:bodyPr wrap="square" rtlCol="0" anchor="t"/>
          <a:lstStyle/>
          <a:p>
            <a:pPr indent="0" marL="0">
              <a:lnSpc>
                <a:spcPct val="100000"/>
              </a:lnSpc>
              <a:buNone/>
            </a:pPr>
            <a:r>
              <a:rPr lang="en-US" sz="1050" b="1" dirty="0">
                <a:solidFill>
                  <a:srgbClr val="27333D"/>
                </a:solidFill>
                <a:latin typeface="Calibri" pitchFamily="34" charset="0"/>
                <a:ea typeface="Calibri" pitchFamily="34" charset="-122"/>
                <a:cs typeface="Calibri" pitchFamily="34" charset="-120"/>
              </a:rPr>
              <a:t>Pattern holds broadly across states &amp; crops.  </a:t>
            </a:r>
            <a:pPr indent="0" marL="0">
              <a:lnSpc>
                <a:spcPct val="100000"/>
              </a:lnSpc>
              <a:buNone/>
            </a:pPr>
            <a:r>
              <a:rPr lang="en-US" sz="970" dirty="0">
                <a:solidFill>
                  <a:srgbClr val="5B6B76"/>
                </a:solidFill>
                <a:latin typeface="Calibri" pitchFamily="34" charset="0"/>
                <a:ea typeface="Calibri" pitchFamily="34" charset="-122"/>
                <a:cs typeface="Calibri" pitchFamily="34" charset="-120"/>
              </a:rPr>
              <a:t>Kharif-best / Zaid-worst repeats in most states and crops individually.</a:t>
            </a:r>
            <a:endParaRPr lang="en-US" sz="1050" dirty="0"/>
          </a:p>
        </p:txBody>
      </p:sp>
      <p:sp>
        <p:nvSpPr>
          <p:cNvPr id="22" name="Shape 20"/>
          <p:cNvSpPr/>
          <p:nvPr/>
        </p:nvSpPr>
        <p:spPr>
          <a:xfrm>
            <a:off x="6355080" y="1143000"/>
            <a:ext cx="82296" cy="292608"/>
          </a:xfrm>
          <a:prstGeom prst="rect">
            <a:avLst/>
          </a:prstGeom>
          <a:solidFill>
            <a:srgbClr val="E07B1A"/>
          </a:solidFill>
          <a:ln/>
        </p:spPr>
      </p:sp>
      <p:sp>
        <p:nvSpPr>
          <p:cNvPr id="23" name="Text 21"/>
          <p:cNvSpPr/>
          <p:nvPr/>
        </p:nvSpPr>
        <p:spPr>
          <a:xfrm>
            <a:off x="6519672" y="1115568"/>
            <a:ext cx="5138928" cy="347472"/>
          </a:xfrm>
          <a:prstGeom prst="rect">
            <a:avLst/>
          </a:prstGeom>
          <a:noFill/>
          <a:ln/>
        </p:spPr>
        <p:txBody>
          <a:bodyPr wrap="square" rtlCol="0" anchor="ctr"/>
          <a:lstStyle/>
          <a:p>
            <a:pPr indent="0" marL="0">
              <a:buNone/>
            </a:pPr>
            <a:r>
              <a:rPr lang="en-US" sz="1500" b="1" dirty="0">
                <a:solidFill>
                  <a:srgbClr val="27333D"/>
                </a:solidFill>
                <a:latin typeface="Cambria" pitchFamily="34" charset="0"/>
                <a:ea typeface="Cambria" pitchFamily="34" charset="-122"/>
                <a:cs typeface="Cambria" pitchFamily="34" charset="-120"/>
              </a:rPr>
              <a:t>Data-Driven Recommendations</a:t>
            </a:r>
            <a:endParaRPr lang="en-US" sz="1500" dirty="0"/>
          </a:p>
        </p:txBody>
      </p:sp>
      <p:sp>
        <p:nvSpPr>
          <p:cNvPr id="24" name="Shape 22"/>
          <p:cNvSpPr/>
          <p:nvPr/>
        </p:nvSpPr>
        <p:spPr>
          <a:xfrm>
            <a:off x="6355080" y="1581912"/>
            <a:ext cx="82296" cy="82296"/>
          </a:xfrm>
          <a:prstGeom prst="ellipse">
            <a:avLst/>
          </a:prstGeom>
          <a:solidFill>
            <a:srgbClr val="E07B1A"/>
          </a:solidFill>
          <a:ln/>
        </p:spPr>
      </p:sp>
      <p:sp>
        <p:nvSpPr>
          <p:cNvPr id="25" name="Text 23"/>
          <p:cNvSpPr/>
          <p:nvPr/>
        </p:nvSpPr>
        <p:spPr>
          <a:xfrm>
            <a:off x="6537960" y="1463040"/>
            <a:ext cx="5120640" cy="713232"/>
          </a:xfrm>
          <a:prstGeom prst="rect">
            <a:avLst/>
          </a:prstGeom>
          <a:noFill/>
          <a:ln/>
        </p:spPr>
        <p:txBody>
          <a:bodyPr wrap="square" rtlCol="0" anchor="t"/>
          <a:lstStyle/>
          <a:p>
            <a:pPr indent="0" marL="0">
              <a:lnSpc>
                <a:spcPct val="100000"/>
              </a:lnSpc>
              <a:buNone/>
            </a:pPr>
            <a:r>
              <a:rPr lang="en-US" sz="1050" b="1" dirty="0">
                <a:solidFill>
                  <a:srgbClr val="27333D"/>
                </a:solidFill>
                <a:latin typeface="Calibri" pitchFamily="34" charset="0"/>
                <a:ea typeface="Calibri" pitchFamily="34" charset="-122"/>
                <a:cs typeface="Calibri" pitchFamily="34" charset="-120"/>
              </a:rPr>
              <a:t>Treat Zaid cultivation as higher financial risk  </a:t>
            </a:r>
            <a:pPr indent="0" marL="0">
              <a:lnSpc>
                <a:spcPct val="100000"/>
              </a:lnSpc>
              <a:buNone/>
            </a:pPr>
            <a:r>
              <a:rPr lang="en-US" sz="970" dirty="0">
                <a:solidFill>
                  <a:srgbClr val="5B6B76"/>
                </a:solidFill>
                <a:latin typeface="Calibri" pitchFamily="34" charset="0"/>
                <a:ea typeface="Calibri" pitchFamily="34" charset="-122"/>
                <a:cs typeface="Calibri" pitchFamily="34" charset="-120"/>
              </a:rPr>
              <a:t>Average/median profit is negative in Zaid; review cost control and crop choice.</a:t>
            </a:r>
            <a:endParaRPr lang="en-US" sz="1050" dirty="0"/>
          </a:p>
        </p:txBody>
      </p:sp>
      <p:sp>
        <p:nvSpPr>
          <p:cNvPr id="26" name="Shape 24"/>
          <p:cNvSpPr/>
          <p:nvPr/>
        </p:nvSpPr>
        <p:spPr>
          <a:xfrm>
            <a:off x="6355080" y="2331720"/>
            <a:ext cx="82296" cy="82296"/>
          </a:xfrm>
          <a:prstGeom prst="ellipse">
            <a:avLst/>
          </a:prstGeom>
          <a:solidFill>
            <a:srgbClr val="E07B1A"/>
          </a:solidFill>
          <a:ln/>
        </p:spPr>
      </p:sp>
      <p:sp>
        <p:nvSpPr>
          <p:cNvPr id="27" name="Text 25"/>
          <p:cNvSpPr/>
          <p:nvPr/>
        </p:nvSpPr>
        <p:spPr>
          <a:xfrm>
            <a:off x="6537960" y="2212848"/>
            <a:ext cx="5120640" cy="713232"/>
          </a:xfrm>
          <a:prstGeom prst="rect">
            <a:avLst/>
          </a:prstGeom>
          <a:noFill/>
          <a:ln/>
        </p:spPr>
        <p:txBody>
          <a:bodyPr wrap="square" rtlCol="0" anchor="t"/>
          <a:lstStyle/>
          <a:p>
            <a:pPr indent="0" marL="0">
              <a:lnSpc>
                <a:spcPct val="100000"/>
              </a:lnSpc>
              <a:buNone/>
            </a:pPr>
            <a:r>
              <a:rPr lang="en-US" sz="1050" b="1" dirty="0">
                <a:solidFill>
                  <a:srgbClr val="27333D"/>
                </a:solidFill>
                <a:latin typeface="Calibri" pitchFamily="34" charset="0"/>
                <a:ea typeface="Calibri" pitchFamily="34" charset="-122"/>
                <a:cs typeface="Calibri" pitchFamily="34" charset="-120"/>
              </a:rPr>
              <a:t>Prioritize water-efficiency measures in Zaid  </a:t>
            </a:r>
            <a:pPr indent="0" marL="0">
              <a:lnSpc>
                <a:spcPct val="100000"/>
              </a:lnSpc>
              <a:buNone/>
            </a:pPr>
            <a:r>
              <a:rPr lang="en-US" sz="970" dirty="0">
                <a:solidFill>
                  <a:srgbClr val="5B6B76"/>
                </a:solidFill>
                <a:latin typeface="Calibri" pitchFamily="34" charset="0"/>
                <a:ea typeface="Calibri" pitchFamily="34" charset="-122"/>
                <a:cs typeface="Calibri" pitchFamily="34" charset="-120"/>
              </a:rPr>
              <a:t>Same irrigation mix as other seasons but lowest efficiency — targeted intervention may help most here.</a:t>
            </a:r>
            <a:endParaRPr lang="en-US" sz="1050" dirty="0"/>
          </a:p>
        </p:txBody>
      </p:sp>
      <p:sp>
        <p:nvSpPr>
          <p:cNvPr id="28" name="Shape 26"/>
          <p:cNvSpPr/>
          <p:nvPr/>
        </p:nvSpPr>
        <p:spPr>
          <a:xfrm>
            <a:off x="6355080" y="3081528"/>
            <a:ext cx="82296" cy="82296"/>
          </a:xfrm>
          <a:prstGeom prst="ellipse">
            <a:avLst/>
          </a:prstGeom>
          <a:solidFill>
            <a:srgbClr val="E07B1A"/>
          </a:solidFill>
          <a:ln/>
        </p:spPr>
      </p:sp>
      <p:sp>
        <p:nvSpPr>
          <p:cNvPr id="29" name="Text 27"/>
          <p:cNvSpPr/>
          <p:nvPr/>
        </p:nvSpPr>
        <p:spPr>
          <a:xfrm>
            <a:off x="6537960" y="2962656"/>
            <a:ext cx="5120640" cy="713232"/>
          </a:xfrm>
          <a:prstGeom prst="rect">
            <a:avLst/>
          </a:prstGeom>
          <a:noFill/>
          <a:ln/>
        </p:spPr>
        <p:txBody>
          <a:bodyPr wrap="square" rtlCol="0" anchor="t"/>
          <a:lstStyle/>
          <a:p>
            <a:pPr indent="0" marL="0">
              <a:lnSpc>
                <a:spcPct val="100000"/>
              </a:lnSpc>
              <a:buNone/>
            </a:pPr>
            <a:r>
              <a:rPr lang="en-US" sz="1050" b="1" dirty="0">
                <a:solidFill>
                  <a:srgbClr val="27333D"/>
                </a:solidFill>
                <a:latin typeface="Calibri" pitchFamily="34" charset="0"/>
                <a:ea typeface="Calibri" pitchFamily="34" charset="-122"/>
                <a:cs typeface="Calibri" pitchFamily="34" charset="-120"/>
              </a:rPr>
              <a:t>Plan at crop × season level, not season alone  </a:t>
            </a:r>
            <a:pPr indent="0" marL="0">
              <a:lnSpc>
                <a:spcPct val="100000"/>
              </a:lnSpc>
              <a:buNone/>
            </a:pPr>
            <a:r>
              <a:rPr lang="en-US" sz="970" dirty="0">
                <a:solidFill>
                  <a:srgbClr val="5B6B76"/>
                </a:solidFill>
                <a:latin typeface="Calibri" pitchFamily="34" charset="0"/>
                <a:ea typeface="Calibri" pitchFamily="34" charset="-122"/>
                <a:cs typeface="Calibri" pitchFamily="34" charset="-120"/>
              </a:rPr>
              <a:t>Best season differs by crop; a blanket “avoid Zaid” rule may not suit every crop.</a:t>
            </a:r>
            <a:endParaRPr lang="en-US" sz="1050" dirty="0"/>
          </a:p>
        </p:txBody>
      </p:sp>
      <p:sp>
        <p:nvSpPr>
          <p:cNvPr id="30" name="Shape 28"/>
          <p:cNvSpPr/>
          <p:nvPr/>
        </p:nvSpPr>
        <p:spPr>
          <a:xfrm>
            <a:off x="6355080" y="3831336"/>
            <a:ext cx="82296" cy="82296"/>
          </a:xfrm>
          <a:prstGeom prst="ellipse">
            <a:avLst/>
          </a:prstGeom>
          <a:solidFill>
            <a:srgbClr val="E07B1A"/>
          </a:solidFill>
          <a:ln/>
        </p:spPr>
      </p:sp>
      <p:sp>
        <p:nvSpPr>
          <p:cNvPr id="31" name="Text 29"/>
          <p:cNvSpPr/>
          <p:nvPr/>
        </p:nvSpPr>
        <p:spPr>
          <a:xfrm>
            <a:off x="6537960" y="3712464"/>
            <a:ext cx="5120640" cy="713232"/>
          </a:xfrm>
          <a:prstGeom prst="rect">
            <a:avLst/>
          </a:prstGeom>
          <a:noFill/>
          <a:ln/>
        </p:spPr>
        <p:txBody>
          <a:bodyPr wrap="square" rtlCol="0" anchor="t"/>
          <a:lstStyle/>
          <a:p>
            <a:pPr indent="0" marL="0">
              <a:lnSpc>
                <a:spcPct val="100000"/>
              </a:lnSpc>
              <a:buNone/>
            </a:pPr>
            <a:r>
              <a:rPr lang="en-US" sz="1050" b="1" dirty="0">
                <a:solidFill>
                  <a:srgbClr val="27333D"/>
                </a:solidFill>
                <a:latin typeface="Calibri" pitchFamily="34" charset="0"/>
                <a:ea typeface="Calibri" pitchFamily="34" charset="-122"/>
                <a:cs typeface="Calibri" pitchFamily="34" charset="-120"/>
              </a:rPr>
              <a:t>Manage pest/disease risk during Kharif  </a:t>
            </a:r>
            <a:pPr indent="0" marL="0">
              <a:lnSpc>
                <a:spcPct val="100000"/>
              </a:lnSpc>
              <a:buNone/>
            </a:pPr>
            <a:r>
              <a:rPr lang="en-US" sz="970" dirty="0">
                <a:solidFill>
                  <a:srgbClr val="5B6B76"/>
                </a:solidFill>
                <a:latin typeface="Calibri" pitchFamily="34" charset="0"/>
                <a:ea typeface="Calibri" pitchFamily="34" charset="-122"/>
                <a:cs typeface="Calibri" pitchFamily="34" charset="-120"/>
              </a:rPr>
              <a:t>Kharif has both the highest yield and the highest disease/pest risk — protecting it protects the most output.</a:t>
            </a:r>
            <a:endParaRPr lang="en-US" sz="1050" dirty="0"/>
          </a:p>
        </p:txBody>
      </p:sp>
      <p:sp>
        <p:nvSpPr>
          <p:cNvPr id="32" name="Shape 30"/>
          <p:cNvSpPr/>
          <p:nvPr/>
        </p:nvSpPr>
        <p:spPr>
          <a:xfrm>
            <a:off x="502920" y="4709160"/>
            <a:ext cx="11109960" cy="1234440"/>
          </a:xfrm>
          <a:prstGeom prst="roundRect">
            <a:avLst>
              <a:gd name="adj" fmla="val 5926"/>
            </a:avLst>
          </a:prstGeom>
          <a:solidFill>
            <a:srgbClr val="1B5E86">
              <a:alpha val="10000"/>
            </a:srgbClr>
          </a:solidFill>
          <a:ln w="12700">
            <a:solidFill>
              <a:srgbClr val="1B5E86"/>
            </a:solidFill>
            <a:prstDash val="solid"/>
          </a:ln>
        </p:spPr>
      </p:sp>
      <p:sp>
        <p:nvSpPr>
          <p:cNvPr id="33" name="Text 31"/>
          <p:cNvSpPr/>
          <p:nvPr/>
        </p:nvSpPr>
        <p:spPr>
          <a:xfrm>
            <a:off x="640080" y="4782312"/>
            <a:ext cx="10835640" cy="1088136"/>
          </a:xfrm>
          <a:prstGeom prst="rect">
            <a:avLst/>
          </a:prstGeom>
          <a:noFill/>
          <a:ln/>
        </p:spPr>
        <p:txBody>
          <a:bodyPr wrap="square" rtlCol="0" anchor="t"/>
          <a:lstStyle/>
          <a:p>
            <a:pPr indent="0" marL="0">
              <a:lnSpc>
                <a:spcPct val="105000"/>
              </a:lnSpc>
              <a:buNone/>
            </a:pPr>
            <a:r>
              <a:rPr lang="en-US" sz="1200" b="1" dirty="0">
                <a:solidFill>
                  <a:srgbClr val="1B5E86"/>
                </a:solidFill>
                <a:latin typeface="Calibri" pitchFamily="34" charset="0"/>
                <a:ea typeface="Calibri" pitchFamily="34" charset="-122"/>
                <a:cs typeface="Calibri" pitchFamily="34" charset="-120"/>
              </a:rPr>
              <a:t>Limitations (brief)
</a:t>
            </a:r>
            <a:pPr indent="0" marL="0">
              <a:lnSpc>
                <a:spcPct val="105000"/>
              </a:lnSpc>
              <a:buNone/>
            </a:pPr>
            <a:r>
              <a:rPr lang="en-US" sz="1150" dirty="0">
                <a:solidFill>
                  <a:srgbClr val="27333D"/>
                </a:solidFill>
                <a:latin typeface="Calibri" pitchFamily="34" charset="0"/>
                <a:ea typeface="Calibri" pitchFamily="34" charset="-122"/>
                <a:cs typeface="Calibri" pitchFamily="34" charset="-120"/>
              </a:rPr>
              <a:t>Cross-sectional observational data with unequal sample sizes across seasons (Zaid n=594 vs. Kharif n=1,779); a small share of values were median-imputed; findings are correlational, not causal, and limited to the 8 states / 8 crops present in the dataset.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CFE3ED"/>
          </a:solidFill>
          <a:ln/>
        </p:spPr>
      </p:sp>
      <p:sp>
        <p:nvSpPr>
          <p:cNvPr id="3" name="Shape 1"/>
          <p:cNvSpPr/>
          <p:nvPr/>
        </p:nvSpPr>
        <p:spPr>
          <a:xfrm rot="2700000">
            <a:off x="10362895" y="5029200"/>
            <a:ext cx="3291840" cy="3291840"/>
          </a:xfrm>
          <a:prstGeom prst="rect">
            <a:avLst/>
          </a:prstGeom>
          <a:solidFill>
            <a:srgbClr val="BFE3DE"/>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Text 4"/>
          <p:cNvSpPr/>
          <p:nvPr/>
        </p:nvSpPr>
        <p:spPr>
          <a:xfrm>
            <a:off x="502920" y="320040"/>
            <a:ext cx="11185855" cy="640080"/>
          </a:xfrm>
          <a:prstGeom prst="rect">
            <a:avLst/>
          </a:prstGeom>
          <a:noFill/>
          <a:ln/>
        </p:spPr>
        <p:txBody>
          <a:bodyPr wrap="square" rtlCol="0" anchor="ctr"/>
          <a:lstStyle/>
          <a:p>
            <a:pPr indent="0" marL="0">
              <a:buNone/>
            </a:pPr>
            <a:r>
              <a:rPr lang="en-US" sz="3000" b="1" dirty="0">
                <a:solidFill>
                  <a:srgbClr val="1B5E86"/>
                </a:solidFill>
                <a:latin typeface="Cambria" pitchFamily="34" charset="0"/>
                <a:ea typeface="Cambria" pitchFamily="34" charset="-122"/>
                <a:cs typeface="Cambria" pitchFamily="34" charset="-120"/>
              </a:rPr>
              <a:t>Future Scope</a:t>
            </a:r>
            <a:endParaRPr lang="en-US" sz="3000" dirty="0"/>
          </a:p>
        </p:txBody>
      </p:sp>
      <p:sp>
        <p:nvSpPr>
          <p:cNvPr id="7" name="Shape 5"/>
          <p:cNvSpPr/>
          <p:nvPr/>
        </p:nvSpPr>
        <p:spPr>
          <a:xfrm>
            <a:off x="530352" y="960120"/>
            <a:ext cx="1188720" cy="41148"/>
          </a:xfrm>
          <a:prstGeom prst="rect">
            <a:avLst/>
          </a:prstGeom>
          <a:solidFill>
            <a:srgbClr val="E07B1A"/>
          </a:solidFill>
          <a:ln/>
        </p:spPr>
      </p:sp>
      <p:sp>
        <p:nvSpPr>
          <p:cNvPr id="8" name="Text 6"/>
          <p:cNvSpPr/>
          <p:nvPr/>
        </p:nvSpPr>
        <p:spPr>
          <a:xfrm>
            <a:off x="365760" y="6528816"/>
            <a:ext cx="6400800" cy="274320"/>
          </a:xfrm>
          <a:prstGeom prst="rect">
            <a:avLst/>
          </a:prstGeom>
          <a:noFill/>
          <a:ln/>
        </p:spPr>
        <p:txBody>
          <a:bodyPr wrap="square" rtlCol="0" anchor="ctr"/>
          <a:lstStyle/>
          <a:p>
            <a:pPr indent="0" marL="0">
              <a:buNone/>
            </a:pPr>
            <a:r>
              <a:rPr lang="en-US" sz="900" i="1" dirty="0">
                <a:solidFill>
                  <a:srgbClr val="5B6B76"/>
                </a:solidFill>
                <a:latin typeface="Calibri" pitchFamily="34" charset="0"/>
                <a:ea typeface="Calibri" pitchFamily="34" charset="-122"/>
                <a:cs typeface="Calibri" pitchFamily="34" charset="-120"/>
              </a:rPr>
              <a:t>Seasonal Agriculture Performance Analysis</a:t>
            </a:r>
            <a:endParaRPr lang="en-US" sz="900" dirty="0"/>
          </a:p>
        </p:txBody>
      </p:sp>
      <p:sp>
        <p:nvSpPr>
          <p:cNvPr id="9" name="Text 7"/>
          <p:cNvSpPr/>
          <p:nvPr/>
        </p:nvSpPr>
        <p:spPr>
          <a:xfrm>
            <a:off x="11551615" y="6528816"/>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12</a:t>
            </a:r>
            <a:endParaRPr lang="en-US" sz="900" dirty="0"/>
          </a:p>
        </p:txBody>
      </p:sp>
      <p:sp>
        <p:nvSpPr>
          <p:cNvPr id="10" name="Shape 8"/>
          <p:cNvSpPr/>
          <p:nvPr/>
        </p:nvSpPr>
        <p:spPr>
          <a:xfrm>
            <a:off x="502920" y="1280160"/>
            <a:ext cx="3566160" cy="1691640"/>
          </a:xfrm>
          <a:prstGeom prst="roundRect">
            <a:avLst>
              <a:gd name="adj" fmla="val 4865"/>
            </a:avLst>
          </a:prstGeom>
          <a:solidFill>
            <a:srgbClr val="FFFFFF"/>
          </a:solidFill>
          <a:ln w="12700">
            <a:solidFill>
              <a:srgbClr val="DDE6EA"/>
            </a:solidFill>
            <a:prstDash val="solid"/>
          </a:ln>
          <a:effectLst>
            <a:outerShdw sx="100000" sy="100000" kx="0" ky="0" algn="bl" rotWithShape="0" blurRad="50800" dist="25400" dir="5400000">
              <a:srgbClr val="888888">
                <a:alpha val="20000"/>
              </a:srgbClr>
            </a:outerShdw>
          </a:effectLst>
        </p:spPr>
      </p:sp>
      <p:sp>
        <p:nvSpPr>
          <p:cNvPr id="11" name="Shape 9"/>
          <p:cNvSpPr/>
          <p:nvPr/>
        </p:nvSpPr>
        <p:spPr>
          <a:xfrm>
            <a:off x="502920" y="1280160"/>
            <a:ext cx="82296" cy="1691640"/>
          </a:xfrm>
          <a:prstGeom prst="rect">
            <a:avLst/>
          </a:prstGeom>
          <a:solidFill>
            <a:srgbClr val="2E7D32"/>
          </a:solidFill>
          <a:ln/>
        </p:spPr>
      </p:sp>
      <p:sp>
        <p:nvSpPr>
          <p:cNvPr id="12" name="Text 10"/>
          <p:cNvSpPr/>
          <p:nvPr/>
        </p:nvSpPr>
        <p:spPr>
          <a:xfrm>
            <a:off x="758952" y="1426464"/>
            <a:ext cx="3154680" cy="457200"/>
          </a:xfrm>
          <a:prstGeom prst="rect">
            <a:avLst/>
          </a:prstGeom>
          <a:noFill/>
          <a:ln/>
        </p:spPr>
        <p:txBody>
          <a:bodyPr wrap="square" rtlCol="0" anchor="ctr"/>
          <a:lstStyle/>
          <a:p>
            <a:pPr indent="0" marL="0">
              <a:buNone/>
            </a:pPr>
            <a:r>
              <a:rPr lang="en-US" sz="1250" b="1" dirty="0">
                <a:solidFill>
                  <a:srgbClr val="27333D"/>
                </a:solidFill>
                <a:latin typeface="Cambria" pitchFamily="34" charset="0"/>
                <a:ea typeface="Cambria" pitchFamily="34" charset="-122"/>
                <a:cs typeface="Cambria" pitchFamily="34" charset="-120"/>
              </a:rPr>
              <a:t>Multi-Year Data</a:t>
            </a:r>
            <a:endParaRPr lang="en-US" sz="1250" dirty="0"/>
          </a:p>
        </p:txBody>
      </p:sp>
      <p:sp>
        <p:nvSpPr>
          <p:cNvPr id="13" name="Text 11"/>
          <p:cNvSpPr/>
          <p:nvPr/>
        </p:nvSpPr>
        <p:spPr>
          <a:xfrm>
            <a:off x="758952" y="1847088"/>
            <a:ext cx="3154680" cy="1005840"/>
          </a:xfrm>
          <a:prstGeom prst="rect">
            <a:avLst/>
          </a:prstGeom>
          <a:noFill/>
          <a:ln/>
        </p:spPr>
        <p:txBody>
          <a:bodyPr wrap="square" rtlCol="0" anchor="t"/>
          <a:lstStyle/>
          <a:p>
            <a:pPr indent="0" marL="0">
              <a:lnSpc>
                <a:spcPct val="112000"/>
              </a:lnSpc>
              <a:buNone/>
            </a:pPr>
            <a:r>
              <a:rPr lang="en-US" sz="1000" dirty="0">
                <a:solidFill>
                  <a:srgbClr val="5B6B76"/>
                </a:solidFill>
                <a:latin typeface="Calibri" pitchFamily="34" charset="0"/>
                <a:ea typeface="Calibri" pitchFamily="34" charset="-122"/>
                <a:cs typeface="Calibri" pitchFamily="34" charset="-120"/>
              </a:rPr>
              <a:t>Incorporate multiple years of records to identify long-term seasonal trends rather than a single-year snapshot.</a:t>
            </a:r>
            <a:endParaRPr lang="en-US" sz="1000" dirty="0"/>
          </a:p>
        </p:txBody>
      </p:sp>
      <p:sp>
        <p:nvSpPr>
          <p:cNvPr id="14" name="Shape 12"/>
          <p:cNvSpPr/>
          <p:nvPr/>
        </p:nvSpPr>
        <p:spPr>
          <a:xfrm>
            <a:off x="4251960" y="1280160"/>
            <a:ext cx="3566160" cy="1691640"/>
          </a:xfrm>
          <a:prstGeom prst="roundRect">
            <a:avLst>
              <a:gd name="adj" fmla="val 4865"/>
            </a:avLst>
          </a:prstGeom>
          <a:solidFill>
            <a:srgbClr val="FFFFFF"/>
          </a:solidFill>
          <a:ln w="12700">
            <a:solidFill>
              <a:srgbClr val="DDE6EA"/>
            </a:solidFill>
            <a:prstDash val="solid"/>
          </a:ln>
          <a:effectLst>
            <a:outerShdw sx="100000" sy="100000" kx="0" ky="0" algn="bl" rotWithShape="0" blurRad="50800" dist="25400" dir="5400000">
              <a:srgbClr val="888888">
                <a:alpha val="20000"/>
              </a:srgbClr>
            </a:outerShdw>
          </a:effectLst>
        </p:spPr>
      </p:sp>
      <p:sp>
        <p:nvSpPr>
          <p:cNvPr id="15" name="Shape 13"/>
          <p:cNvSpPr/>
          <p:nvPr/>
        </p:nvSpPr>
        <p:spPr>
          <a:xfrm>
            <a:off x="4251960" y="1280160"/>
            <a:ext cx="82296" cy="1691640"/>
          </a:xfrm>
          <a:prstGeom prst="rect">
            <a:avLst/>
          </a:prstGeom>
          <a:solidFill>
            <a:srgbClr val="1565C0"/>
          </a:solidFill>
          <a:ln/>
        </p:spPr>
      </p:sp>
      <p:sp>
        <p:nvSpPr>
          <p:cNvPr id="16" name="Text 14"/>
          <p:cNvSpPr/>
          <p:nvPr/>
        </p:nvSpPr>
        <p:spPr>
          <a:xfrm>
            <a:off x="4507992" y="1426464"/>
            <a:ext cx="3154680" cy="457200"/>
          </a:xfrm>
          <a:prstGeom prst="rect">
            <a:avLst/>
          </a:prstGeom>
          <a:noFill/>
          <a:ln/>
        </p:spPr>
        <p:txBody>
          <a:bodyPr wrap="square" rtlCol="0" anchor="ctr"/>
          <a:lstStyle/>
          <a:p>
            <a:pPr indent="0" marL="0">
              <a:buNone/>
            </a:pPr>
            <a:r>
              <a:rPr lang="en-US" sz="1250" b="1" dirty="0">
                <a:solidFill>
                  <a:srgbClr val="27333D"/>
                </a:solidFill>
                <a:latin typeface="Cambria" pitchFamily="34" charset="0"/>
                <a:ea typeface="Cambria" pitchFamily="34" charset="-122"/>
                <a:cs typeface="Cambria" pitchFamily="34" charset="-120"/>
              </a:rPr>
              <a:t>Predictive Modeling</a:t>
            </a:r>
            <a:endParaRPr lang="en-US" sz="1250" dirty="0"/>
          </a:p>
        </p:txBody>
      </p:sp>
      <p:sp>
        <p:nvSpPr>
          <p:cNvPr id="17" name="Text 15"/>
          <p:cNvSpPr/>
          <p:nvPr/>
        </p:nvSpPr>
        <p:spPr>
          <a:xfrm>
            <a:off x="4507992" y="1847088"/>
            <a:ext cx="3154680" cy="1005840"/>
          </a:xfrm>
          <a:prstGeom prst="rect">
            <a:avLst/>
          </a:prstGeom>
          <a:noFill/>
          <a:ln/>
        </p:spPr>
        <p:txBody>
          <a:bodyPr wrap="square" rtlCol="0" anchor="t"/>
          <a:lstStyle/>
          <a:p>
            <a:pPr indent="0" marL="0">
              <a:lnSpc>
                <a:spcPct val="112000"/>
              </a:lnSpc>
              <a:buNone/>
            </a:pPr>
            <a:r>
              <a:rPr lang="en-US" sz="1000" dirty="0">
                <a:solidFill>
                  <a:srgbClr val="5B6B76"/>
                </a:solidFill>
                <a:latin typeface="Calibri" pitchFamily="34" charset="0"/>
                <a:ea typeface="Calibri" pitchFamily="34" charset="-122"/>
                <a:cs typeface="Calibri" pitchFamily="34" charset="-120"/>
              </a:rPr>
              <a:t>Build ML models to forecast yield, profit, water requirement and seasonal risk.</a:t>
            </a:r>
            <a:endParaRPr lang="en-US" sz="1000" dirty="0"/>
          </a:p>
        </p:txBody>
      </p:sp>
      <p:sp>
        <p:nvSpPr>
          <p:cNvPr id="18" name="Shape 16"/>
          <p:cNvSpPr/>
          <p:nvPr/>
        </p:nvSpPr>
        <p:spPr>
          <a:xfrm>
            <a:off x="8001000" y="1280160"/>
            <a:ext cx="3566160" cy="1691640"/>
          </a:xfrm>
          <a:prstGeom prst="roundRect">
            <a:avLst>
              <a:gd name="adj" fmla="val 4865"/>
            </a:avLst>
          </a:prstGeom>
          <a:solidFill>
            <a:srgbClr val="FFFFFF"/>
          </a:solidFill>
          <a:ln w="12700">
            <a:solidFill>
              <a:srgbClr val="DDE6EA"/>
            </a:solidFill>
            <a:prstDash val="solid"/>
          </a:ln>
          <a:effectLst>
            <a:outerShdw sx="100000" sy="100000" kx="0" ky="0" algn="bl" rotWithShape="0" blurRad="50800" dist="25400" dir="5400000">
              <a:srgbClr val="888888">
                <a:alpha val="20000"/>
              </a:srgbClr>
            </a:outerShdw>
          </a:effectLst>
        </p:spPr>
      </p:sp>
      <p:sp>
        <p:nvSpPr>
          <p:cNvPr id="19" name="Shape 17"/>
          <p:cNvSpPr/>
          <p:nvPr/>
        </p:nvSpPr>
        <p:spPr>
          <a:xfrm>
            <a:off x="8001000" y="1280160"/>
            <a:ext cx="82296" cy="1691640"/>
          </a:xfrm>
          <a:prstGeom prst="rect">
            <a:avLst/>
          </a:prstGeom>
          <a:solidFill>
            <a:srgbClr val="2E946B"/>
          </a:solidFill>
          <a:ln/>
        </p:spPr>
      </p:sp>
      <p:sp>
        <p:nvSpPr>
          <p:cNvPr id="20" name="Text 18"/>
          <p:cNvSpPr/>
          <p:nvPr/>
        </p:nvSpPr>
        <p:spPr>
          <a:xfrm>
            <a:off x="8257032" y="1426464"/>
            <a:ext cx="3154680" cy="457200"/>
          </a:xfrm>
          <a:prstGeom prst="rect">
            <a:avLst/>
          </a:prstGeom>
          <a:noFill/>
          <a:ln/>
        </p:spPr>
        <p:txBody>
          <a:bodyPr wrap="square" rtlCol="0" anchor="ctr"/>
          <a:lstStyle/>
          <a:p>
            <a:pPr indent="0" marL="0">
              <a:buNone/>
            </a:pPr>
            <a:r>
              <a:rPr lang="en-US" sz="1250" b="1" dirty="0">
                <a:solidFill>
                  <a:srgbClr val="27333D"/>
                </a:solidFill>
                <a:latin typeface="Cambria" pitchFamily="34" charset="0"/>
                <a:ea typeface="Cambria" pitchFamily="34" charset="-122"/>
                <a:cs typeface="Cambria" pitchFamily="34" charset="-120"/>
              </a:rPr>
              <a:t>Real-Time Weather Integration</a:t>
            </a:r>
            <a:endParaRPr lang="en-US" sz="1250" dirty="0"/>
          </a:p>
        </p:txBody>
      </p:sp>
      <p:sp>
        <p:nvSpPr>
          <p:cNvPr id="21" name="Text 19"/>
          <p:cNvSpPr/>
          <p:nvPr/>
        </p:nvSpPr>
        <p:spPr>
          <a:xfrm>
            <a:off x="8257032" y="1847088"/>
            <a:ext cx="3154680" cy="1005840"/>
          </a:xfrm>
          <a:prstGeom prst="rect">
            <a:avLst/>
          </a:prstGeom>
          <a:noFill/>
          <a:ln/>
        </p:spPr>
        <p:txBody>
          <a:bodyPr wrap="square" rtlCol="0" anchor="t"/>
          <a:lstStyle/>
          <a:p>
            <a:pPr indent="0" marL="0">
              <a:lnSpc>
                <a:spcPct val="112000"/>
              </a:lnSpc>
              <a:buNone/>
            </a:pPr>
            <a:r>
              <a:rPr lang="en-US" sz="1000" dirty="0">
                <a:solidFill>
                  <a:srgbClr val="5B6B76"/>
                </a:solidFill>
                <a:latin typeface="Calibri" pitchFamily="34" charset="0"/>
                <a:ea typeface="Calibri" pitchFamily="34" charset="-122"/>
                <a:cs typeface="Calibri" pitchFamily="34" charset="-120"/>
              </a:rPr>
              <a:t>Connect live weather feeds to refine seasonal risk assessment.</a:t>
            </a:r>
            <a:endParaRPr lang="en-US" sz="1000" dirty="0"/>
          </a:p>
        </p:txBody>
      </p:sp>
      <p:sp>
        <p:nvSpPr>
          <p:cNvPr id="22" name="Shape 20"/>
          <p:cNvSpPr/>
          <p:nvPr/>
        </p:nvSpPr>
        <p:spPr>
          <a:xfrm>
            <a:off x="502920" y="3154680"/>
            <a:ext cx="3566160" cy="1691640"/>
          </a:xfrm>
          <a:prstGeom prst="roundRect">
            <a:avLst>
              <a:gd name="adj" fmla="val 4865"/>
            </a:avLst>
          </a:prstGeom>
          <a:solidFill>
            <a:srgbClr val="FFFFFF"/>
          </a:solidFill>
          <a:ln w="12700">
            <a:solidFill>
              <a:srgbClr val="DDE6EA"/>
            </a:solidFill>
            <a:prstDash val="solid"/>
          </a:ln>
          <a:effectLst>
            <a:outerShdw sx="100000" sy="100000" kx="0" ky="0" algn="bl" rotWithShape="0" blurRad="50800" dist="25400" dir="5400000">
              <a:srgbClr val="888888">
                <a:alpha val="20000"/>
              </a:srgbClr>
            </a:outerShdw>
          </a:effectLst>
        </p:spPr>
      </p:sp>
      <p:sp>
        <p:nvSpPr>
          <p:cNvPr id="23" name="Shape 21"/>
          <p:cNvSpPr/>
          <p:nvPr/>
        </p:nvSpPr>
        <p:spPr>
          <a:xfrm>
            <a:off x="502920" y="3154680"/>
            <a:ext cx="82296" cy="1691640"/>
          </a:xfrm>
          <a:prstGeom prst="rect">
            <a:avLst/>
          </a:prstGeom>
          <a:solidFill>
            <a:srgbClr val="E07B1A"/>
          </a:solidFill>
          <a:ln/>
        </p:spPr>
      </p:sp>
      <p:sp>
        <p:nvSpPr>
          <p:cNvPr id="24" name="Text 22"/>
          <p:cNvSpPr/>
          <p:nvPr/>
        </p:nvSpPr>
        <p:spPr>
          <a:xfrm>
            <a:off x="758952" y="3300984"/>
            <a:ext cx="3154680" cy="457200"/>
          </a:xfrm>
          <a:prstGeom prst="rect">
            <a:avLst/>
          </a:prstGeom>
          <a:noFill/>
          <a:ln/>
        </p:spPr>
        <p:txBody>
          <a:bodyPr wrap="square" rtlCol="0" anchor="ctr"/>
          <a:lstStyle/>
          <a:p>
            <a:pPr indent="0" marL="0">
              <a:buNone/>
            </a:pPr>
            <a:r>
              <a:rPr lang="en-US" sz="1250" b="1" dirty="0">
                <a:solidFill>
                  <a:srgbClr val="27333D"/>
                </a:solidFill>
                <a:latin typeface="Cambria" pitchFamily="34" charset="0"/>
                <a:ea typeface="Cambria" pitchFamily="34" charset="-122"/>
                <a:cs typeface="Cambria" pitchFamily="34" charset="-120"/>
              </a:rPr>
              <a:t>Crop Recommendation System</a:t>
            </a:r>
            <a:endParaRPr lang="en-US" sz="1250" dirty="0"/>
          </a:p>
        </p:txBody>
      </p:sp>
      <p:sp>
        <p:nvSpPr>
          <p:cNvPr id="25" name="Text 23"/>
          <p:cNvSpPr/>
          <p:nvPr/>
        </p:nvSpPr>
        <p:spPr>
          <a:xfrm>
            <a:off x="758952" y="3721608"/>
            <a:ext cx="3154680" cy="1005840"/>
          </a:xfrm>
          <a:prstGeom prst="rect">
            <a:avLst/>
          </a:prstGeom>
          <a:noFill/>
          <a:ln/>
        </p:spPr>
        <p:txBody>
          <a:bodyPr wrap="square" rtlCol="0" anchor="t"/>
          <a:lstStyle/>
          <a:p>
            <a:pPr indent="0" marL="0">
              <a:lnSpc>
                <a:spcPct val="112000"/>
              </a:lnSpc>
              <a:buNone/>
            </a:pPr>
            <a:r>
              <a:rPr lang="en-US" sz="1000" dirty="0">
                <a:solidFill>
                  <a:srgbClr val="5B6B76"/>
                </a:solidFill>
                <a:latin typeface="Calibri" pitchFamily="34" charset="0"/>
                <a:ea typeface="Calibri" pitchFamily="34" charset="-122"/>
                <a:cs typeface="Calibri" pitchFamily="34" charset="-120"/>
              </a:rPr>
              <a:t>Develop crop-season recommendation engines based on farm conditions.</a:t>
            </a:r>
            <a:endParaRPr lang="en-US" sz="1000" dirty="0"/>
          </a:p>
        </p:txBody>
      </p:sp>
      <p:sp>
        <p:nvSpPr>
          <p:cNvPr id="26" name="Shape 24"/>
          <p:cNvSpPr/>
          <p:nvPr/>
        </p:nvSpPr>
        <p:spPr>
          <a:xfrm>
            <a:off x="4251960" y="3154680"/>
            <a:ext cx="3566160" cy="1691640"/>
          </a:xfrm>
          <a:prstGeom prst="roundRect">
            <a:avLst>
              <a:gd name="adj" fmla="val 4865"/>
            </a:avLst>
          </a:prstGeom>
          <a:solidFill>
            <a:srgbClr val="FFFFFF"/>
          </a:solidFill>
          <a:ln w="12700">
            <a:solidFill>
              <a:srgbClr val="DDE6EA"/>
            </a:solidFill>
            <a:prstDash val="solid"/>
          </a:ln>
          <a:effectLst>
            <a:outerShdw sx="100000" sy="100000" kx="0" ky="0" algn="bl" rotWithShape="0" blurRad="50800" dist="25400" dir="5400000">
              <a:srgbClr val="888888">
                <a:alpha val="20000"/>
              </a:srgbClr>
            </a:outerShdw>
          </a:effectLst>
        </p:spPr>
      </p:sp>
      <p:sp>
        <p:nvSpPr>
          <p:cNvPr id="27" name="Shape 25"/>
          <p:cNvSpPr/>
          <p:nvPr/>
        </p:nvSpPr>
        <p:spPr>
          <a:xfrm>
            <a:off x="4251960" y="3154680"/>
            <a:ext cx="82296" cy="1691640"/>
          </a:xfrm>
          <a:prstGeom prst="rect">
            <a:avLst/>
          </a:prstGeom>
          <a:solidFill>
            <a:srgbClr val="1B5E86"/>
          </a:solidFill>
          <a:ln/>
        </p:spPr>
      </p:sp>
      <p:sp>
        <p:nvSpPr>
          <p:cNvPr id="28" name="Text 26"/>
          <p:cNvSpPr/>
          <p:nvPr/>
        </p:nvSpPr>
        <p:spPr>
          <a:xfrm>
            <a:off x="4507992" y="3300984"/>
            <a:ext cx="3154680" cy="457200"/>
          </a:xfrm>
          <a:prstGeom prst="rect">
            <a:avLst/>
          </a:prstGeom>
          <a:noFill/>
          <a:ln/>
        </p:spPr>
        <p:txBody>
          <a:bodyPr wrap="square" rtlCol="0" anchor="ctr"/>
          <a:lstStyle/>
          <a:p>
            <a:pPr indent="0" marL="0">
              <a:buNone/>
            </a:pPr>
            <a:r>
              <a:rPr lang="en-US" sz="1250" b="1" dirty="0">
                <a:solidFill>
                  <a:srgbClr val="27333D"/>
                </a:solidFill>
                <a:latin typeface="Cambria" pitchFamily="34" charset="0"/>
                <a:ea typeface="Cambria" pitchFamily="34" charset="-122"/>
                <a:cs typeface="Cambria" pitchFamily="34" charset="-120"/>
              </a:rPr>
              <a:t>Interactive Dashboard</a:t>
            </a:r>
            <a:endParaRPr lang="en-US" sz="1250" dirty="0"/>
          </a:p>
        </p:txBody>
      </p:sp>
      <p:sp>
        <p:nvSpPr>
          <p:cNvPr id="29" name="Text 27"/>
          <p:cNvSpPr/>
          <p:nvPr/>
        </p:nvSpPr>
        <p:spPr>
          <a:xfrm>
            <a:off x="4507992" y="3721608"/>
            <a:ext cx="3154680" cy="1005840"/>
          </a:xfrm>
          <a:prstGeom prst="rect">
            <a:avLst/>
          </a:prstGeom>
          <a:noFill/>
          <a:ln/>
        </p:spPr>
        <p:txBody>
          <a:bodyPr wrap="square" rtlCol="0" anchor="t"/>
          <a:lstStyle/>
          <a:p>
            <a:pPr indent="0" marL="0">
              <a:lnSpc>
                <a:spcPct val="112000"/>
              </a:lnSpc>
              <a:buNone/>
            </a:pPr>
            <a:r>
              <a:rPr lang="en-US" sz="1000" dirty="0">
                <a:solidFill>
                  <a:srgbClr val="5B6B76"/>
                </a:solidFill>
                <a:latin typeface="Calibri" pitchFamily="34" charset="0"/>
                <a:ea typeface="Calibri" pitchFamily="34" charset="-122"/>
                <a:cs typeface="Calibri" pitchFamily="34" charset="-120"/>
              </a:rPr>
              <a:t>Build a Power BI / Streamlit dashboard for farmers and planners.</a:t>
            </a:r>
            <a:endParaRPr lang="en-US" sz="1000" dirty="0"/>
          </a:p>
        </p:txBody>
      </p:sp>
      <p:sp>
        <p:nvSpPr>
          <p:cNvPr id="30" name="Shape 28"/>
          <p:cNvSpPr/>
          <p:nvPr/>
        </p:nvSpPr>
        <p:spPr>
          <a:xfrm>
            <a:off x="8001000" y="3154680"/>
            <a:ext cx="3566160" cy="1691640"/>
          </a:xfrm>
          <a:prstGeom prst="roundRect">
            <a:avLst>
              <a:gd name="adj" fmla="val 4865"/>
            </a:avLst>
          </a:prstGeom>
          <a:solidFill>
            <a:srgbClr val="FFFFFF"/>
          </a:solidFill>
          <a:ln w="12700">
            <a:solidFill>
              <a:srgbClr val="DDE6EA"/>
            </a:solidFill>
            <a:prstDash val="solid"/>
          </a:ln>
          <a:effectLst>
            <a:outerShdw sx="100000" sy="100000" kx="0" ky="0" algn="bl" rotWithShape="0" blurRad="50800" dist="25400" dir="5400000">
              <a:srgbClr val="888888">
                <a:alpha val="20000"/>
              </a:srgbClr>
            </a:outerShdw>
          </a:effectLst>
        </p:spPr>
      </p:sp>
      <p:sp>
        <p:nvSpPr>
          <p:cNvPr id="31" name="Shape 29"/>
          <p:cNvSpPr/>
          <p:nvPr/>
        </p:nvSpPr>
        <p:spPr>
          <a:xfrm>
            <a:off x="8001000" y="3154680"/>
            <a:ext cx="82296" cy="1691640"/>
          </a:xfrm>
          <a:prstGeom prst="rect">
            <a:avLst/>
          </a:prstGeom>
          <a:solidFill>
            <a:srgbClr val="8E44AD"/>
          </a:solidFill>
          <a:ln/>
        </p:spPr>
      </p:sp>
      <p:sp>
        <p:nvSpPr>
          <p:cNvPr id="32" name="Text 30"/>
          <p:cNvSpPr/>
          <p:nvPr/>
        </p:nvSpPr>
        <p:spPr>
          <a:xfrm>
            <a:off x="8257032" y="3300984"/>
            <a:ext cx="3154680" cy="457200"/>
          </a:xfrm>
          <a:prstGeom prst="rect">
            <a:avLst/>
          </a:prstGeom>
          <a:noFill/>
          <a:ln/>
        </p:spPr>
        <p:txBody>
          <a:bodyPr wrap="square" rtlCol="0" anchor="ctr"/>
          <a:lstStyle/>
          <a:p>
            <a:pPr indent="0" marL="0">
              <a:buNone/>
            </a:pPr>
            <a:r>
              <a:rPr lang="en-US" sz="1250" b="1" dirty="0">
                <a:solidFill>
                  <a:srgbClr val="27333D"/>
                </a:solidFill>
                <a:latin typeface="Cambria" pitchFamily="34" charset="0"/>
                <a:ea typeface="Cambria" pitchFamily="34" charset="-122"/>
                <a:cs typeface="Cambria" pitchFamily="34" charset="-120"/>
              </a:rPr>
              <a:t>Regional-Level Forecasting</a:t>
            </a:r>
            <a:endParaRPr lang="en-US" sz="1250" dirty="0"/>
          </a:p>
        </p:txBody>
      </p:sp>
      <p:sp>
        <p:nvSpPr>
          <p:cNvPr id="33" name="Text 31"/>
          <p:cNvSpPr/>
          <p:nvPr/>
        </p:nvSpPr>
        <p:spPr>
          <a:xfrm>
            <a:off x="8257032" y="3721608"/>
            <a:ext cx="3154680" cy="1005840"/>
          </a:xfrm>
          <a:prstGeom prst="rect">
            <a:avLst/>
          </a:prstGeom>
          <a:noFill/>
          <a:ln/>
        </p:spPr>
        <p:txBody>
          <a:bodyPr wrap="square" rtlCol="0" anchor="t"/>
          <a:lstStyle/>
          <a:p>
            <a:pPr indent="0" marL="0">
              <a:lnSpc>
                <a:spcPct val="112000"/>
              </a:lnSpc>
              <a:buNone/>
            </a:pPr>
            <a:r>
              <a:rPr lang="en-US" sz="1000" dirty="0">
                <a:solidFill>
                  <a:srgbClr val="5B6B76"/>
                </a:solidFill>
                <a:latin typeface="Calibri" pitchFamily="34" charset="0"/>
                <a:ea typeface="Calibri" pitchFamily="34" charset="-122"/>
                <a:cs typeface="Calibri" pitchFamily="34" charset="-120"/>
              </a:rPr>
              <a:t>Provide district / state-specific agricultural forecasts.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CFE3ED"/>
          </a:solidFill>
          <a:ln/>
        </p:spPr>
      </p:sp>
      <p:sp>
        <p:nvSpPr>
          <p:cNvPr id="3" name="Shape 1"/>
          <p:cNvSpPr/>
          <p:nvPr/>
        </p:nvSpPr>
        <p:spPr>
          <a:xfrm rot="2700000">
            <a:off x="10362895" y="5029200"/>
            <a:ext cx="3291840" cy="3291840"/>
          </a:xfrm>
          <a:prstGeom prst="rect">
            <a:avLst/>
          </a:prstGeom>
          <a:solidFill>
            <a:srgbClr val="BFE3DE"/>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Text 4"/>
          <p:cNvSpPr/>
          <p:nvPr/>
        </p:nvSpPr>
        <p:spPr>
          <a:xfrm>
            <a:off x="502920" y="320040"/>
            <a:ext cx="11185855" cy="640080"/>
          </a:xfrm>
          <a:prstGeom prst="rect">
            <a:avLst/>
          </a:prstGeom>
          <a:noFill/>
          <a:ln/>
        </p:spPr>
        <p:txBody>
          <a:bodyPr wrap="square" rtlCol="0" anchor="ctr"/>
          <a:lstStyle/>
          <a:p>
            <a:pPr indent="0" marL="0">
              <a:buNone/>
            </a:pPr>
            <a:r>
              <a:rPr lang="en-US" sz="3000" b="1" dirty="0">
                <a:solidFill>
                  <a:srgbClr val="1B5E86"/>
                </a:solidFill>
                <a:latin typeface="Cambria" pitchFamily="34" charset="0"/>
                <a:ea typeface="Cambria" pitchFamily="34" charset="-122"/>
                <a:cs typeface="Cambria" pitchFamily="34" charset="-120"/>
              </a:rPr>
              <a:t>GitHub Repository</a:t>
            </a:r>
            <a:endParaRPr lang="en-US" sz="3000" dirty="0"/>
          </a:p>
        </p:txBody>
      </p:sp>
      <p:sp>
        <p:nvSpPr>
          <p:cNvPr id="7" name="Shape 5"/>
          <p:cNvSpPr/>
          <p:nvPr/>
        </p:nvSpPr>
        <p:spPr>
          <a:xfrm>
            <a:off x="530352" y="960120"/>
            <a:ext cx="1188720" cy="41148"/>
          </a:xfrm>
          <a:prstGeom prst="rect">
            <a:avLst/>
          </a:prstGeom>
          <a:solidFill>
            <a:srgbClr val="E07B1A"/>
          </a:solidFill>
          <a:ln/>
        </p:spPr>
      </p:sp>
      <p:sp>
        <p:nvSpPr>
          <p:cNvPr id="8" name="Text 6"/>
          <p:cNvSpPr/>
          <p:nvPr/>
        </p:nvSpPr>
        <p:spPr>
          <a:xfrm>
            <a:off x="365760" y="6528816"/>
            <a:ext cx="6400800" cy="274320"/>
          </a:xfrm>
          <a:prstGeom prst="rect">
            <a:avLst/>
          </a:prstGeom>
          <a:noFill/>
          <a:ln/>
        </p:spPr>
        <p:txBody>
          <a:bodyPr wrap="square" rtlCol="0" anchor="ctr"/>
          <a:lstStyle/>
          <a:p>
            <a:pPr indent="0" marL="0">
              <a:buNone/>
            </a:pPr>
            <a:r>
              <a:rPr lang="en-US" sz="900" i="1" dirty="0">
                <a:solidFill>
                  <a:srgbClr val="5B6B76"/>
                </a:solidFill>
                <a:latin typeface="Calibri" pitchFamily="34" charset="0"/>
                <a:ea typeface="Calibri" pitchFamily="34" charset="-122"/>
                <a:cs typeface="Calibri" pitchFamily="34" charset="-120"/>
              </a:rPr>
              <a:t>Seasonal Agriculture Performance Analysis</a:t>
            </a:r>
            <a:endParaRPr lang="en-US" sz="900" dirty="0"/>
          </a:p>
        </p:txBody>
      </p:sp>
      <p:sp>
        <p:nvSpPr>
          <p:cNvPr id="9" name="Text 7"/>
          <p:cNvSpPr/>
          <p:nvPr/>
        </p:nvSpPr>
        <p:spPr>
          <a:xfrm>
            <a:off x="11551615" y="6528816"/>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13</a:t>
            </a:r>
            <a:endParaRPr lang="en-US" sz="900" dirty="0"/>
          </a:p>
        </p:txBody>
      </p:sp>
      <p:sp>
        <p:nvSpPr>
          <p:cNvPr id="10" name="Text 8"/>
          <p:cNvSpPr/>
          <p:nvPr/>
        </p:nvSpPr>
        <p:spPr>
          <a:xfrm>
            <a:off x="548640" y="1645920"/>
            <a:ext cx="6675120" cy="1737360"/>
          </a:xfrm>
          <a:prstGeom prst="rect">
            <a:avLst/>
          </a:prstGeom>
          <a:noFill/>
          <a:ln/>
        </p:spPr>
        <p:txBody>
          <a:bodyPr wrap="square" rtlCol="0" anchor="t"/>
          <a:lstStyle/>
          <a:p>
            <a:pPr indent="0" marL="0">
              <a:lnSpc>
                <a:spcPct val="130000"/>
              </a:lnSpc>
              <a:buNone/>
            </a:pPr>
            <a:r>
              <a:rPr lang="en-US" sz="1500" b="1" dirty="0">
                <a:solidFill>
                  <a:srgbClr val="1B5E86"/>
                </a:solidFill>
                <a:latin typeface="Calibri" pitchFamily="34" charset="0"/>
                <a:ea typeface="Calibri" pitchFamily="34" charset="-122"/>
                <a:cs typeface="Calibri" pitchFamily="34" charset="-120"/>
              </a:rPr>
              <a:t>Student:  </a:t>
            </a:r>
            <a:pPr indent="0" marL="0">
              <a:lnSpc>
                <a:spcPct val="130000"/>
              </a:lnSpc>
              <a:buNone/>
            </a:pPr>
            <a:r>
              <a:rPr lang="en-US" sz="1500" dirty="0">
                <a:solidFill>
                  <a:srgbClr val="27333D"/>
                </a:solidFill>
                <a:latin typeface="Calibri" pitchFamily="34" charset="0"/>
                <a:ea typeface="Calibri" pitchFamily="34" charset="-122"/>
                <a:cs typeface="Calibri" pitchFamily="34" charset="-120"/>
              </a:rPr>
              <a:t>Pranjal Sharma
</a:t>
            </a:r>
            <a:pPr indent="0" marL="0">
              <a:lnSpc>
                <a:spcPct val="130000"/>
              </a:lnSpc>
              <a:buNone/>
            </a:pPr>
            <a:r>
              <a:rPr lang="en-US" sz="1500" b="1" dirty="0">
                <a:solidFill>
                  <a:srgbClr val="1B5E86"/>
                </a:solidFill>
                <a:latin typeface="Calibri" pitchFamily="34" charset="0"/>
                <a:ea typeface="Calibri" pitchFamily="34" charset="-122"/>
                <a:cs typeface="Calibri" pitchFamily="34" charset="-120"/>
              </a:rPr>
              <a:t>Project:  </a:t>
            </a:r>
            <a:pPr indent="0" marL="0">
              <a:lnSpc>
                <a:spcPct val="130000"/>
              </a:lnSpc>
              <a:buNone/>
            </a:pPr>
            <a:r>
              <a:rPr lang="en-US" sz="1500" dirty="0">
                <a:solidFill>
                  <a:srgbClr val="27333D"/>
                </a:solidFill>
                <a:latin typeface="Calibri" pitchFamily="34" charset="0"/>
                <a:ea typeface="Calibri" pitchFamily="34" charset="-122"/>
                <a:cs typeface="Calibri" pitchFamily="34" charset="-120"/>
              </a:rPr>
              <a:t>Seasonal Agriculture Performance Analysis
</a:t>
            </a:r>
            <a:pPr indent="0" marL="0">
              <a:lnSpc>
                <a:spcPct val="130000"/>
              </a:lnSpc>
              <a:buNone/>
            </a:pPr>
            <a:r>
              <a:rPr lang="en-US" sz="1500" b="1" dirty="0">
                <a:solidFill>
                  <a:srgbClr val="1B5E86"/>
                </a:solidFill>
                <a:latin typeface="Calibri" pitchFamily="34" charset="0"/>
                <a:ea typeface="Calibri" pitchFamily="34" charset="-122"/>
                <a:cs typeface="Calibri" pitchFamily="34" charset="-120"/>
              </a:rPr>
              <a:t>Repository:</a:t>
            </a:r>
            <a:endParaRPr lang="en-US" sz="1500" dirty="0"/>
          </a:p>
        </p:txBody>
      </p:sp>
      <p:sp>
        <p:nvSpPr>
          <p:cNvPr id="11" name="Shape 9"/>
          <p:cNvSpPr/>
          <p:nvPr/>
        </p:nvSpPr>
        <p:spPr>
          <a:xfrm>
            <a:off x="548640" y="3246120"/>
            <a:ext cx="6949440" cy="640080"/>
          </a:xfrm>
          <a:prstGeom prst="roundRect">
            <a:avLst>
              <a:gd name="adj" fmla="val 11429"/>
            </a:avLst>
          </a:prstGeom>
          <a:solidFill>
            <a:srgbClr val="EAF1F5"/>
          </a:solidFill>
          <a:ln w="12700">
            <a:solidFill>
              <a:srgbClr val="1B5E86"/>
            </a:solidFill>
            <a:prstDash val="solid"/>
          </a:ln>
        </p:spPr>
      </p:sp>
      <p:sp>
        <p:nvSpPr>
          <p:cNvPr id="12" name="Text 10"/>
          <p:cNvSpPr/>
          <p:nvPr/>
        </p:nvSpPr>
        <p:spPr>
          <a:xfrm>
            <a:off x="685800" y="3246120"/>
            <a:ext cx="6675120" cy="640080"/>
          </a:xfrm>
          <a:prstGeom prst="rect">
            <a:avLst/>
          </a:prstGeom>
          <a:noFill/>
          <a:ln/>
        </p:spPr>
        <p:txBody>
          <a:bodyPr wrap="square" rtlCol="0" anchor="ctr"/>
          <a:lstStyle/>
          <a:p>
            <a:pPr indent="0" marL="0">
              <a:buNone/>
            </a:pPr>
            <a:r>
              <a:rPr lang="en-US" sz="1100" dirty="0">
                <a:solidFill>
                  <a:srgbClr val="1B5E86"/>
                </a:solidFill>
                <a:latin typeface="Courier New" pitchFamily="34" charset="0"/>
                <a:ea typeface="Courier New" pitchFamily="34" charset="-122"/>
                <a:cs typeface="Courier New" pitchFamily="34" charset="-120"/>
              </a:rPr>
              <a:t>github.com/sharmapranjal99/Vois-and-Vodafone-Idea-Foundation-final-project</a:t>
            </a:r>
            <a:endParaRPr lang="en-US" sz="1100" dirty="0"/>
          </a:p>
        </p:txBody>
      </p:sp>
      <p:sp>
        <p:nvSpPr>
          <p:cNvPr id="13" name="Text 11"/>
          <p:cNvSpPr/>
          <p:nvPr/>
        </p:nvSpPr>
        <p:spPr>
          <a:xfrm>
            <a:off x="548640" y="4114800"/>
            <a:ext cx="6583680" cy="457200"/>
          </a:xfrm>
          <a:prstGeom prst="rect">
            <a:avLst/>
          </a:prstGeom>
          <a:noFill/>
          <a:ln/>
        </p:spPr>
        <p:txBody>
          <a:bodyPr wrap="square" rtlCol="0" anchor="ctr"/>
          <a:lstStyle/>
          <a:p>
            <a:pPr indent="0" marL="0">
              <a:buNone/>
            </a:pPr>
            <a:r>
              <a:rPr lang="en-US" sz="1150" i="1" dirty="0">
                <a:solidFill>
                  <a:srgbClr val="5B6B76"/>
                </a:solidFill>
                <a:latin typeface="Calibri" pitchFamily="34" charset="0"/>
                <a:ea typeface="Calibri" pitchFamily="34" charset="-122"/>
                <a:cs typeface="Calibri" pitchFamily="34" charset="-120"/>
              </a:rPr>
              <a:t>Scan the QR code to view the complete project code, notebook and documentation.</a:t>
            </a:r>
            <a:endParaRPr lang="en-US" sz="1150" dirty="0"/>
          </a:p>
        </p:txBody>
      </p:sp>
      <p:sp>
        <p:nvSpPr>
          <p:cNvPr id="14" name="Shape 12"/>
          <p:cNvSpPr/>
          <p:nvPr/>
        </p:nvSpPr>
        <p:spPr>
          <a:xfrm>
            <a:off x="8321040" y="1554480"/>
            <a:ext cx="2651760" cy="2651760"/>
          </a:xfrm>
          <a:prstGeom prst="roundRect">
            <a:avLst>
              <a:gd name="adj" fmla="val 3448"/>
            </a:avLst>
          </a:prstGeom>
          <a:solidFill>
            <a:srgbClr val="FFFFFF"/>
          </a:solidFill>
          <a:ln w="12700">
            <a:solidFill>
              <a:srgbClr val="DDE6EA"/>
            </a:solidFill>
            <a:prstDash val="solid"/>
          </a:ln>
          <a:effectLst>
            <a:outerShdw sx="100000" sy="100000" kx="0" ky="0" algn="bl" rotWithShape="0" blurRad="63500" dist="25400" dir="5400000">
              <a:srgbClr val="888888">
                <a:alpha val="25000"/>
              </a:srgbClr>
            </a:outerShdw>
          </a:effectLst>
        </p:spPr>
      </p:sp>
      <p:pic>
        <p:nvPicPr>
          <p:cNvPr id="15" name="Image 0" descr="github_qr.png">    </p:cNvPr>
          <p:cNvPicPr>
            <a:picLocks noChangeAspect="1"/>
          </p:cNvPicPr>
          <p:nvPr/>
        </p:nvPicPr>
        <p:blipFill>
          <a:blip r:embed="rId1"/>
          <a:stretch>
            <a:fillRect/>
          </a:stretch>
        </p:blipFill>
        <p:spPr>
          <a:xfrm>
            <a:off x="8549640" y="1783080"/>
            <a:ext cx="2194560" cy="2194560"/>
          </a:xfrm>
          <a:prstGeom prst="rect">
            <a:avLst/>
          </a:prstGeom>
        </p:spPr>
      </p:pic>
      <p:sp>
        <p:nvSpPr>
          <p:cNvPr id="16" name="Text 13"/>
          <p:cNvSpPr/>
          <p:nvPr/>
        </p:nvSpPr>
        <p:spPr>
          <a:xfrm>
            <a:off x="8321040" y="4251960"/>
            <a:ext cx="2651760" cy="320040"/>
          </a:xfrm>
          <a:prstGeom prst="rect">
            <a:avLst/>
          </a:prstGeom>
          <a:noFill/>
          <a:ln/>
        </p:spPr>
        <p:txBody>
          <a:bodyPr wrap="square" rtlCol="0" anchor="ctr"/>
          <a:lstStyle/>
          <a:p>
            <a:pPr algn="ctr" indent="0" marL="0">
              <a:buNone/>
            </a:pPr>
            <a:r>
              <a:rPr lang="en-US" sz="1000" dirty="0">
                <a:solidFill>
                  <a:srgbClr val="5B6B76"/>
                </a:solidFill>
                <a:latin typeface="Calibri" pitchFamily="34" charset="0"/>
                <a:ea typeface="Calibri" pitchFamily="34" charset="-122"/>
                <a:cs typeface="Calibri" pitchFamily="34" charset="-120"/>
              </a:rPr>
              <a:t>Scan for GitHub</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CFE3ED"/>
          </a:solidFill>
          <a:ln/>
        </p:spPr>
      </p:sp>
      <p:sp>
        <p:nvSpPr>
          <p:cNvPr id="3" name="Shape 1"/>
          <p:cNvSpPr/>
          <p:nvPr/>
        </p:nvSpPr>
        <p:spPr>
          <a:xfrm rot="2700000">
            <a:off x="10362895" y="5029200"/>
            <a:ext cx="3291840" cy="3291840"/>
          </a:xfrm>
          <a:prstGeom prst="rect">
            <a:avLst/>
          </a:prstGeom>
          <a:solidFill>
            <a:srgbClr val="BFE3DE"/>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Text 4"/>
          <p:cNvSpPr/>
          <p:nvPr/>
        </p:nvSpPr>
        <p:spPr>
          <a:xfrm>
            <a:off x="502920" y="320040"/>
            <a:ext cx="11185855" cy="640080"/>
          </a:xfrm>
          <a:prstGeom prst="rect">
            <a:avLst/>
          </a:prstGeom>
          <a:noFill/>
          <a:ln/>
        </p:spPr>
        <p:txBody>
          <a:bodyPr wrap="square" rtlCol="0" anchor="ctr"/>
          <a:lstStyle/>
          <a:p>
            <a:pPr indent="0" marL="0">
              <a:buNone/>
            </a:pPr>
            <a:r>
              <a:rPr lang="en-US" sz="3000" b="1" dirty="0">
                <a:solidFill>
                  <a:srgbClr val="1B5E86"/>
                </a:solidFill>
                <a:latin typeface="Cambria" pitchFamily="34" charset="0"/>
                <a:ea typeface="Cambria" pitchFamily="34" charset="-122"/>
                <a:cs typeface="Cambria" pitchFamily="34" charset="-120"/>
              </a:rPr>
              <a:t>VOIS Course Completion Certificate</a:t>
            </a:r>
            <a:endParaRPr lang="en-US" sz="3000" dirty="0"/>
          </a:p>
        </p:txBody>
      </p:sp>
      <p:sp>
        <p:nvSpPr>
          <p:cNvPr id="7" name="Shape 5"/>
          <p:cNvSpPr/>
          <p:nvPr/>
        </p:nvSpPr>
        <p:spPr>
          <a:xfrm>
            <a:off x="530352" y="960120"/>
            <a:ext cx="1188720" cy="41148"/>
          </a:xfrm>
          <a:prstGeom prst="rect">
            <a:avLst/>
          </a:prstGeom>
          <a:solidFill>
            <a:srgbClr val="E07B1A"/>
          </a:solidFill>
          <a:ln/>
        </p:spPr>
      </p:sp>
      <p:sp>
        <p:nvSpPr>
          <p:cNvPr id="8" name="Text 6"/>
          <p:cNvSpPr/>
          <p:nvPr/>
        </p:nvSpPr>
        <p:spPr>
          <a:xfrm>
            <a:off x="365760" y="6528816"/>
            <a:ext cx="6400800" cy="274320"/>
          </a:xfrm>
          <a:prstGeom prst="rect">
            <a:avLst/>
          </a:prstGeom>
          <a:noFill/>
          <a:ln/>
        </p:spPr>
        <p:txBody>
          <a:bodyPr wrap="square" rtlCol="0" anchor="ctr"/>
          <a:lstStyle/>
          <a:p>
            <a:pPr indent="0" marL="0">
              <a:buNone/>
            </a:pPr>
            <a:r>
              <a:rPr lang="en-US" sz="900" i="1" dirty="0">
                <a:solidFill>
                  <a:srgbClr val="5B6B76"/>
                </a:solidFill>
                <a:latin typeface="Calibri" pitchFamily="34" charset="0"/>
                <a:ea typeface="Calibri" pitchFamily="34" charset="-122"/>
                <a:cs typeface="Calibri" pitchFamily="34" charset="-120"/>
              </a:rPr>
              <a:t>Seasonal Agriculture Performance Analysis</a:t>
            </a:r>
            <a:endParaRPr lang="en-US" sz="900" dirty="0"/>
          </a:p>
        </p:txBody>
      </p:sp>
      <p:sp>
        <p:nvSpPr>
          <p:cNvPr id="9" name="Text 7"/>
          <p:cNvSpPr/>
          <p:nvPr/>
        </p:nvSpPr>
        <p:spPr>
          <a:xfrm>
            <a:off x="11551615" y="6528816"/>
            <a:ext cx="365760" cy="274320"/>
          </a:xfrm>
          <a:prstGeom prst="rect">
            <a:avLst/>
          </a:prstGeom>
          <a:noFill/>
          <a:ln/>
        </p:spPr>
        <p:txBody>
          <a:bodyPr wrap="square" rtlCol="0" anchor="ctr"/>
          <a:lstStyle/>
          <a:p>
            <a:pPr algn="r" indent="0" marL="0">
              <a:buNone/>
            </a:pPr>
            <a:r>
              <a:rPr lang="en-US" sz="900" dirty="0">
                <a:solidFill>
                  <a:srgbClr val="5B6B76"/>
                </a:solidFill>
                <a:latin typeface="Calibri" pitchFamily="34" charset="0"/>
                <a:ea typeface="Calibri" pitchFamily="34" charset="-122"/>
                <a:cs typeface="Calibri" pitchFamily="34" charset="-120"/>
              </a:rPr>
              <a:t>14</a:t>
            </a:r>
            <a:endParaRPr lang="en-US" sz="900" dirty="0"/>
          </a:p>
        </p:txBody>
      </p:sp>
      <p:pic>
        <p:nvPicPr>
          <p:cNvPr id="10" name="Image 0" descr="cert-1.jpg">    </p:cNvPr>
          <p:cNvPicPr>
            <a:picLocks noChangeAspect="1"/>
          </p:cNvPicPr>
          <p:nvPr/>
        </p:nvPicPr>
        <p:blipFill>
          <a:blip r:embed="rId1"/>
          <a:stretch>
            <a:fillRect/>
          </a:stretch>
        </p:blipFill>
        <p:spPr>
          <a:xfrm>
            <a:off x="1965960" y="1051560"/>
            <a:ext cx="8229600" cy="4700016"/>
          </a:xfrm>
          <a:prstGeom prst="rect">
            <a:avLst/>
          </a:prstGeom>
        </p:spPr>
      </p:pic>
      <p:sp>
        <p:nvSpPr>
          <p:cNvPr id="11" name="Text 8"/>
          <p:cNvSpPr/>
          <p:nvPr/>
        </p:nvSpPr>
        <p:spPr>
          <a:xfrm>
            <a:off x="548640" y="5870448"/>
            <a:ext cx="11064240" cy="365760"/>
          </a:xfrm>
          <a:prstGeom prst="rect">
            <a:avLst/>
          </a:prstGeom>
          <a:noFill/>
          <a:ln/>
        </p:spPr>
        <p:txBody>
          <a:bodyPr wrap="square" rtlCol="0" anchor="ctr"/>
          <a:lstStyle/>
          <a:p>
            <a:pPr algn="ctr" indent="0" marL="0">
              <a:buNone/>
            </a:pPr>
            <a:r>
              <a:rPr lang="en-US" sz="1100" i="1" dirty="0">
                <a:solidFill>
                  <a:srgbClr val="5B6B76"/>
                </a:solidFill>
                <a:latin typeface="Calibri" pitchFamily="34" charset="0"/>
                <a:ea typeface="Calibri" pitchFamily="34" charset="-122"/>
                <a:cs typeface="Calibri" pitchFamily="34" charset="-120"/>
              </a:rPr>
              <a:t>VOIS Course Completion Certificate — Data Visualization</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3A54"/>
        </a:solidFill>
      </p:bgPr>
    </p:bg>
    <p:spTree>
      <p:nvGrpSpPr>
        <p:cNvPr id="1" name=""/>
        <p:cNvGrpSpPr/>
        <p:nvPr/>
      </p:nvGrpSpPr>
      <p:grpSpPr>
        <a:xfrm>
          <a:off x="0" y="0"/>
          <a:ext cx="0" cy="0"/>
          <a:chOff x="0" y="0"/>
          <a:chExt cx="0" cy="0"/>
        </a:xfrm>
      </p:grpSpPr>
      <p:sp>
        <p:nvSpPr>
          <p:cNvPr id="2" name="Shape 0"/>
          <p:cNvSpPr/>
          <p:nvPr/>
        </p:nvSpPr>
        <p:spPr>
          <a:xfrm rot="2700000">
            <a:off x="9357055" y="4023360"/>
            <a:ext cx="5852160" cy="5852160"/>
          </a:xfrm>
          <a:prstGeom prst="rect">
            <a:avLst/>
          </a:prstGeom>
          <a:solidFill>
            <a:srgbClr val="12496B"/>
          </a:solidFill>
          <a:ln/>
        </p:spPr>
      </p:sp>
      <p:sp>
        <p:nvSpPr>
          <p:cNvPr id="3" name="Shape 1"/>
          <p:cNvSpPr/>
          <p:nvPr/>
        </p:nvSpPr>
        <p:spPr>
          <a:xfrm rot="2700000">
            <a:off x="10362895" y="5029200"/>
            <a:ext cx="3291840" cy="3291840"/>
          </a:xfrm>
          <a:prstGeom prst="rect">
            <a:avLst/>
          </a:prstGeom>
          <a:solidFill>
            <a:srgbClr val="1A6B8F"/>
          </a:solidFill>
          <a:ln/>
        </p:spPr>
      </p:sp>
      <p:sp>
        <p:nvSpPr>
          <p:cNvPr id="4" name="Shape 2"/>
          <p:cNvSpPr/>
          <p:nvPr/>
        </p:nvSpPr>
        <p:spPr>
          <a:xfrm>
            <a:off x="11688775" y="6080760"/>
            <a:ext cx="146304" cy="146304"/>
          </a:xfrm>
          <a:prstGeom prst="rect">
            <a:avLst/>
          </a:prstGeom>
          <a:solidFill>
            <a:srgbClr val="2E946B"/>
          </a:solidFill>
          <a:ln/>
        </p:spPr>
      </p:sp>
      <p:sp>
        <p:nvSpPr>
          <p:cNvPr id="5" name="Shape 3"/>
          <p:cNvSpPr/>
          <p:nvPr/>
        </p:nvSpPr>
        <p:spPr>
          <a:xfrm>
            <a:off x="11414455" y="6355080"/>
            <a:ext cx="100584" cy="100584"/>
          </a:xfrm>
          <a:prstGeom prst="rect">
            <a:avLst/>
          </a:prstGeom>
          <a:solidFill>
            <a:srgbClr val="1B5E86"/>
          </a:solidFill>
          <a:ln/>
        </p:spPr>
      </p:sp>
      <p:sp>
        <p:nvSpPr>
          <p:cNvPr id="6" name="Shape 4"/>
          <p:cNvSpPr/>
          <p:nvPr/>
        </p:nvSpPr>
        <p:spPr>
          <a:xfrm rot="720000">
            <a:off x="548640" y="548640"/>
            <a:ext cx="640080" cy="548640"/>
          </a:xfrm>
          <a:prstGeom prst="hexagon">
            <a:avLst/>
          </a:prstGeom>
          <a:solidFill>
            <a:srgbClr val="1E6F98"/>
          </a:solidFill>
          <a:ln/>
        </p:spPr>
      </p:sp>
      <p:sp>
        <p:nvSpPr>
          <p:cNvPr id="7" name="Text 5"/>
          <p:cNvSpPr/>
          <p:nvPr/>
        </p:nvSpPr>
        <p:spPr>
          <a:xfrm>
            <a:off x="0" y="2651760"/>
            <a:ext cx="12191695" cy="91440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8" name="Text 6"/>
          <p:cNvSpPr/>
          <p:nvPr/>
        </p:nvSpPr>
        <p:spPr>
          <a:xfrm>
            <a:off x="0" y="3520440"/>
            <a:ext cx="12191695" cy="548640"/>
          </a:xfrm>
          <a:prstGeom prst="rect">
            <a:avLst/>
          </a:prstGeom>
          <a:noFill/>
          <a:ln/>
        </p:spPr>
        <p:txBody>
          <a:bodyPr wrap="square" rtlCol="0" anchor="ctr"/>
          <a:lstStyle/>
          <a:p>
            <a:pPr algn="ctr" indent="0" marL="0">
              <a:buNone/>
            </a:pPr>
            <a:r>
              <a:rPr lang="en-US" sz="1600" i="1" dirty="0">
                <a:solidFill>
                  <a:srgbClr val="9FD3E8"/>
                </a:solidFill>
                <a:latin typeface="Calibri" pitchFamily="34" charset="0"/>
                <a:ea typeface="Calibri" pitchFamily="34" charset="-122"/>
                <a:cs typeface="Calibri" pitchFamily="34" charset="-120"/>
              </a:rPr>
              <a:t>Questions &amp; Discussion</a:t>
            </a:r>
            <a:endParaRPr lang="en-US" sz="1600" dirty="0"/>
          </a:p>
        </p:txBody>
      </p:sp>
      <p:sp>
        <p:nvSpPr>
          <p:cNvPr id="9" name="Text 7"/>
          <p:cNvSpPr/>
          <p:nvPr/>
        </p:nvSpPr>
        <p:spPr>
          <a:xfrm>
            <a:off x="0" y="6035040"/>
            <a:ext cx="12191695" cy="365760"/>
          </a:xfrm>
          <a:prstGeom prst="rect">
            <a:avLst/>
          </a:prstGeom>
          <a:noFill/>
          <a:ln/>
        </p:spPr>
        <p:txBody>
          <a:bodyPr wrap="square" rtlCol="0" anchor="ctr"/>
          <a:lstStyle/>
          <a:p>
            <a:pPr algn="ctr" indent="0" marL="0">
              <a:buNone/>
            </a:pPr>
            <a:r>
              <a:rPr lang="en-US" sz="1050" dirty="0">
                <a:solidFill>
                  <a:srgbClr val="6FA9C4"/>
                </a:solidFill>
                <a:latin typeface="Calibri" pitchFamily="34" charset="0"/>
                <a:ea typeface="Calibri" pitchFamily="34" charset="-122"/>
                <a:cs typeface="Calibri" pitchFamily="34" charset="-120"/>
              </a:rPr>
              <a:t>Pranjal Sharma  |  KIET Group of Institutions  |  Seasonal Agriculture Performance Analysis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2026-09-05T19:47:35Z</dcterms:created>
  <dcterms:modified xsi:type="dcterms:W3CDTF">2026-09-05T19:47:35Z</dcterms:modified>
</cp:coreProperties>
</file>